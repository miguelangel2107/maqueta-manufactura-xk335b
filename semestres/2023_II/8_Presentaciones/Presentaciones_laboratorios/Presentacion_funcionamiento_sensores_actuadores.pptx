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5143500" type="screen16x9"/>
  <p:notesSz cx="6858000" cy="9144000"/>
  <p:embeddedFontLst>
    <p:embeddedFont>
      <p:font typeface="Cambria" panose="02040503050406030204" pitchFamily="18" charset="0"/>
      <p:regular r:id="rId50"/>
      <p:bold r:id="rId51"/>
      <p:italic r:id="rId52"/>
      <p:boldItalic r:id="rId53"/>
    </p:embeddedFont>
    <p:embeddedFont>
      <p:font typeface="Lato" panose="020F0502020204030203" pitchFamily="34" charset="0"/>
      <p:regular r:id="rId54"/>
      <p:bold r:id="rId55"/>
      <p:italic r:id="rId56"/>
      <p:boldItalic r:id="rId57"/>
    </p:embeddedFont>
    <p:embeddedFont>
      <p:font typeface="Raleway" pitchFamily="2"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7" roundtripDataSignature="AMtx7mjlqG4SU63lyFL+akRXsyHul5XfD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Omar Rodrigo Sanga Laura"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FF80745-7821-485C-8F53-118708D8D5D8}">
  <a:tblStyle styleId="{3FF80745-7821-485C-8F53-118708D8D5D8}" styleName="Table_0">
    <a:wholeTbl>
      <a:tcTxStyle b="off" i="off">
        <a:font>
          <a:latin typeface="Arial"/>
          <a:ea typeface="Arial"/>
          <a:cs typeface="Arial"/>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882" y="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68"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2.fntdata"/><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67"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3-06-01T15:50:59.509" idx="1">
    <p:pos x="6000" y="0"/>
    <p:text>Se mantiene para la presentacion de la tarea de descripcion del proceso</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AyZO30aA"/>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4" name="Google Shape;254;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6" name="Google Shape;276;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6" name="Google Shape;326;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8" name="Google Shape;338;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4" name="Google Shape;344;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2" name="Google Shape;352;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0" name="Google Shape;360;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0" name="Google Shape;38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7" name="Google Shape;387;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3" name="Google Shape;393;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9" name="Google Shape;399;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6" name="Google Shape;406;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4" name="Google Shape;414;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9" name="Google Shape;429;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6" name="Google Shape;436;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4" name="Google Shape;444;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2" name="Google Shape;452;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0" name="Google Shape;460;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54"/>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 name="Google Shape;11;p54"/>
          <p:cNvGrpSpPr/>
          <p:nvPr/>
        </p:nvGrpSpPr>
        <p:grpSpPr>
          <a:xfrm>
            <a:off x="830392" y="1191256"/>
            <a:ext cx="745763" cy="45826"/>
            <a:chOff x="4580561" y="2589004"/>
            <a:chExt cx="1064464" cy="25200"/>
          </a:xfrm>
        </p:grpSpPr>
        <p:sp>
          <p:nvSpPr>
            <p:cNvPr id="12" name="Google Shape;12;p5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5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 name="Google Shape;14;p54"/>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15" name="Google Shape;15;p54"/>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16" name="Google Shape;16;p5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5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 name="Google Shape;19;p55"/>
          <p:cNvGrpSpPr/>
          <p:nvPr/>
        </p:nvGrpSpPr>
        <p:grpSpPr>
          <a:xfrm>
            <a:off x="830392" y="1191256"/>
            <a:ext cx="745763" cy="45826"/>
            <a:chOff x="4580561" y="2589004"/>
            <a:chExt cx="1064464" cy="25200"/>
          </a:xfrm>
        </p:grpSpPr>
        <p:sp>
          <p:nvSpPr>
            <p:cNvPr id="20" name="Google Shape;20;p5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5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 name="Google Shape;22;p55"/>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23" name="Google Shape;23;p55"/>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4" name="Google Shape;24;p5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5"/>
        <p:cNvGrpSpPr/>
        <p:nvPr/>
      </p:nvGrpSpPr>
      <p:grpSpPr>
        <a:xfrm>
          <a:off x="0" y="0"/>
          <a:ext cx="0" cy="0"/>
          <a:chOff x="0" y="0"/>
          <a:chExt cx="0" cy="0"/>
        </a:xfrm>
      </p:grpSpPr>
      <p:grpSp>
        <p:nvGrpSpPr>
          <p:cNvPr id="26" name="Google Shape;26;p56"/>
          <p:cNvGrpSpPr/>
          <p:nvPr/>
        </p:nvGrpSpPr>
        <p:grpSpPr>
          <a:xfrm>
            <a:off x="830392" y="1191256"/>
            <a:ext cx="745763" cy="45826"/>
            <a:chOff x="4580561" y="2589004"/>
            <a:chExt cx="1064464" cy="25200"/>
          </a:xfrm>
        </p:grpSpPr>
        <p:sp>
          <p:nvSpPr>
            <p:cNvPr id="27" name="Google Shape;27;p56"/>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56"/>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 name="Google Shape;29;p56"/>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30" name="Google Shape;30;p5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3" name="Google Shape;33;p57"/>
          <p:cNvGrpSpPr/>
          <p:nvPr/>
        </p:nvGrpSpPr>
        <p:grpSpPr>
          <a:xfrm>
            <a:off x="830392" y="1191256"/>
            <a:ext cx="745763" cy="45826"/>
            <a:chOff x="4580561" y="2589004"/>
            <a:chExt cx="1064464" cy="25200"/>
          </a:xfrm>
        </p:grpSpPr>
        <p:sp>
          <p:nvSpPr>
            <p:cNvPr id="34" name="Google Shape;34;p5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5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 name="Google Shape;36;p57"/>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7" name="Google Shape;37;p57"/>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8" name="Google Shape;38;p57"/>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9" name="Google Shape;39;p5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58"/>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2" name="Google Shape;42;p58"/>
          <p:cNvGrpSpPr/>
          <p:nvPr/>
        </p:nvGrpSpPr>
        <p:grpSpPr>
          <a:xfrm>
            <a:off x="830392" y="1191256"/>
            <a:ext cx="745763" cy="45826"/>
            <a:chOff x="4580561" y="2589004"/>
            <a:chExt cx="1064464" cy="25200"/>
          </a:xfrm>
        </p:grpSpPr>
        <p:sp>
          <p:nvSpPr>
            <p:cNvPr id="43" name="Google Shape;43;p5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5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5" name="Google Shape;45;p58"/>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6" name="Google Shape;46;p5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59"/>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59"/>
          <p:cNvGrpSpPr/>
          <p:nvPr/>
        </p:nvGrpSpPr>
        <p:grpSpPr>
          <a:xfrm>
            <a:off x="830392" y="1191256"/>
            <a:ext cx="745763" cy="45826"/>
            <a:chOff x="4580561" y="2589004"/>
            <a:chExt cx="1064464" cy="25200"/>
          </a:xfrm>
        </p:grpSpPr>
        <p:sp>
          <p:nvSpPr>
            <p:cNvPr id="50" name="Google Shape;50;p5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5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59"/>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59"/>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54" name="Google Shape;54;p5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60"/>
          <p:cNvGrpSpPr/>
          <p:nvPr/>
        </p:nvGrpSpPr>
        <p:grpSpPr>
          <a:xfrm>
            <a:off x="830392" y="4169130"/>
            <a:ext cx="745763" cy="45826"/>
            <a:chOff x="4580561" y="2589004"/>
            <a:chExt cx="1064464" cy="25200"/>
          </a:xfrm>
        </p:grpSpPr>
        <p:sp>
          <p:nvSpPr>
            <p:cNvPr id="57" name="Google Shape;57;p6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6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60"/>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0" name="Google Shape;60;p6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61"/>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3" name="Google Shape;63;p61"/>
          <p:cNvGrpSpPr/>
          <p:nvPr/>
        </p:nvGrpSpPr>
        <p:grpSpPr>
          <a:xfrm>
            <a:off x="830392" y="1191256"/>
            <a:ext cx="745763" cy="45826"/>
            <a:chOff x="4580561" y="2589004"/>
            <a:chExt cx="1064464" cy="25200"/>
          </a:xfrm>
        </p:grpSpPr>
        <p:sp>
          <p:nvSpPr>
            <p:cNvPr id="64" name="Google Shape;64;p6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6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61"/>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7" name="Google Shape;67;p61"/>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68" name="Google Shape;68;p61"/>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9" name="Google Shape;69;p6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62"/>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2" name="Google Shape;72;p6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63"/>
          <p:cNvGrpSpPr/>
          <p:nvPr/>
        </p:nvGrpSpPr>
        <p:grpSpPr>
          <a:xfrm>
            <a:off x="830392" y="4169130"/>
            <a:ext cx="745763" cy="45826"/>
            <a:chOff x="4580561" y="2589004"/>
            <a:chExt cx="1064464" cy="25200"/>
          </a:xfrm>
        </p:grpSpPr>
        <p:sp>
          <p:nvSpPr>
            <p:cNvPr id="75" name="Google Shape;75;p6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6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7" name="Google Shape;77;p63"/>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63"/>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79" name="Google Shape;79;p6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6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5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9pPr>
          </a:lstStyle>
          <a:p>
            <a:endParaRPr/>
          </a:p>
        </p:txBody>
      </p:sp>
      <p:sp>
        <p:nvSpPr>
          <p:cNvPr id="7" name="Google Shape;7;p5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5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4.jpg"/></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
          <p:cNvSpPr txBox="1">
            <a:spLocks noGrp="1"/>
          </p:cNvSpPr>
          <p:nvPr>
            <p:ph type="ctrTitle"/>
          </p:nvPr>
        </p:nvSpPr>
        <p:spPr>
          <a:xfrm>
            <a:off x="0" y="1226358"/>
            <a:ext cx="9144000" cy="1488483"/>
          </a:xfrm>
          <a:prstGeom prst="rect">
            <a:avLst/>
          </a:prstGeom>
          <a:solidFill>
            <a:schemeClr val="accent1">
              <a:alpha val="49803"/>
            </a:schemeClr>
          </a:solid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s-419">
                <a:solidFill>
                  <a:schemeClr val="lt1"/>
                </a:solidFill>
                <a:latin typeface="Arial"/>
                <a:ea typeface="Arial"/>
                <a:cs typeface="Arial"/>
                <a:sym typeface="Arial"/>
              </a:rPr>
              <a:t>	PRESENTACIÓN </a:t>
            </a:r>
            <a:br>
              <a:rPr lang="es-419">
                <a:solidFill>
                  <a:schemeClr val="lt1"/>
                </a:solidFill>
                <a:latin typeface="Arial"/>
                <a:ea typeface="Arial"/>
                <a:cs typeface="Arial"/>
                <a:sym typeface="Arial"/>
              </a:rPr>
            </a:br>
            <a:r>
              <a:rPr lang="es-419">
                <a:solidFill>
                  <a:schemeClr val="lt1"/>
                </a:solidFill>
                <a:latin typeface="Arial"/>
                <a:ea typeface="Arial"/>
                <a:cs typeface="Arial"/>
                <a:sym typeface="Arial"/>
              </a:rPr>
              <a:t>	LABORATORIO # 1</a:t>
            </a:r>
            <a:endParaRPr/>
          </a:p>
        </p:txBody>
      </p:sp>
      <p:sp>
        <p:nvSpPr>
          <p:cNvPr id="87" name="Google Shape;87;p1"/>
          <p:cNvSpPr txBox="1">
            <a:spLocks noGrp="1"/>
          </p:cNvSpPr>
          <p:nvPr>
            <p:ph type="subTitle" idx="1"/>
          </p:nvPr>
        </p:nvSpPr>
        <p:spPr>
          <a:xfrm>
            <a:off x="729627" y="3172900"/>
            <a:ext cx="3123045" cy="541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3"/>
          <p:cNvSpPr txBox="1">
            <a:spLocks noGrp="1"/>
          </p:cNvSpPr>
          <p:nvPr>
            <p:ph type="body" idx="1"/>
          </p:nvPr>
        </p:nvSpPr>
        <p:spPr>
          <a:xfrm>
            <a:off x="313188" y="425472"/>
            <a:ext cx="8554200" cy="1825439"/>
          </a:xfrm>
          <a:prstGeom prst="rect">
            <a:avLst/>
          </a:prstGeom>
          <a:solidFill>
            <a:schemeClr val="lt1"/>
          </a:solidFill>
          <a:ln>
            <a:noFill/>
          </a:ln>
        </p:spPr>
        <p:txBody>
          <a:bodyPr spcFirstLastPara="1" wrap="square" lIns="91425" tIns="91425" rIns="91425" bIns="91425" anchor="t" anchorCtr="0">
            <a:normAutofit lnSpcReduction="10000"/>
          </a:bodyPr>
          <a:lstStyle/>
          <a:p>
            <a:pPr marL="146050" lvl="0" indent="0" algn="just" rtl="0">
              <a:lnSpc>
                <a:spcPct val="115000"/>
              </a:lnSpc>
              <a:spcBef>
                <a:spcPts val="0"/>
              </a:spcBef>
              <a:spcAft>
                <a:spcPts val="0"/>
              </a:spcAft>
              <a:buSzPts val="1300"/>
              <a:buNone/>
            </a:pPr>
            <a:r>
              <a:rPr lang="es-419" sz="2000" b="0" i="0" u="none" strike="noStrike" dirty="0">
                <a:solidFill>
                  <a:srgbClr val="002060"/>
                </a:solidFill>
                <a:latin typeface="Cambria"/>
                <a:ea typeface="Cambria"/>
                <a:cs typeface="Cambria"/>
                <a:sym typeface="Cambria"/>
              </a:rPr>
              <a:t>La maqueta de </a:t>
            </a:r>
            <a:r>
              <a:rPr lang="es-419" sz="2000" dirty="0">
                <a:solidFill>
                  <a:srgbClr val="002060"/>
                </a:solidFill>
                <a:latin typeface="Cambria"/>
                <a:ea typeface="Cambria"/>
                <a:cs typeface="Cambria"/>
                <a:sym typeface="Cambria"/>
              </a:rPr>
              <a:t>procesamiento xk-335b </a:t>
            </a:r>
            <a:r>
              <a:rPr lang="es-419" sz="2000" b="0" i="0" u="none" strike="noStrike" dirty="0">
                <a:solidFill>
                  <a:srgbClr val="002060"/>
                </a:solidFill>
                <a:latin typeface="Cambria"/>
                <a:ea typeface="Cambria"/>
                <a:cs typeface="Cambria"/>
                <a:sym typeface="Cambria"/>
              </a:rPr>
              <a:t>consta de 5 unidades instaladas en una plataforma de entrenamiento. Cada estación contiene un PLC para realizar la función de control. </a:t>
            </a:r>
            <a:endParaRPr sz="1400" b="0" dirty="0">
              <a:solidFill>
                <a:srgbClr val="002060"/>
              </a:solidFill>
              <a:latin typeface="Cambria"/>
              <a:ea typeface="Cambria"/>
              <a:cs typeface="Cambria"/>
              <a:sym typeface="Cambria"/>
            </a:endParaRPr>
          </a:p>
          <a:p>
            <a:pPr marL="146050" lvl="0" indent="0" algn="just" rtl="0">
              <a:lnSpc>
                <a:spcPct val="115000"/>
              </a:lnSpc>
              <a:spcBef>
                <a:spcPts val="0"/>
              </a:spcBef>
              <a:spcAft>
                <a:spcPts val="0"/>
              </a:spcAft>
              <a:buSzPts val="1300"/>
              <a:buNone/>
            </a:pPr>
            <a:r>
              <a:rPr lang="es-419" sz="2000" b="0" i="0" u="none" strike="noStrike" dirty="0">
                <a:solidFill>
                  <a:srgbClr val="002060"/>
                </a:solidFill>
                <a:latin typeface="Cambria"/>
                <a:ea typeface="Cambria"/>
                <a:cs typeface="Cambria"/>
                <a:sym typeface="Cambria"/>
              </a:rPr>
              <a:t>Su tarea principal es la de alimentar</a:t>
            </a:r>
            <a:r>
              <a:rPr lang="es-419" sz="2000" dirty="0">
                <a:solidFill>
                  <a:srgbClr val="002060"/>
                </a:solidFill>
                <a:latin typeface="Cambria"/>
                <a:ea typeface="Cambria"/>
                <a:cs typeface="Cambria"/>
                <a:sym typeface="Cambria"/>
              </a:rPr>
              <a:t>, transferir, ensamblar, </a:t>
            </a:r>
            <a:r>
              <a:rPr lang="es-419" sz="2000" b="0" i="0" u="none" strike="noStrike" dirty="0">
                <a:solidFill>
                  <a:srgbClr val="002060"/>
                </a:solidFill>
                <a:latin typeface="Cambria"/>
                <a:ea typeface="Cambria"/>
                <a:cs typeface="Cambria"/>
                <a:sym typeface="Cambria"/>
              </a:rPr>
              <a:t>procesar, y seleccionar los distintos materiales.</a:t>
            </a:r>
            <a:endParaRPr sz="1400" dirty="0">
              <a:solidFill>
                <a:srgbClr val="002060"/>
              </a:solidFill>
              <a:latin typeface="Cambria"/>
              <a:ea typeface="Cambria"/>
              <a:cs typeface="Cambria"/>
              <a:sym typeface="Cambria"/>
            </a:endParaRPr>
          </a:p>
        </p:txBody>
      </p:sp>
      <p:grpSp>
        <p:nvGrpSpPr>
          <p:cNvPr id="93" name="Google Shape;93;p3"/>
          <p:cNvGrpSpPr/>
          <p:nvPr/>
        </p:nvGrpSpPr>
        <p:grpSpPr>
          <a:xfrm>
            <a:off x="2341179" y="1872968"/>
            <a:ext cx="6806535" cy="3270532"/>
            <a:chOff x="1439172" y="1763240"/>
            <a:chExt cx="6806535" cy="3270532"/>
          </a:xfrm>
        </p:grpSpPr>
        <p:pic>
          <p:nvPicPr>
            <p:cNvPr id="94" name="Google Shape;94;p3"/>
            <p:cNvPicPr preferRelativeResize="0"/>
            <p:nvPr/>
          </p:nvPicPr>
          <p:blipFill rotWithShape="1">
            <a:blip r:embed="rId3">
              <a:alphaModFix/>
            </a:blip>
            <a:srcRect t="-1" r="4721" b="4553"/>
            <a:stretch/>
          </p:blipFill>
          <p:spPr>
            <a:xfrm>
              <a:off x="1439172" y="1763240"/>
              <a:ext cx="6680904" cy="3270532"/>
            </a:xfrm>
            <a:prstGeom prst="rect">
              <a:avLst/>
            </a:prstGeom>
            <a:noFill/>
            <a:ln>
              <a:noFill/>
            </a:ln>
          </p:spPr>
        </p:pic>
        <p:sp>
          <p:nvSpPr>
            <p:cNvPr id="95" name="Google Shape;95;p3"/>
            <p:cNvSpPr/>
            <p:nvPr/>
          </p:nvSpPr>
          <p:spPr>
            <a:xfrm>
              <a:off x="4165952" y="1805920"/>
              <a:ext cx="1161952" cy="327966"/>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419" sz="1100" b="1" i="0" u="none" strike="noStrike" cap="none">
                  <a:solidFill>
                    <a:schemeClr val="dk2"/>
                  </a:solidFill>
                  <a:latin typeface="Twentieth Century"/>
                  <a:ea typeface="Twentieth Century"/>
                  <a:cs typeface="Twentieth Century"/>
                  <a:sym typeface="Twentieth Century"/>
                </a:rPr>
                <a:t>Unidad de Ensamblaje</a:t>
              </a:r>
              <a:endParaRPr sz="1100" b="1" i="0" u="none" strike="noStrike" cap="none">
                <a:solidFill>
                  <a:schemeClr val="dk2"/>
                </a:solidFill>
                <a:latin typeface="Twentieth Century"/>
                <a:ea typeface="Twentieth Century"/>
                <a:cs typeface="Twentieth Century"/>
                <a:sym typeface="Twentieth Century"/>
              </a:endParaRPr>
            </a:p>
          </p:txBody>
        </p:sp>
        <p:sp>
          <p:nvSpPr>
            <p:cNvPr id="96" name="Google Shape;96;p3"/>
            <p:cNvSpPr/>
            <p:nvPr/>
          </p:nvSpPr>
          <p:spPr>
            <a:xfrm>
              <a:off x="5233935" y="2308877"/>
              <a:ext cx="1085088" cy="327966"/>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419" sz="1100" b="1" i="0" u="none" strike="noStrike" cap="none">
                  <a:solidFill>
                    <a:schemeClr val="dk2"/>
                  </a:solidFill>
                  <a:latin typeface="Twentieth Century"/>
                  <a:ea typeface="Twentieth Century"/>
                  <a:cs typeface="Twentieth Century"/>
                  <a:sym typeface="Twentieth Century"/>
                </a:rPr>
                <a:t>Unidad de Procesamiento</a:t>
              </a:r>
              <a:endParaRPr sz="1100" b="1" i="0" u="none" strike="noStrike" cap="none">
                <a:solidFill>
                  <a:schemeClr val="dk2"/>
                </a:solidFill>
                <a:latin typeface="Twentieth Century"/>
                <a:ea typeface="Twentieth Century"/>
                <a:cs typeface="Twentieth Century"/>
                <a:sym typeface="Twentieth Century"/>
              </a:endParaRPr>
            </a:p>
          </p:txBody>
        </p:sp>
        <p:sp>
          <p:nvSpPr>
            <p:cNvPr id="97" name="Google Shape;97;p3"/>
            <p:cNvSpPr/>
            <p:nvPr/>
          </p:nvSpPr>
          <p:spPr>
            <a:xfrm>
              <a:off x="6650735" y="2184434"/>
              <a:ext cx="1176523" cy="327966"/>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419" sz="1100" b="1" i="0" u="none" strike="noStrike" cap="none">
                  <a:solidFill>
                    <a:schemeClr val="dk2"/>
                  </a:solidFill>
                  <a:latin typeface="Twentieth Century"/>
                  <a:ea typeface="Twentieth Century"/>
                  <a:cs typeface="Twentieth Century"/>
                  <a:sym typeface="Twentieth Century"/>
                </a:rPr>
                <a:t>Unidad de Alimentación</a:t>
              </a:r>
              <a:endParaRPr sz="1100" b="1" i="0" u="none" strike="noStrike" cap="none">
                <a:solidFill>
                  <a:schemeClr val="dk2"/>
                </a:solidFill>
                <a:latin typeface="Twentieth Century"/>
                <a:ea typeface="Twentieth Century"/>
                <a:cs typeface="Twentieth Century"/>
                <a:sym typeface="Twentieth Century"/>
              </a:endParaRPr>
            </a:p>
          </p:txBody>
        </p:sp>
        <p:sp>
          <p:nvSpPr>
            <p:cNvPr id="98" name="Google Shape;98;p3"/>
            <p:cNvSpPr/>
            <p:nvPr/>
          </p:nvSpPr>
          <p:spPr>
            <a:xfrm>
              <a:off x="3393379" y="2387251"/>
              <a:ext cx="906013" cy="327966"/>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419" sz="1100" b="1" i="0" u="none" strike="noStrike" cap="none">
                  <a:solidFill>
                    <a:schemeClr val="dk2"/>
                  </a:solidFill>
                  <a:latin typeface="Twentieth Century"/>
                  <a:ea typeface="Twentieth Century"/>
                  <a:cs typeface="Twentieth Century"/>
                  <a:sym typeface="Twentieth Century"/>
                </a:rPr>
                <a:t>Unidad de Selección</a:t>
              </a:r>
              <a:endParaRPr sz="1100" b="1" i="0" u="none" strike="noStrike" cap="none">
                <a:solidFill>
                  <a:schemeClr val="dk2"/>
                </a:solidFill>
                <a:latin typeface="Twentieth Century"/>
                <a:ea typeface="Twentieth Century"/>
                <a:cs typeface="Twentieth Century"/>
                <a:sym typeface="Twentieth Century"/>
              </a:endParaRPr>
            </a:p>
          </p:txBody>
        </p:sp>
        <p:sp>
          <p:nvSpPr>
            <p:cNvPr id="99" name="Google Shape;99;p3"/>
            <p:cNvSpPr/>
            <p:nvPr/>
          </p:nvSpPr>
          <p:spPr>
            <a:xfrm>
              <a:off x="5327904" y="3728593"/>
              <a:ext cx="1194816" cy="327966"/>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419" sz="1100" b="1" i="0" u="none" strike="noStrike" cap="none">
                  <a:solidFill>
                    <a:schemeClr val="dk2"/>
                  </a:solidFill>
                  <a:latin typeface="Twentieth Century"/>
                  <a:ea typeface="Twentieth Century"/>
                  <a:cs typeface="Twentieth Century"/>
                  <a:sym typeface="Twentieth Century"/>
                </a:rPr>
                <a:t>Unidad de Transporte</a:t>
              </a:r>
              <a:endParaRPr sz="1100" b="1" i="0" u="none" strike="noStrike" cap="none">
                <a:solidFill>
                  <a:schemeClr val="dk2"/>
                </a:solidFill>
                <a:latin typeface="Twentieth Century"/>
                <a:ea typeface="Twentieth Century"/>
                <a:cs typeface="Twentieth Century"/>
                <a:sym typeface="Twentieth Century"/>
              </a:endParaRPr>
            </a:p>
          </p:txBody>
        </p:sp>
        <p:sp>
          <p:nvSpPr>
            <p:cNvPr id="100" name="Google Shape;100;p3"/>
            <p:cNvSpPr/>
            <p:nvPr/>
          </p:nvSpPr>
          <p:spPr>
            <a:xfrm>
              <a:off x="2412814" y="2053992"/>
              <a:ext cx="906013" cy="875728"/>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1" name="Google Shape;101;p3"/>
            <p:cNvSpPr/>
            <p:nvPr/>
          </p:nvSpPr>
          <p:spPr>
            <a:xfrm>
              <a:off x="1451364" y="2924270"/>
              <a:ext cx="1295673" cy="363904"/>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 name="Google Shape;102;p3"/>
            <p:cNvSpPr/>
            <p:nvPr/>
          </p:nvSpPr>
          <p:spPr>
            <a:xfrm>
              <a:off x="7069184" y="4145014"/>
              <a:ext cx="1176523" cy="363904"/>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103" name="Google Shape;103;p3"/>
            <p:cNvCxnSpPr>
              <a:stCxn id="95" idx="2"/>
            </p:cNvCxnSpPr>
            <p:nvPr/>
          </p:nvCxnSpPr>
          <p:spPr>
            <a:xfrm>
              <a:off x="4746928" y="2133886"/>
              <a:ext cx="0" cy="378600"/>
            </a:xfrm>
            <a:prstGeom prst="straightConnector1">
              <a:avLst/>
            </a:prstGeom>
            <a:noFill/>
            <a:ln w="19050" cap="flat" cmpd="sng">
              <a:solidFill>
                <a:schemeClr val="dk1"/>
              </a:solidFill>
              <a:prstDash val="solid"/>
              <a:round/>
              <a:headEnd type="none" w="sm" len="sm"/>
              <a:tailEnd type="triangle" w="med" len="med"/>
            </a:ln>
          </p:spPr>
        </p:cxnSp>
        <p:cxnSp>
          <p:nvCxnSpPr>
            <p:cNvPr id="104" name="Google Shape;104;p3"/>
            <p:cNvCxnSpPr/>
            <p:nvPr/>
          </p:nvCxnSpPr>
          <p:spPr>
            <a:xfrm>
              <a:off x="5779008" y="2650389"/>
              <a:ext cx="0" cy="92441"/>
            </a:xfrm>
            <a:prstGeom prst="straightConnector1">
              <a:avLst/>
            </a:prstGeom>
            <a:noFill/>
            <a:ln w="19050" cap="flat" cmpd="sng">
              <a:solidFill>
                <a:schemeClr val="dk1"/>
              </a:solidFill>
              <a:prstDash val="solid"/>
              <a:round/>
              <a:headEnd type="none" w="sm" len="sm"/>
              <a:tailEnd type="triangle" w="med" len="med"/>
            </a:ln>
          </p:spPr>
        </p:cxnSp>
        <p:cxnSp>
          <p:nvCxnSpPr>
            <p:cNvPr id="105" name="Google Shape;105;p3"/>
            <p:cNvCxnSpPr>
              <a:stCxn id="97" idx="2"/>
            </p:cNvCxnSpPr>
            <p:nvPr/>
          </p:nvCxnSpPr>
          <p:spPr>
            <a:xfrm rot="5400000">
              <a:off x="6754797" y="2408300"/>
              <a:ext cx="380100" cy="588300"/>
            </a:xfrm>
            <a:prstGeom prst="bentConnector2">
              <a:avLst/>
            </a:prstGeom>
            <a:noFill/>
            <a:ln w="19050" cap="flat" cmpd="sng">
              <a:solidFill>
                <a:schemeClr val="dk1"/>
              </a:solidFill>
              <a:prstDash val="solid"/>
              <a:round/>
              <a:headEnd type="none" w="sm" len="sm"/>
              <a:tailEnd type="triangle" w="med" len="med"/>
            </a:ln>
          </p:spPr>
        </p:cxnSp>
        <p:cxnSp>
          <p:nvCxnSpPr>
            <p:cNvPr id="106" name="Google Shape;106;p3"/>
            <p:cNvCxnSpPr/>
            <p:nvPr/>
          </p:nvCxnSpPr>
          <p:spPr>
            <a:xfrm>
              <a:off x="3822192" y="2729637"/>
              <a:ext cx="0" cy="92441"/>
            </a:xfrm>
            <a:prstGeom prst="straightConnector1">
              <a:avLst/>
            </a:prstGeom>
            <a:noFill/>
            <a:ln w="19050" cap="flat" cmpd="sng">
              <a:solidFill>
                <a:schemeClr val="dk1"/>
              </a:solidFill>
              <a:prstDash val="solid"/>
              <a:round/>
              <a:headEnd type="none" w="sm" len="sm"/>
              <a:tailEnd type="triangle" w="med" len="med"/>
            </a:ln>
          </p:spPr>
        </p:cxnSp>
        <p:cxnSp>
          <p:nvCxnSpPr>
            <p:cNvPr id="107" name="Google Shape;107;p3"/>
            <p:cNvCxnSpPr>
              <a:stCxn id="99" idx="0"/>
            </p:cNvCxnSpPr>
            <p:nvPr/>
          </p:nvCxnSpPr>
          <p:spPr>
            <a:xfrm rot="5400000" flipH="1">
              <a:off x="5406012" y="3209293"/>
              <a:ext cx="366600" cy="672000"/>
            </a:xfrm>
            <a:prstGeom prst="bentConnector2">
              <a:avLst/>
            </a:prstGeom>
            <a:noFill/>
            <a:ln w="19050" cap="flat" cmpd="sng">
              <a:solidFill>
                <a:schemeClr val="dk1"/>
              </a:solidFill>
              <a:prstDash val="solid"/>
              <a:round/>
              <a:headEnd type="none" w="sm" len="sm"/>
              <a:tailEnd type="triangle" w="med" len="med"/>
            </a:ln>
          </p:spPr>
        </p:cxnSp>
      </p:grpSp>
      <p:sp>
        <p:nvSpPr>
          <p:cNvPr id="108" name="Google Shape;108;p3"/>
          <p:cNvSpPr txBox="1"/>
          <p:nvPr/>
        </p:nvSpPr>
        <p:spPr>
          <a:xfrm>
            <a:off x="392842" y="2649694"/>
            <a:ext cx="2809942" cy="1968952"/>
          </a:xfrm>
          <a:prstGeom prst="rect">
            <a:avLst/>
          </a:prstGeom>
          <a:noFill/>
          <a:ln w="28575" cap="flat" cmpd="sng">
            <a:solidFill>
              <a:srgbClr val="C00000"/>
            </a:solidFill>
            <a:prstDash val="solid"/>
            <a:round/>
            <a:headEnd type="none" w="sm" len="sm"/>
            <a:tailEnd type="none" w="sm" len="sm"/>
          </a:ln>
        </p:spPr>
        <p:txBody>
          <a:bodyPr spcFirstLastPara="1" wrap="square" lIns="91425" tIns="91425" rIns="91425" bIns="91425" anchor="t" anchorCtr="0">
            <a:normAutofit/>
          </a:bodyPr>
          <a:lstStyle/>
          <a:p>
            <a:pPr marL="268288" marR="0" lvl="0" indent="-268288" algn="l" rtl="0">
              <a:lnSpc>
                <a:spcPct val="100000"/>
              </a:lnSpc>
              <a:spcBef>
                <a:spcPts val="0"/>
              </a:spcBef>
              <a:spcAft>
                <a:spcPts val="0"/>
              </a:spcAft>
              <a:buClr>
                <a:srgbClr val="29546F"/>
              </a:buClr>
              <a:buSzPts val="1800"/>
              <a:buFont typeface="Arial"/>
              <a:buAutoNum type="arabicPeriod"/>
            </a:pPr>
            <a:r>
              <a:rPr lang="es-419" sz="1800" b="0" i="0" u="none" strike="noStrike" cap="none" dirty="0">
                <a:solidFill>
                  <a:srgbClr val="29546F"/>
                </a:solidFill>
                <a:latin typeface="Cambria"/>
                <a:ea typeface="Cambria"/>
                <a:cs typeface="Cambria"/>
                <a:sym typeface="Cambria"/>
              </a:rPr>
              <a:t>Unidad de Alimentación</a:t>
            </a:r>
            <a:endParaRPr dirty="0"/>
          </a:p>
          <a:p>
            <a:pPr marL="268288" marR="0" lvl="0" indent="-268288" algn="l" rtl="0">
              <a:lnSpc>
                <a:spcPct val="100000"/>
              </a:lnSpc>
              <a:spcBef>
                <a:spcPts val="0"/>
              </a:spcBef>
              <a:spcAft>
                <a:spcPts val="0"/>
              </a:spcAft>
              <a:buClr>
                <a:srgbClr val="29546F"/>
              </a:buClr>
              <a:buSzPts val="1800"/>
              <a:buFont typeface="Arial"/>
              <a:buAutoNum type="arabicPeriod"/>
            </a:pPr>
            <a:r>
              <a:rPr lang="es-419" sz="1800" b="0" i="0" u="none" strike="noStrike" cap="none" dirty="0">
                <a:solidFill>
                  <a:srgbClr val="29546F"/>
                </a:solidFill>
                <a:latin typeface="Cambria"/>
                <a:ea typeface="Cambria"/>
                <a:cs typeface="Cambria"/>
                <a:sym typeface="Cambria"/>
              </a:rPr>
              <a:t>Unidad de Ensamblaje</a:t>
            </a:r>
            <a:endParaRPr dirty="0"/>
          </a:p>
          <a:p>
            <a:pPr marL="268288" marR="0" lvl="0" indent="-268288" algn="l" rtl="0">
              <a:lnSpc>
                <a:spcPct val="100000"/>
              </a:lnSpc>
              <a:spcBef>
                <a:spcPts val="0"/>
              </a:spcBef>
              <a:spcAft>
                <a:spcPts val="0"/>
              </a:spcAft>
              <a:buClr>
                <a:srgbClr val="29546F"/>
              </a:buClr>
              <a:buSzPts val="1800"/>
              <a:buFont typeface="Arial"/>
              <a:buAutoNum type="arabicPeriod"/>
            </a:pPr>
            <a:r>
              <a:rPr lang="es-419" sz="1800" b="0" i="0" u="none" strike="noStrike" cap="none" dirty="0">
                <a:solidFill>
                  <a:srgbClr val="29546F"/>
                </a:solidFill>
                <a:latin typeface="Cambria"/>
                <a:ea typeface="Cambria"/>
                <a:cs typeface="Cambria"/>
                <a:sym typeface="Cambria"/>
              </a:rPr>
              <a:t>Unidad de Procesamiento</a:t>
            </a:r>
            <a:endParaRPr dirty="0"/>
          </a:p>
          <a:p>
            <a:pPr marL="268288" marR="0" lvl="0" indent="-268288" algn="l" rtl="0">
              <a:lnSpc>
                <a:spcPct val="100000"/>
              </a:lnSpc>
              <a:spcBef>
                <a:spcPts val="0"/>
              </a:spcBef>
              <a:spcAft>
                <a:spcPts val="0"/>
              </a:spcAft>
              <a:buClr>
                <a:srgbClr val="29546F"/>
              </a:buClr>
              <a:buSzPts val="1800"/>
              <a:buFont typeface="Arial"/>
              <a:buAutoNum type="arabicPeriod"/>
            </a:pPr>
            <a:r>
              <a:rPr lang="es-419" sz="1800" b="0" i="0" u="none" strike="noStrike" cap="none" dirty="0">
                <a:solidFill>
                  <a:srgbClr val="29546F"/>
                </a:solidFill>
                <a:latin typeface="Cambria"/>
                <a:ea typeface="Cambria"/>
                <a:cs typeface="Cambria"/>
                <a:sym typeface="Cambria"/>
              </a:rPr>
              <a:t>Unidad de Selección</a:t>
            </a:r>
            <a:endParaRPr dirty="0"/>
          </a:p>
          <a:p>
            <a:pPr marL="268288" marR="0" lvl="0" indent="-268288" algn="l" rtl="0">
              <a:lnSpc>
                <a:spcPct val="100000"/>
              </a:lnSpc>
              <a:spcBef>
                <a:spcPts val="0"/>
              </a:spcBef>
              <a:spcAft>
                <a:spcPts val="0"/>
              </a:spcAft>
              <a:buClr>
                <a:srgbClr val="29546F"/>
              </a:buClr>
              <a:buSzPts val="1800"/>
              <a:buFont typeface="Arial"/>
              <a:buAutoNum type="arabicPeriod"/>
            </a:pPr>
            <a:r>
              <a:rPr lang="es-419" sz="1800" b="0" i="0" u="none" strike="noStrike" cap="none" dirty="0">
                <a:solidFill>
                  <a:srgbClr val="29546F"/>
                </a:solidFill>
                <a:latin typeface="Cambria"/>
                <a:ea typeface="Cambria"/>
                <a:cs typeface="Cambria"/>
                <a:sym typeface="Cambria"/>
              </a:rPr>
              <a:t>Unidad de Transporte</a:t>
            </a:r>
            <a:endParaRPr sz="1400" b="0" i="0" u="none" strike="noStrike" cap="none" dirty="0">
              <a:solidFill>
                <a:srgbClr val="29546F"/>
              </a:solidFill>
              <a:latin typeface="Cambria"/>
              <a:ea typeface="Cambria"/>
              <a:cs typeface="Cambria"/>
              <a:sym typeface="Cambria"/>
            </a:endParaRPr>
          </a:p>
        </p:txBody>
      </p:sp>
      <p:sp>
        <p:nvSpPr>
          <p:cNvPr id="109" name="Google Shape;109;p3"/>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Introducción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5"/>
          <p:cNvSpPr txBox="1">
            <a:spLocks noGrp="1"/>
          </p:cNvSpPr>
          <p:nvPr>
            <p:ph type="body" idx="1"/>
          </p:nvPr>
        </p:nvSpPr>
        <p:spPr>
          <a:xfrm>
            <a:off x="530875" y="569176"/>
            <a:ext cx="5636400" cy="2173500"/>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rmAutofit/>
          </a:bodyPr>
          <a:lstStyle/>
          <a:p>
            <a:pPr marL="146050" lvl="0" indent="0" algn="l" rtl="0">
              <a:lnSpc>
                <a:spcPct val="115000"/>
              </a:lnSpc>
              <a:spcBef>
                <a:spcPts val="0"/>
              </a:spcBef>
              <a:spcAft>
                <a:spcPts val="0"/>
              </a:spcAft>
              <a:buSzPts val="1405"/>
              <a:buNone/>
            </a:pPr>
            <a:r>
              <a:rPr lang="es-419" sz="1700" b="1" i="0" u="none" strike="noStrike">
                <a:solidFill>
                  <a:srgbClr val="000000"/>
                </a:solidFill>
                <a:latin typeface="Cambria"/>
                <a:ea typeface="Cambria"/>
                <a:cs typeface="Cambria"/>
                <a:sym typeface="Cambria"/>
              </a:rPr>
              <a:t>Funcionamiento:</a:t>
            </a:r>
            <a:endParaRPr/>
          </a:p>
          <a:p>
            <a:pPr marL="146050" lvl="0" indent="0" algn="just" rtl="0">
              <a:lnSpc>
                <a:spcPct val="115000"/>
              </a:lnSpc>
              <a:spcBef>
                <a:spcPts val="0"/>
              </a:spcBef>
              <a:spcAft>
                <a:spcPts val="0"/>
              </a:spcAft>
              <a:buSzPts val="1405"/>
              <a:buNone/>
            </a:pPr>
            <a:r>
              <a:rPr lang="es-419" sz="1600">
                <a:solidFill>
                  <a:srgbClr val="525252"/>
                </a:solidFill>
                <a:latin typeface="Cambria"/>
                <a:ea typeface="Cambria"/>
                <a:cs typeface="Cambria"/>
                <a:sym typeface="Cambria"/>
              </a:rPr>
              <a:t>Ingresamos los contenedores (piezas) de forma manual, las piezas entran por el tubo y son sostenidas por un cilindro neumático corto y posteriormente posicionadas por un cilindro neumático largo para posteriormente ser llevada hasta otra unidad. Adicionalmente tenemos sensores los cuales informarán al PLC del estado de piezas y actuadores.</a:t>
            </a:r>
            <a:endParaRPr sz="1000">
              <a:solidFill>
                <a:srgbClr val="525252"/>
              </a:solidFill>
              <a:latin typeface="Cambria"/>
              <a:ea typeface="Cambria"/>
              <a:cs typeface="Cambria"/>
              <a:sym typeface="Cambria"/>
            </a:endParaRPr>
          </a:p>
        </p:txBody>
      </p:sp>
      <p:sp>
        <p:nvSpPr>
          <p:cNvPr id="115" name="Google Shape;115;p5"/>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1. Unidad de Alimentación</a:t>
            </a:r>
            <a:endParaRPr/>
          </a:p>
        </p:txBody>
      </p:sp>
      <p:pic>
        <p:nvPicPr>
          <p:cNvPr id="116" name="Google Shape;116;p5"/>
          <p:cNvPicPr preferRelativeResize="0"/>
          <p:nvPr/>
        </p:nvPicPr>
        <p:blipFill rotWithShape="1">
          <a:blip r:embed="rId3">
            <a:alphaModFix/>
          </a:blip>
          <a:srcRect l="48898" t="11889" r="17710" b="12997"/>
          <a:stretch/>
        </p:blipFill>
        <p:spPr>
          <a:xfrm>
            <a:off x="5742432" y="645443"/>
            <a:ext cx="3316224" cy="4193753"/>
          </a:xfrm>
          <a:prstGeom prst="rect">
            <a:avLst/>
          </a:prstGeom>
          <a:noFill/>
          <a:ln>
            <a:noFill/>
          </a:ln>
        </p:spPr>
      </p:pic>
      <p:sp>
        <p:nvSpPr>
          <p:cNvPr id="117" name="Google Shape;117;p5"/>
          <p:cNvSpPr txBox="1"/>
          <p:nvPr/>
        </p:nvSpPr>
        <p:spPr>
          <a:xfrm>
            <a:off x="593895" y="2817673"/>
            <a:ext cx="4589700" cy="2313600"/>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rmAutofit fontScale="92500" lnSpcReduction="20000"/>
          </a:bodyPr>
          <a:lstStyle/>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Sensores:</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4 sensores magnéticos D-C73</a:t>
            </a:r>
            <a:endParaRPr sz="1400" b="0"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2 Sensores fotoeléctricos E3Z-LS61</a:t>
            </a:r>
            <a:endParaRPr sz="1400" b="0"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1 Sensor fotoeléctrico MHT15 (Reflex)</a:t>
            </a:r>
            <a:endParaRPr sz="1400" b="0"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1 Sensor inductivo LM18-3008NA</a:t>
            </a:r>
            <a:endParaRPr sz="1400" b="0" i="0" u="none" strike="noStrike" cap="none">
              <a:solidFill>
                <a:schemeClr val="dk2"/>
              </a:solidFill>
              <a:latin typeface="Cambria"/>
              <a:ea typeface="Cambria"/>
              <a:cs typeface="Cambria"/>
              <a:sym typeface="Cambria"/>
            </a:endParaRPr>
          </a:p>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Actuadores:</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2 Cilindros neumáticos (corto y largo)..</a:t>
            </a:r>
            <a:endParaRPr sz="1400" b="0" i="0" u="none" strike="noStrike" cap="none">
              <a:solidFill>
                <a:schemeClr val="dk2"/>
              </a:solidFill>
              <a:latin typeface="Cambria"/>
              <a:ea typeface="Cambria"/>
              <a:cs typeface="Cambria"/>
              <a:sym typeface="Cambria"/>
            </a:endParaRPr>
          </a:p>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Adaptación de señal:</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2 convertidores de señal I/P (eléctrica a neumática).</a:t>
            </a:r>
            <a:endParaRPr sz="1400" b="0" i="0" u="none" strike="noStrike" cap="none">
              <a:solidFill>
                <a:schemeClr val="dk2"/>
              </a:solidFill>
              <a:latin typeface="Cambria"/>
              <a:ea typeface="Cambria"/>
              <a:cs typeface="Cambria"/>
              <a:sym typeface="Cambria"/>
            </a:endParaRPr>
          </a:p>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Instrumentos extras:</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1 regleta de conexiones para entradas y salidas del PLC</a:t>
            </a:r>
            <a:endParaRPr sz="1400" b="0" i="0" u="none" strike="noStrike" cap="none">
              <a:solidFill>
                <a:schemeClr val="dk2"/>
              </a:solidFill>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4"/>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Introducción</a:t>
            </a:r>
            <a:endParaRPr/>
          </a:p>
        </p:txBody>
      </p:sp>
      <p:pic>
        <p:nvPicPr>
          <p:cNvPr id="123" name="Google Shape;123;p4"/>
          <p:cNvPicPr preferRelativeResize="0"/>
          <p:nvPr/>
        </p:nvPicPr>
        <p:blipFill rotWithShape="1">
          <a:blip r:embed="rId3">
            <a:alphaModFix/>
          </a:blip>
          <a:srcRect l="6640" t="3260" r="14776" b="2344"/>
          <a:stretch/>
        </p:blipFill>
        <p:spPr>
          <a:xfrm>
            <a:off x="22756" y="690338"/>
            <a:ext cx="5315524" cy="4073048"/>
          </a:xfrm>
          <a:prstGeom prst="rect">
            <a:avLst/>
          </a:prstGeom>
          <a:noFill/>
          <a:ln>
            <a:noFill/>
          </a:ln>
          <a:effectLst>
            <a:outerShdw blurRad="190500" algn="tl" rotWithShape="0">
              <a:srgbClr val="000000">
                <a:alpha val="69803"/>
              </a:srgbClr>
            </a:outerShdw>
          </a:effectLst>
        </p:spPr>
      </p:pic>
      <p:pic>
        <p:nvPicPr>
          <p:cNvPr id="124" name="Google Shape;124;p4"/>
          <p:cNvPicPr preferRelativeResize="0"/>
          <p:nvPr/>
        </p:nvPicPr>
        <p:blipFill rotWithShape="1">
          <a:blip r:embed="rId4">
            <a:alphaModFix/>
          </a:blip>
          <a:srcRect l="1998" t="3832" r="19775" b="9331"/>
          <a:stretch/>
        </p:blipFill>
        <p:spPr>
          <a:xfrm>
            <a:off x="4834638" y="1913861"/>
            <a:ext cx="2977116" cy="1989754"/>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125" name="Google Shape;125;p4"/>
          <p:cNvPicPr preferRelativeResize="0"/>
          <p:nvPr/>
        </p:nvPicPr>
        <p:blipFill rotWithShape="1">
          <a:blip r:embed="rId5">
            <a:alphaModFix/>
          </a:blip>
          <a:srcRect l="25231" t="52824" r="53140" b="21480"/>
          <a:stretch/>
        </p:blipFill>
        <p:spPr>
          <a:xfrm>
            <a:off x="7276949" y="2224694"/>
            <a:ext cx="1977657" cy="1083727"/>
          </a:xfrm>
          <a:prstGeom prst="roundRect">
            <a:avLst>
              <a:gd name="adj" fmla="val 30402"/>
            </a:avLst>
          </a:prstGeom>
          <a:noFill/>
          <a:ln w="38100" cap="rnd" cmpd="sng">
            <a:solidFill>
              <a:srgbClr val="333333"/>
            </a:solidFill>
            <a:prstDash val="solid"/>
            <a:round/>
            <a:headEnd type="none" w="sm" len="sm"/>
            <a:tailEnd type="none" w="sm" len="sm"/>
          </a:ln>
          <a:effectLst>
            <a:outerShdw blurRad="381000" dist="292100" dir="5400000" sx="-80000" sy="-18000" rotWithShape="0">
              <a:srgbClr val="000000">
                <a:alpha val="21960"/>
              </a:srgbClr>
            </a:outerShdw>
          </a:effectLst>
        </p:spPr>
      </p:pic>
      <p:cxnSp>
        <p:nvCxnSpPr>
          <p:cNvPr id="126" name="Google Shape;126;p4"/>
          <p:cNvCxnSpPr>
            <a:stCxn id="124" idx="1"/>
          </p:cNvCxnSpPr>
          <p:nvPr/>
        </p:nvCxnSpPr>
        <p:spPr>
          <a:xfrm flipH="1">
            <a:off x="3391638" y="2908738"/>
            <a:ext cx="1443000" cy="695700"/>
          </a:xfrm>
          <a:prstGeom prst="bentConnector3">
            <a:avLst>
              <a:gd name="adj1" fmla="val 100100"/>
            </a:avLst>
          </a:prstGeom>
          <a:noFill/>
          <a:ln w="38100" cap="flat" cmpd="sng">
            <a:solidFill>
              <a:schemeClr val="dk2"/>
            </a:solidFill>
            <a:prstDash val="solid"/>
            <a:round/>
            <a:headEnd type="none" w="sm" len="sm"/>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6"/>
          <p:cNvSpPr txBox="1">
            <a:spLocks noGrp="1"/>
          </p:cNvSpPr>
          <p:nvPr>
            <p:ph type="body" idx="1"/>
          </p:nvPr>
        </p:nvSpPr>
        <p:spPr>
          <a:xfrm>
            <a:off x="530870" y="644166"/>
            <a:ext cx="5636508" cy="1927584"/>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rmAutofit fontScale="92500" lnSpcReduction="10000"/>
          </a:bodyPr>
          <a:lstStyle/>
          <a:p>
            <a:pPr marL="146050" lvl="0" indent="0" algn="l" rtl="0">
              <a:lnSpc>
                <a:spcPct val="115000"/>
              </a:lnSpc>
              <a:spcBef>
                <a:spcPts val="0"/>
              </a:spcBef>
              <a:spcAft>
                <a:spcPts val="0"/>
              </a:spcAft>
              <a:buSzPct val="82670"/>
              <a:buNone/>
            </a:pPr>
            <a:r>
              <a:rPr lang="es-419" sz="1700" b="1" i="0" u="none" strike="noStrike">
                <a:solidFill>
                  <a:srgbClr val="000000"/>
                </a:solidFill>
                <a:latin typeface="Cambria"/>
                <a:ea typeface="Cambria"/>
                <a:cs typeface="Cambria"/>
                <a:sym typeface="Cambria"/>
              </a:rPr>
              <a:t>Funcionamiento:</a:t>
            </a:r>
            <a:endParaRPr/>
          </a:p>
          <a:p>
            <a:pPr marL="146050" lvl="0" indent="0" algn="just" rtl="0">
              <a:lnSpc>
                <a:spcPct val="115000"/>
              </a:lnSpc>
              <a:spcBef>
                <a:spcPts val="0"/>
              </a:spcBef>
              <a:spcAft>
                <a:spcPts val="0"/>
              </a:spcAft>
              <a:buSzPct val="87837"/>
              <a:buNone/>
            </a:pPr>
            <a:r>
              <a:rPr lang="es-419" sz="1600">
                <a:solidFill>
                  <a:srgbClr val="525252"/>
                </a:solidFill>
                <a:latin typeface="Cambria"/>
                <a:ea typeface="Cambria"/>
                <a:cs typeface="Cambria"/>
                <a:sym typeface="Cambria"/>
              </a:rPr>
              <a:t>Ingresamos los contenedores (piezas) de forma manual, las piezas entran por el tubo y son sostenidas por un cilindro neumático corto y posteriormente posicionadas por un cilindro neumático largo para posteriormente ser llevada hasta otra unidad. Adicionalmente tenemos sensores los cuales informarán al PLC del estado de piezas y actuadores.</a:t>
            </a:r>
            <a:endParaRPr sz="1000">
              <a:solidFill>
                <a:srgbClr val="525252"/>
              </a:solidFill>
              <a:latin typeface="Cambria"/>
              <a:ea typeface="Cambria"/>
              <a:cs typeface="Cambria"/>
              <a:sym typeface="Cambria"/>
            </a:endParaRPr>
          </a:p>
        </p:txBody>
      </p:sp>
      <p:sp>
        <p:nvSpPr>
          <p:cNvPr id="132" name="Google Shape;132;p6"/>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1. Unidad de Alimentación</a:t>
            </a:r>
            <a:endParaRPr/>
          </a:p>
        </p:txBody>
      </p:sp>
      <p:pic>
        <p:nvPicPr>
          <p:cNvPr id="133" name="Google Shape;133;p6"/>
          <p:cNvPicPr preferRelativeResize="0"/>
          <p:nvPr/>
        </p:nvPicPr>
        <p:blipFill rotWithShape="1">
          <a:blip r:embed="rId3">
            <a:alphaModFix/>
          </a:blip>
          <a:srcRect l="48898" t="11889" r="17710" b="12997"/>
          <a:stretch/>
        </p:blipFill>
        <p:spPr>
          <a:xfrm>
            <a:off x="5742432" y="645443"/>
            <a:ext cx="3316224" cy="4193753"/>
          </a:xfrm>
          <a:prstGeom prst="rect">
            <a:avLst/>
          </a:prstGeom>
          <a:noFill/>
          <a:ln>
            <a:noFill/>
          </a:ln>
        </p:spPr>
      </p:pic>
      <p:sp>
        <p:nvSpPr>
          <p:cNvPr id="134" name="Google Shape;134;p6"/>
          <p:cNvSpPr txBox="1"/>
          <p:nvPr/>
        </p:nvSpPr>
        <p:spPr>
          <a:xfrm>
            <a:off x="530870" y="2721748"/>
            <a:ext cx="4589770" cy="231354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rmAutofit fontScale="92500" lnSpcReduction="20000"/>
          </a:bodyPr>
          <a:lstStyle/>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Sensores:</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4 sensores magnéticos D-C73</a:t>
            </a:r>
            <a:endParaRPr sz="1400" b="0"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2 Sensores fotoeléctricos E3Z-LS61</a:t>
            </a:r>
            <a:endParaRPr sz="1400" b="0"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1 Sensor fotoeléctrico MHT15 (Reflex)</a:t>
            </a:r>
            <a:endParaRPr sz="1400" b="0"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1 Sensor inductivo LM18-3008NA</a:t>
            </a:r>
            <a:endParaRPr sz="1400" b="0" i="0" u="none" strike="noStrike" cap="none">
              <a:solidFill>
                <a:schemeClr val="dk2"/>
              </a:solidFill>
              <a:latin typeface="Cambria"/>
              <a:ea typeface="Cambria"/>
              <a:cs typeface="Cambria"/>
              <a:sym typeface="Cambria"/>
            </a:endParaRPr>
          </a:p>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Actuadores:</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2 Cilindros neumáticos (corto y largo)..</a:t>
            </a:r>
            <a:endParaRPr sz="1400" b="0" i="0" u="none" strike="noStrike" cap="none">
              <a:solidFill>
                <a:schemeClr val="dk2"/>
              </a:solidFill>
              <a:latin typeface="Cambria"/>
              <a:ea typeface="Cambria"/>
              <a:cs typeface="Cambria"/>
              <a:sym typeface="Cambria"/>
            </a:endParaRPr>
          </a:p>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Adaptación de señal:</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2 convertidores de señal I/P (eléctrica a neumática).</a:t>
            </a:r>
            <a:endParaRPr sz="1400" b="0" i="0" u="none" strike="noStrike" cap="none">
              <a:solidFill>
                <a:schemeClr val="dk2"/>
              </a:solidFill>
              <a:latin typeface="Cambria"/>
              <a:ea typeface="Cambria"/>
              <a:cs typeface="Cambria"/>
              <a:sym typeface="Cambria"/>
            </a:endParaRPr>
          </a:p>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Instrumentos extras:</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1 regleta de conexiones para entradas y salidas del PLC</a:t>
            </a:r>
            <a:endParaRPr sz="1400" b="0" i="0" u="none" strike="noStrike" cap="none">
              <a:solidFill>
                <a:schemeClr val="dk2"/>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p7"/>
          <p:cNvPicPr preferRelativeResize="0"/>
          <p:nvPr/>
        </p:nvPicPr>
        <p:blipFill rotWithShape="1">
          <a:blip r:embed="rId3">
            <a:alphaModFix/>
          </a:blip>
          <a:srcRect l="9150" r="3855"/>
          <a:stretch/>
        </p:blipFill>
        <p:spPr>
          <a:xfrm>
            <a:off x="6277106" y="1018165"/>
            <a:ext cx="2866894" cy="4125335"/>
          </a:xfrm>
          <a:prstGeom prst="rect">
            <a:avLst/>
          </a:prstGeom>
          <a:noFill/>
          <a:ln>
            <a:noFill/>
          </a:ln>
        </p:spPr>
      </p:pic>
      <p:sp>
        <p:nvSpPr>
          <p:cNvPr id="140" name="Google Shape;140;p7"/>
          <p:cNvSpPr txBox="1">
            <a:spLocks noGrp="1"/>
          </p:cNvSpPr>
          <p:nvPr>
            <p:ph type="body" idx="1"/>
          </p:nvPr>
        </p:nvSpPr>
        <p:spPr>
          <a:xfrm>
            <a:off x="316090" y="606666"/>
            <a:ext cx="6400800" cy="1545878"/>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300"/>
              <a:buNone/>
            </a:pPr>
            <a:r>
              <a:rPr lang="es-419" sz="1500" b="1" i="0" u="none" strike="noStrike">
                <a:solidFill>
                  <a:srgbClr val="000000"/>
                </a:solidFill>
                <a:latin typeface="Cambria"/>
                <a:ea typeface="Cambria"/>
                <a:cs typeface="Cambria"/>
                <a:sym typeface="Cambria"/>
              </a:rPr>
              <a:t>Funcionamiento:</a:t>
            </a:r>
            <a:endParaRPr/>
          </a:p>
          <a:p>
            <a:pPr marL="0" lvl="0" indent="0" algn="just" rtl="0">
              <a:lnSpc>
                <a:spcPct val="100000"/>
              </a:lnSpc>
              <a:spcBef>
                <a:spcPts val="0"/>
              </a:spcBef>
              <a:spcAft>
                <a:spcPts val="0"/>
              </a:spcAft>
              <a:buSzPts val="1300"/>
              <a:buNone/>
            </a:pPr>
            <a:r>
              <a:rPr lang="es-419" sz="1500">
                <a:latin typeface="Cambria"/>
                <a:ea typeface="Cambria"/>
                <a:cs typeface="Cambria"/>
                <a:sym typeface="Cambria"/>
              </a:rPr>
              <a:t>Introducimos el contenido de nuestras piezas manualmente, y </a:t>
            </a:r>
            <a:r>
              <a:rPr lang="es-419" sz="1500">
                <a:solidFill>
                  <a:srgbClr val="525252"/>
                </a:solidFill>
                <a:latin typeface="Cambria"/>
                <a:ea typeface="Cambria"/>
                <a:cs typeface="Cambria"/>
                <a:sym typeface="Cambria"/>
              </a:rPr>
              <a:t>las piezas entran por el tubo y son sostenidas por 2 cilindros neumáticos, </a:t>
            </a:r>
            <a:r>
              <a:rPr lang="es-419" sz="1500">
                <a:latin typeface="Cambria"/>
                <a:ea typeface="Cambria"/>
                <a:cs typeface="Cambria"/>
                <a:sym typeface="Cambria"/>
              </a:rPr>
              <a:t>luego se deja caer la pieza en una mesa con posiciones para los contenidos, esta gira 180 grados para que la pinza neumática sujete el contenido y la lleve al contenedor (pieza inicial) luego se manda una señal para que la pieza más contenido sea llevado a la siguiente unidad. </a:t>
            </a:r>
            <a:endParaRPr sz="1500">
              <a:latin typeface="Cambria"/>
              <a:ea typeface="Cambria"/>
              <a:cs typeface="Cambria"/>
              <a:sym typeface="Cambria"/>
            </a:endParaRPr>
          </a:p>
        </p:txBody>
      </p:sp>
      <p:sp>
        <p:nvSpPr>
          <p:cNvPr id="141" name="Google Shape;141;p7"/>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2. Unidad de Ensamblaje</a:t>
            </a:r>
            <a:endParaRPr/>
          </a:p>
        </p:txBody>
      </p:sp>
      <p:sp>
        <p:nvSpPr>
          <p:cNvPr id="142" name="Google Shape;142;p7"/>
          <p:cNvSpPr txBox="1"/>
          <p:nvPr/>
        </p:nvSpPr>
        <p:spPr>
          <a:xfrm>
            <a:off x="316090" y="2265043"/>
            <a:ext cx="4763910" cy="280345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Sensores</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8 sensores magnéticos D-C73</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2 Sensores magnéticos CS-9D</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Sensor magnético AL-36R</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4 Sensores fotoeléctricos E3Z-LS61</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Sensor fotoeléctrico E3X-NA11</a:t>
            </a:r>
            <a:endParaRPr sz="1300" b="0" i="0" u="none" strike="noStrike" cap="none">
              <a:solidFill>
                <a:schemeClr val="accent1"/>
              </a:solidFill>
              <a:latin typeface="Cambria"/>
              <a:ea typeface="Cambria"/>
              <a:cs typeface="Cambria"/>
              <a:sym typeface="Cambria"/>
            </a:endParaRPr>
          </a:p>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Actuadores</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4 Cilindros neumáticos de doble efecto.</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cilindro rotatorio.</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pinza neumática.</a:t>
            </a:r>
            <a:endParaRPr sz="1300" b="0" i="0" u="none" strike="noStrike" cap="none">
              <a:solidFill>
                <a:schemeClr val="accent1"/>
              </a:solidFill>
              <a:latin typeface="Cambria"/>
              <a:ea typeface="Cambria"/>
              <a:cs typeface="Cambria"/>
              <a:sym typeface="Cambria"/>
            </a:endParaRPr>
          </a:p>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Adaptación de señal</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6 convertidores de señal I/P (eléctrica a neumática).</a:t>
            </a:r>
            <a:endParaRPr sz="1300" b="0" i="0" u="none" strike="noStrike" cap="none">
              <a:solidFill>
                <a:schemeClr val="accent1"/>
              </a:solidFill>
              <a:latin typeface="Cambria"/>
              <a:ea typeface="Cambria"/>
              <a:cs typeface="Cambria"/>
              <a:sym typeface="Cambria"/>
            </a:endParaRPr>
          </a:p>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Instrumentos extras</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regleta de conexiones para entradas y salidas del PLC</a:t>
            </a:r>
            <a:endParaRPr sz="1300" b="0" i="0" u="none" strike="noStrike" cap="none">
              <a:solidFill>
                <a:schemeClr val="accent1"/>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8"/>
          <p:cNvPicPr preferRelativeResize="0"/>
          <p:nvPr/>
        </p:nvPicPr>
        <p:blipFill rotWithShape="1">
          <a:blip r:embed="rId3">
            <a:alphaModFix/>
          </a:blip>
          <a:srcRect l="3584"/>
          <a:stretch/>
        </p:blipFill>
        <p:spPr>
          <a:xfrm>
            <a:off x="5498592" y="1532959"/>
            <a:ext cx="3645408" cy="3354067"/>
          </a:xfrm>
          <a:prstGeom prst="rect">
            <a:avLst/>
          </a:prstGeom>
          <a:noFill/>
          <a:ln>
            <a:noFill/>
          </a:ln>
        </p:spPr>
      </p:pic>
      <p:sp>
        <p:nvSpPr>
          <p:cNvPr id="148" name="Google Shape;148;p8"/>
          <p:cNvSpPr txBox="1">
            <a:spLocks noGrp="1"/>
          </p:cNvSpPr>
          <p:nvPr>
            <p:ph type="body" idx="1"/>
          </p:nvPr>
        </p:nvSpPr>
        <p:spPr>
          <a:xfrm>
            <a:off x="530870" y="644166"/>
            <a:ext cx="5636508" cy="1777586"/>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rmAutofit fontScale="85000" lnSpcReduction="20000"/>
          </a:bodyPr>
          <a:lstStyle/>
          <a:p>
            <a:pPr marL="146050" lvl="0" indent="0" algn="l" rtl="0">
              <a:lnSpc>
                <a:spcPct val="115000"/>
              </a:lnSpc>
              <a:spcBef>
                <a:spcPts val="0"/>
              </a:spcBef>
              <a:spcAft>
                <a:spcPts val="0"/>
              </a:spcAft>
              <a:buSzPct val="89965"/>
              <a:buNone/>
            </a:pPr>
            <a:r>
              <a:rPr lang="es-419" sz="1700" b="1" i="0" u="none" strike="noStrike">
                <a:solidFill>
                  <a:srgbClr val="000000"/>
                </a:solidFill>
                <a:latin typeface="Cambria"/>
                <a:ea typeface="Cambria"/>
                <a:cs typeface="Cambria"/>
                <a:sym typeface="Cambria"/>
              </a:rPr>
              <a:t>Funcionamiento:</a:t>
            </a:r>
            <a:endParaRPr/>
          </a:p>
          <a:p>
            <a:pPr marL="146050" lvl="0" indent="0" algn="just" rtl="0">
              <a:lnSpc>
                <a:spcPct val="115000"/>
              </a:lnSpc>
              <a:spcBef>
                <a:spcPts val="0"/>
              </a:spcBef>
              <a:spcAft>
                <a:spcPts val="0"/>
              </a:spcAft>
              <a:buSzPct val="84967"/>
              <a:buNone/>
            </a:pPr>
            <a:r>
              <a:rPr lang="es-419" sz="1800">
                <a:latin typeface="Cambria"/>
                <a:ea typeface="Cambria"/>
                <a:cs typeface="Cambria"/>
                <a:sym typeface="Cambria"/>
              </a:rPr>
              <a:t>Esta unidad se encarga del sellado del contenedor (pieza) más contenido. El proceso empieza cuando la unidad de transporte deja una pieza con contenido, la parte móvil se encarga de recibir la pieza y desplazarla para su procesamiento (sellado), luego la parte móvil devuelve la pieza ya sellada para que pueda ser desplazada a la siguiente unidad. </a:t>
            </a:r>
            <a:endParaRPr sz="1800">
              <a:latin typeface="Cambria"/>
              <a:ea typeface="Cambria"/>
              <a:cs typeface="Cambria"/>
              <a:sym typeface="Cambria"/>
            </a:endParaRPr>
          </a:p>
        </p:txBody>
      </p:sp>
      <p:sp>
        <p:nvSpPr>
          <p:cNvPr id="149" name="Google Shape;149;p8"/>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3. Unidad de Procesamiento</a:t>
            </a:r>
            <a:endParaRPr/>
          </a:p>
        </p:txBody>
      </p:sp>
      <p:sp>
        <p:nvSpPr>
          <p:cNvPr id="150" name="Google Shape;150;p8"/>
          <p:cNvSpPr txBox="1"/>
          <p:nvPr/>
        </p:nvSpPr>
        <p:spPr>
          <a:xfrm>
            <a:off x="530870" y="2571750"/>
            <a:ext cx="4589770" cy="2516770"/>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146050" marR="0" lvl="0" indent="0" algn="l" rtl="0">
              <a:lnSpc>
                <a:spcPct val="100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Sensores</a:t>
            </a:r>
            <a:endParaRPr sz="1300" b="1" i="0" u="none" strike="noStrike" cap="none">
              <a:solidFill>
                <a:schemeClr val="dk2"/>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4 sensores magnéticos D-C73</a:t>
            </a:r>
            <a:endParaRPr sz="1300" b="0" i="0" u="none" strike="noStrike" cap="none">
              <a:solidFill>
                <a:schemeClr val="accent1"/>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sensor magnético D-Z73</a:t>
            </a:r>
            <a:endParaRPr sz="1300" b="0" i="0" u="none" strike="noStrike" cap="none">
              <a:solidFill>
                <a:schemeClr val="accent1"/>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sensor fotoeléctricos E3Z-LS61</a:t>
            </a:r>
            <a:endParaRPr sz="1300" b="0" i="0" u="none" strike="noStrike" cap="none">
              <a:solidFill>
                <a:schemeClr val="accent1"/>
              </a:solidFill>
              <a:latin typeface="Cambria"/>
              <a:ea typeface="Cambria"/>
              <a:cs typeface="Cambria"/>
              <a:sym typeface="Cambria"/>
            </a:endParaRPr>
          </a:p>
          <a:p>
            <a:pPr marL="146050" marR="0" lvl="0" indent="0" algn="l" rtl="0">
              <a:lnSpc>
                <a:spcPct val="100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Actuadores</a:t>
            </a:r>
            <a:endParaRPr sz="1300" b="1" i="0" u="none" strike="noStrike" cap="none">
              <a:solidFill>
                <a:schemeClr val="dk2"/>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Pinza neumática.</a:t>
            </a:r>
            <a:endParaRPr sz="1300" b="0" i="0" u="none" strike="noStrike" cap="none">
              <a:solidFill>
                <a:schemeClr val="accent1"/>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Cilindro neumático largo.</a:t>
            </a:r>
            <a:endParaRPr sz="1300" b="0" i="0" u="none" strike="noStrike" cap="none">
              <a:solidFill>
                <a:schemeClr val="accent1"/>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Cilindro neumático corto. </a:t>
            </a:r>
            <a:endParaRPr sz="1300" b="0" i="0" u="none" strike="noStrike" cap="none">
              <a:solidFill>
                <a:schemeClr val="accent1"/>
              </a:solidFill>
              <a:latin typeface="Cambria"/>
              <a:ea typeface="Cambria"/>
              <a:cs typeface="Cambria"/>
              <a:sym typeface="Cambria"/>
            </a:endParaRPr>
          </a:p>
          <a:p>
            <a:pPr marL="146050" marR="0" lvl="0" indent="0" algn="l" rtl="0">
              <a:lnSpc>
                <a:spcPct val="100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Adaptación de señal</a:t>
            </a:r>
            <a:endParaRPr sz="1300" b="1" i="0" u="none" strike="noStrike" cap="none">
              <a:solidFill>
                <a:schemeClr val="dk2"/>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3 convertidores de señal I/P (eléctrica a neumática).</a:t>
            </a:r>
            <a:endParaRPr sz="1300" b="0" i="0" u="none" strike="noStrike" cap="none">
              <a:solidFill>
                <a:schemeClr val="accent1"/>
              </a:solidFill>
              <a:latin typeface="Cambria"/>
              <a:ea typeface="Cambria"/>
              <a:cs typeface="Cambria"/>
              <a:sym typeface="Cambria"/>
            </a:endParaRPr>
          </a:p>
          <a:p>
            <a:pPr marL="146050" marR="0" lvl="0" indent="0" algn="l" rtl="0">
              <a:lnSpc>
                <a:spcPct val="100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Instrumentos extras</a:t>
            </a:r>
            <a:endParaRPr sz="1300" b="1" i="0" u="none" strike="noStrike" cap="none">
              <a:solidFill>
                <a:schemeClr val="dk2"/>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regleta de conexiones para entradas y salidas del PLC</a:t>
            </a:r>
            <a:endParaRPr sz="1300" b="0" i="0" u="none" strike="noStrike" cap="none">
              <a:solidFill>
                <a:schemeClr val="accent1"/>
              </a:solidFill>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9"/>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4. Unidad de Selección</a:t>
            </a:r>
            <a:endParaRPr/>
          </a:p>
        </p:txBody>
      </p:sp>
      <p:sp>
        <p:nvSpPr>
          <p:cNvPr id="156" name="Google Shape;156;p9"/>
          <p:cNvSpPr txBox="1"/>
          <p:nvPr/>
        </p:nvSpPr>
        <p:spPr>
          <a:xfrm>
            <a:off x="530870" y="2294887"/>
            <a:ext cx="4589770" cy="2764594"/>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Sensores</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3 sensores magnéticos D-C73</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Sensor inductivo LM18-3008NA </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Sensor fotoeléctrico E3X-NA11</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Sensor fotoeléctrico MHT15 (Reflex)</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Encoder incremental</a:t>
            </a:r>
            <a:endParaRPr sz="1300" b="0" i="0" u="none" strike="noStrike" cap="none">
              <a:solidFill>
                <a:schemeClr val="accent1"/>
              </a:solidFill>
              <a:latin typeface="Cambria"/>
              <a:ea typeface="Cambria"/>
              <a:cs typeface="Cambria"/>
              <a:sym typeface="Cambria"/>
            </a:endParaRPr>
          </a:p>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Actuadores</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3 Cilindros neumáticos de doble efecto.</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motor trifásico de 220v con conexión delta.</a:t>
            </a:r>
            <a:endParaRPr sz="1300" b="0" i="0" u="none" strike="noStrike" cap="none">
              <a:solidFill>
                <a:schemeClr val="accent1"/>
              </a:solidFill>
              <a:latin typeface="Cambria"/>
              <a:ea typeface="Cambria"/>
              <a:cs typeface="Cambria"/>
              <a:sym typeface="Cambria"/>
            </a:endParaRPr>
          </a:p>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Adaptación de señal</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3 Adaptadores de señal I/P (eléctrica a neumática).</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variador de frecuencia.</a:t>
            </a:r>
            <a:endParaRPr sz="1300" b="0" i="0" u="none" strike="noStrike" cap="none">
              <a:solidFill>
                <a:schemeClr val="accent1"/>
              </a:solidFill>
              <a:latin typeface="Cambria"/>
              <a:ea typeface="Cambria"/>
              <a:cs typeface="Cambria"/>
              <a:sym typeface="Cambria"/>
            </a:endParaRPr>
          </a:p>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Instrumentos extras</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regleta de conexiones para entradas y salidas del PLC</a:t>
            </a:r>
            <a:endParaRPr sz="1300" b="0" i="0" u="none" strike="noStrike" cap="none">
              <a:solidFill>
                <a:schemeClr val="accent1"/>
              </a:solidFill>
              <a:latin typeface="Cambria"/>
              <a:ea typeface="Cambria"/>
              <a:cs typeface="Cambria"/>
              <a:sym typeface="Cambria"/>
            </a:endParaRPr>
          </a:p>
        </p:txBody>
      </p:sp>
      <p:pic>
        <p:nvPicPr>
          <p:cNvPr id="157" name="Google Shape;157;p9"/>
          <p:cNvPicPr preferRelativeResize="0"/>
          <p:nvPr/>
        </p:nvPicPr>
        <p:blipFill rotWithShape="1">
          <a:blip r:embed="rId3">
            <a:alphaModFix/>
          </a:blip>
          <a:srcRect/>
          <a:stretch/>
        </p:blipFill>
        <p:spPr>
          <a:xfrm>
            <a:off x="5305779" y="2320459"/>
            <a:ext cx="3838222" cy="2823041"/>
          </a:xfrm>
          <a:prstGeom prst="rect">
            <a:avLst/>
          </a:prstGeom>
          <a:noFill/>
          <a:ln>
            <a:noFill/>
          </a:ln>
        </p:spPr>
      </p:pic>
      <p:sp>
        <p:nvSpPr>
          <p:cNvPr id="158" name="Google Shape;158;p9"/>
          <p:cNvSpPr txBox="1">
            <a:spLocks noGrp="1"/>
          </p:cNvSpPr>
          <p:nvPr>
            <p:ph type="body" idx="1"/>
          </p:nvPr>
        </p:nvSpPr>
        <p:spPr>
          <a:xfrm>
            <a:off x="530870" y="644166"/>
            <a:ext cx="8127708" cy="1500723"/>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46050" lvl="0" indent="0" algn="just" rtl="0">
              <a:lnSpc>
                <a:spcPct val="95000"/>
              </a:lnSpc>
              <a:spcBef>
                <a:spcPts val="0"/>
              </a:spcBef>
              <a:spcAft>
                <a:spcPts val="0"/>
              </a:spcAft>
              <a:buSzPts val="1300"/>
              <a:buNone/>
            </a:pPr>
            <a:r>
              <a:rPr lang="es-419" sz="1500" b="1" i="0" u="none" strike="noStrike">
                <a:solidFill>
                  <a:srgbClr val="000000"/>
                </a:solidFill>
                <a:latin typeface="Cambria"/>
                <a:ea typeface="Cambria"/>
                <a:cs typeface="Cambria"/>
                <a:sym typeface="Cambria"/>
              </a:rPr>
              <a:t>Funcionamiento:</a:t>
            </a:r>
            <a:endParaRPr/>
          </a:p>
          <a:p>
            <a:pPr marL="146050" lvl="0" indent="0" algn="just" rtl="0">
              <a:lnSpc>
                <a:spcPct val="95000"/>
              </a:lnSpc>
              <a:spcBef>
                <a:spcPts val="0"/>
              </a:spcBef>
              <a:spcAft>
                <a:spcPts val="0"/>
              </a:spcAft>
              <a:buSzPts val="1300"/>
              <a:buNone/>
            </a:pPr>
            <a:r>
              <a:rPr lang="es-419" sz="1500">
                <a:latin typeface="Cambria"/>
                <a:ea typeface="Cambria"/>
                <a:cs typeface="Cambria"/>
                <a:sym typeface="Cambria"/>
              </a:rPr>
              <a:t>Inicia su funcionamiento cuando el sensor reflex detecta un objeto (en nuestro caso las piezas con contenido), luego es transportada por la cinta, en el proceso la pieza pasa por 2 sensores (inductivo y fotoeléctrico) los cuales nos ayudan a distinguir el tipo de material y a que lugar debe ser seleccionado, una vez detectado el tipo de material los cilindros neumáticos se encargan de empujar las piezas al lugar que corresponden.</a:t>
            </a:r>
            <a:endParaRPr/>
          </a:p>
          <a:p>
            <a:pPr marL="146050" lvl="0" indent="0" algn="l" rtl="0">
              <a:lnSpc>
                <a:spcPct val="95000"/>
              </a:lnSpc>
              <a:spcBef>
                <a:spcPts val="0"/>
              </a:spcBef>
              <a:spcAft>
                <a:spcPts val="0"/>
              </a:spcAft>
              <a:buSzPts val="1300"/>
              <a:buNone/>
            </a:pPr>
            <a:endParaRPr sz="1500">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0"/>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5. Unidad de Transporte</a:t>
            </a:r>
            <a:endParaRPr/>
          </a:p>
        </p:txBody>
      </p:sp>
      <p:sp>
        <p:nvSpPr>
          <p:cNvPr id="164" name="Google Shape;164;p10"/>
          <p:cNvSpPr txBox="1"/>
          <p:nvPr/>
        </p:nvSpPr>
        <p:spPr>
          <a:xfrm>
            <a:off x="530870" y="2040047"/>
            <a:ext cx="4978108" cy="2994797"/>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180975" marR="0" lvl="0" indent="-161925" algn="l" rtl="0">
              <a:lnSpc>
                <a:spcPct val="90000"/>
              </a:lnSpc>
              <a:spcBef>
                <a:spcPts val="0"/>
              </a:spcBef>
              <a:spcAft>
                <a:spcPts val="0"/>
              </a:spcAft>
              <a:buClr>
                <a:schemeClr val="accent1"/>
              </a:buClr>
              <a:buSzPts val="1300"/>
              <a:buFont typeface="Lato"/>
              <a:buNone/>
            </a:pPr>
            <a:r>
              <a:rPr lang="es-419" sz="1200" b="1" i="0" u="none" strike="noStrike" cap="none">
                <a:solidFill>
                  <a:schemeClr val="dk2"/>
                </a:solidFill>
                <a:latin typeface="Cambria"/>
                <a:ea typeface="Cambria"/>
                <a:cs typeface="Cambria"/>
                <a:sym typeface="Cambria"/>
              </a:rPr>
              <a:t>Sensores</a:t>
            </a:r>
            <a:endParaRPr sz="1200" b="1" i="0" u="none" strike="noStrike" cap="none">
              <a:solidFill>
                <a:schemeClr val="dk2"/>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Sensor inductivo omron TL-08NK</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2 Sensores magnéticos CS-9D</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3 Sensores magnéticos AL-36R</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2 Sensores magnéticos D-C73</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2 Sensores finales de carrera N156-1C25.</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Encoder absoluto.</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Lato"/>
              <a:buNone/>
            </a:pPr>
            <a:r>
              <a:rPr lang="es-419" sz="1200" b="1" i="0" u="none" strike="noStrike" cap="none">
                <a:solidFill>
                  <a:schemeClr val="dk2"/>
                </a:solidFill>
                <a:latin typeface="Cambria"/>
                <a:ea typeface="Cambria"/>
                <a:cs typeface="Cambria"/>
                <a:sym typeface="Cambria"/>
              </a:rPr>
              <a:t>Actuadores</a:t>
            </a:r>
            <a:endParaRPr sz="1200" b="1" i="0" u="none" strike="noStrike" cap="none">
              <a:solidFill>
                <a:schemeClr val="dk2"/>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Servomotor trifásico AC .</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pinza neumática.</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cilindro neumático doble.</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cilindro rotatorio neumático.</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cilindro neumático corto.</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Lato"/>
              <a:buNone/>
            </a:pPr>
            <a:r>
              <a:rPr lang="es-419" sz="1200" b="1" i="0" u="none" strike="noStrike" cap="none">
                <a:solidFill>
                  <a:schemeClr val="dk2"/>
                </a:solidFill>
                <a:latin typeface="Cambria"/>
                <a:ea typeface="Cambria"/>
                <a:cs typeface="Cambria"/>
                <a:sym typeface="Cambria"/>
              </a:rPr>
              <a:t>Adaptación de señal</a:t>
            </a:r>
            <a:endParaRPr sz="1200" b="1" i="0" u="none" strike="noStrike" cap="none">
              <a:solidFill>
                <a:schemeClr val="dk2"/>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2 convertidores de señal I/P (eléctrica a neumática) retorno a muelle.</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2 convertidores de señal I/P (eléctrica a neumática)</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driver para el servomotor.</a:t>
            </a:r>
            <a:endParaRPr sz="1200" b="0" i="0" u="none" strike="noStrike" cap="none">
              <a:solidFill>
                <a:schemeClr val="accent1"/>
              </a:solidFill>
              <a:latin typeface="Cambria"/>
              <a:ea typeface="Cambria"/>
              <a:cs typeface="Cambria"/>
              <a:sym typeface="Cambria"/>
            </a:endParaRPr>
          </a:p>
        </p:txBody>
      </p:sp>
      <p:sp>
        <p:nvSpPr>
          <p:cNvPr id="165" name="Google Shape;165;p10"/>
          <p:cNvSpPr txBox="1">
            <a:spLocks noGrp="1"/>
          </p:cNvSpPr>
          <p:nvPr>
            <p:ph type="body" idx="1"/>
          </p:nvPr>
        </p:nvSpPr>
        <p:spPr>
          <a:xfrm>
            <a:off x="530870" y="516746"/>
            <a:ext cx="8409930" cy="1500723"/>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0" lvl="0" indent="0" algn="just" rtl="0">
              <a:lnSpc>
                <a:spcPct val="95000"/>
              </a:lnSpc>
              <a:spcBef>
                <a:spcPts val="0"/>
              </a:spcBef>
              <a:spcAft>
                <a:spcPts val="0"/>
              </a:spcAft>
              <a:buSzPts val="1300"/>
              <a:buNone/>
            </a:pPr>
            <a:r>
              <a:rPr lang="es-419" sz="1500" b="1" i="0" u="none" strike="noStrike">
                <a:solidFill>
                  <a:srgbClr val="000000"/>
                </a:solidFill>
                <a:latin typeface="Cambria"/>
                <a:ea typeface="Cambria"/>
                <a:cs typeface="Cambria"/>
                <a:sym typeface="Cambria"/>
              </a:rPr>
              <a:t>Funcionamiento:</a:t>
            </a:r>
            <a:endParaRPr/>
          </a:p>
          <a:p>
            <a:pPr marL="0" lvl="0" indent="0" algn="just" rtl="0">
              <a:lnSpc>
                <a:spcPct val="100000"/>
              </a:lnSpc>
              <a:spcBef>
                <a:spcPts val="0"/>
              </a:spcBef>
              <a:spcAft>
                <a:spcPts val="0"/>
              </a:spcAft>
              <a:buSzPts val="1300"/>
              <a:buNone/>
            </a:pPr>
            <a:r>
              <a:rPr lang="es-419" sz="1500">
                <a:latin typeface="Cambria"/>
                <a:ea typeface="Cambria"/>
                <a:cs typeface="Cambria"/>
                <a:sym typeface="Cambria"/>
              </a:rPr>
              <a:t>El proceso inicia recogiendo un contenedor (pieza vacía) de la unidad de alimentación, luego la lleva a la unidad de ensamblaje para que el contenedor (pieza vacía) pueda adquirir producto (pieza más contenido), luego recoge dicha pieza y la lleva a la unidad de procesamiento para que sea sellada, luego se transporta a la unidad de selección para que las piezas con contenido sean distinguidas por el tipo de material y finalmente vuelve a su posición inicial para esperar otra pieza vacía. </a:t>
            </a:r>
            <a:endParaRPr sz="1500">
              <a:latin typeface="Cambria"/>
              <a:ea typeface="Cambria"/>
              <a:cs typeface="Cambria"/>
              <a:sym typeface="Cambria"/>
            </a:endParaRPr>
          </a:p>
          <a:p>
            <a:pPr marL="146050" lvl="0" indent="0" algn="l" rtl="0">
              <a:lnSpc>
                <a:spcPct val="95000"/>
              </a:lnSpc>
              <a:spcBef>
                <a:spcPts val="0"/>
              </a:spcBef>
              <a:spcAft>
                <a:spcPts val="0"/>
              </a:spcAft>
              <a:buSzPts val="1300"/>
              <a:buNone/>
            </a:pPr>
            <a:endParaRPr sz="1500">
              <a:latin typeface="Cambria"/>
              <a:ea typeface="Cambria"/>
              <a:cs typeface="Cambria"/>
              <a:sym typeface="Cambria"/>
            </a:endParaRPr>
          </a:p>
        </p:txBody>
      </p:sp>
      <p:sp>
        <p:nvSpPr>
          <p:cNvPr id="166" name="Google Shape;166;p10"/>
          <p:cNvSpPr txBox="1"/>
          <p:nvPr/>
        </p:nvSpPr>
        <p:spPr>
          <a:xfrm>
            <a:off x="3019924" y="3394514"/>
            <a:ext cx="2489054" cy="674930"/>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180975" marR="0" lvl="0" indent="-161925" algn="l" rtl="0">
              <a:lnSpc>
                <a:spcPct val="90000"/>
              </a:lnSpc>
              <a:spcBef>
                <a:spcPts val="0"/>
              </a:spcBef>
              <a:spcAft>
                <a:spcPts val="0"/>
              </a:spcAft>
              <a:buClr>
                <a:schemeClr val="accent1"/>
              </a:buClr>
              <a:buSzPts val="1300"/>
              <a:buFont typeface="Lato"/>
              <a:buNone/>
            </a:pPr>
            <a:r>
              <a:rPr lang="es-419" sz="1200" b="1" i="0" u="none" strike="noStrike" cap="none">
                <a:solidFill>
                  <a:schemeClr val="dk2"/>
                </a:solidFill>
                <a:latin typeface="Cambria"/>
                <a:ea typeface="Cambria"/>
                <a:cs typeface="Cambria"/>
                <a:sym typeface="Cambria"/>
              </a:rPr>
              <a:t>Instrumentos extras</a:t>
            </a:r>
            <a:endParaRPr sz="1200" b="1" i="0" u="none" strike="noStrike" cap="none">
              <a:solidFill>
                <a:schemeClr val="dk2"/>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regleta de conexiones para entradas y salidas del PLC</a:t>
            </a:r>
            <a:endParaRPr sz="1200" b="0" i="0" u="none" strike="noStrike" cap="none">
              <a:solidFill>
                <a:schemeClr val="accent1"/>
              </a:solidFill>
              <a:latin typeface="Cambria"/>
              <a:ea typeface="Cambria"/>
              <a:cs typeface="Cambria"/>
              <a:sym typeface="Cambria"/>
            </a:endParaRPr>
          </a:p>
        </p:txBody>
      </p:sp>
      <p:pic>
        <p:nvPicPr>
          <p:cNvPr id="167" name="Google Shape;167;p10"/>
          <p:cNvPicPr preferRelativeResize="0"/>
          <p:nvPr/>
        </p:nvPicPr>
        <p:blipFill rotWithShape="1">
          <a:blip r:embed="rId3">
            <a:alphaModFix/>
          </a:blip>
          <a:srcRect b="24713"/>
          <a:stretch/>
        </p:blipFill>
        <p:spPr>
          <a:xfrm>
            <a:off x="5671450" y="2485497"/>
            <a:ext cx="3355233" cy="1583947"/>
          </a:xfrm>
          <a:prstGeom prst="rect">
            <a:avLst/>
          </a:prstGeom>
          <a:noFill/>
          <a:ln>
            <a:noFill/>
          </a:ln>
          <a:effectLst>
            <a:outerShdw blurRad="190500" algn="tl" rotWithShape="0">
              <a:srgbClr val="000000">
                <a:alpha val="6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s-419"/>
              <a:t>COMPLEMENTACIÓN DE LA BITÁCORA</a:t>
            </a:r>
            <a:endParaRPr/>
          </a:p>
        </p:txBody>
      </p:sp>
      <p:sp>
        <p:nvSpPr>
          <p:cNvPr id="173" name="Google Shape;173;p11"/>
          <p:cNvSpPr txBox="1">
            <a:spLocks noGrp="1"/>
          </p:cNvSpPr>
          <p:nvPr>
            <p:ph type="subTitle" idx="1"/>
          </p:nvPr>
        </p:nvSpPr>
        <p:spPr>
          <a:xfrm>
            <a:off x="729627" y="3172900"/>
            <a:ext cx="3123045" cy="541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2"/>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Tabla Resumen: Sensores</a:t>
            </a:r>
            <a:endParaRPr/>
          </a:p>
        </p:txBody>
      </p:sp>
      <p:graphicFrame>
        <p:nvGraphicFramePr>
          <p:cNvPr id="179" name="Google Shape;179;p12"/>
          <p:cNvGraphicFramePr/>
          <p:nvPr/>
        </p:nvGraphicFramePr>
        <p:xfrm>
          <a:off x="427612" y="734011"/>
          <a:ext cx="3000000" cy="3000000"/>
        </p:xfrm>
        <a:graphic>
          <a:graphicData uri="http://schemas.openxmlformats.org/drawingml/2006/table">
            <a:tbl>
              <a:tblPr firstRow="1" bandRow="1">
                <a:noFill/>
                <a:tableStyleId>{3FF80745-7821-485C-8F53-118708D8D5D8}</a:tableStyleId>
              </a:tblPr>
              <a:tblGrid>
                <a:gridCol w="2165675">
                  <a:extLst>
                    <a:ext uri="{9D8B030D-6E8A-4147-A177-3AD203B41FA5}">
                      <a16:colId xmlns:a16="http://schemas.microsoft.com/office/drawing/2014/main" val="20000"/>
                    </a:ext>
                  </a:extLst>
                </a:gridCol>
                <a:gridCol w="1274175">
                  <a:extLst>
                    <a:ext uri="{9D8B030D-6E8A-4147-A177-3AD203B41FA5}">
                      <a16:colId xmlns:a16="http://schemas.microsoft.com/office/drawing/2014/main" val="20001"/>
                    </a:ext>
                  </a:extLst>
                </a:gridCol>
                <a:gridCol w="1229200">
                  <a:extLst>
                    <a:ext uri="{9D8B030D-6E8A-4147-A177-3AD203B41FA5}">
                      <a16:colId xmlns:a16="http://schemas.microsoft.com/office/drawing/2014/main" val="20002"/>
                    </a:ext>
                  </a:extLst>
                </a:gridCol>
                <a:gridCol w="1229200">
                  <a:extLst>
                    <a:ext uri="{9D8B030D-6E8A-4147-A177-3AD203B41FA5}">
                      <a16:colId xmlns:a16="http://schemas.microsoft.com/office/drawing/2014/main" val="20003"/>
                    </a:ext>
                  </a:extLst>
                </a:gridCol>
                <a:gridCol w="1349125">
                  <a:extLst>
                    <a:ext uri="{9D8B030D-6E8A-4147-A177-3AD203B41FA5}">
                      <a16:colId xmlns:a16="http://schemas.microsoft.com/office/drawing/2014/main" val="20004"/>
                    </a:ext>
                  </a:extLst>
                </a:gridCol>
                <a:gridCol w="1162575">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200"/>
                        <a:buFont typeface="Arial"/>
                        <a:buNone/>
                      </a:pPr>
                      <a:r>
                        <a:rPr lang="es-419" sz="1200" u="none" strike="noStrike" cap="none">
                          <a:solidFill>
                            <a:schemeClr val="lt1"/>
                          </a:solidFill>
                        </a:rPr>
                        <a:t>Sensor \ </a:t>
                      </a:r>
                      <a:r>
                        <a:rPr lang="es-419" sz="1200" b="1" u="none" strike="noStrike" cap="none">
                          <a:solidFill>
                            <a:schemeClr val="lt1"/>
                          </a:solidFill>
                          <a:latin typeface="Cambria"/>
                          <a:ea typeface="Cambria"/>
                          <a:cs typeface="Cambria"/>
                          <a:sym typeface="Cambria"/>
                        </a:rPr>
                        <a:t>Unidad </a:t>
                      </a:r>
                      <a:endParaRPr sz="12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None/>
                      </a:pPr>
                      <a:r>
                        <a:rPr lang="es-419" sz="1300" b="1" u="none" strike="noStrike" cap="none">
                          <a:solidFill>
                            <a:schemeClr val="lt1"/>
                          </a:solidFill>
                          <a:latin typeface="Cambria"/>
                          <a:ea typeface="Cambria"/>
                          <a:cs typeface="Cambria"/>
                          <a:sym typeface="Cambria"/>
                        </a:rPr>
                        <a:t>Transporte</a:t>
                      </a:r>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None/>
                      </a:pPr>
                      <a:r>
                        <a:rPr lang="es-419" sz="1300" b="1" u="none" strike="noStrike" cap="none">
                          <a:solidFill>
                            <a:schemeClr val="lt1"/>
                          </a:solidFill>
                          <a:latin typeface="Cambria"/>
                          <a:ea typeface="Cambria"/>
                          <a:cs typeface="Cambria"/>
                          <a:sym typeface="Cambria"/>
                        </a:rPr>
                        <a:t>Selección</a:t>
                      </a: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None/>
                      </a:pPr>
                      <a:r>
                        <a:rPr lang="es-419" sz="1300" b="1" u="none" strike="noStrike" cap="none">
                          <a:solidFill>
                            <a:schemeClr val="lt1"/>
                          </a:solidFill>
                          <a:latin typeface="Cambria"/>
                          <a:ea typeface="Cambria"/>
                          <a:cs typeface="Cambria"/>
                          <a:sym typeface="Cambria"/>
                        </a:rPr>
                        <a:t>Alimentación</a:t>
                      </a: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None/>
                      </a:pPr>
                      <a:r>
                        <a:rPr lang="es-419" sz="1300" b="1" u="none" strike="noStrike" cap="none">
                          <a:solidFill>
                            <a:schemeClr val="lt1"/>
                          </a:solidFill>
                          <a:latin typeface="Cambria"/>
                          <a:ea typeface="Cambria"/>
                          <a:cs typeface="Cambria"/>
                          <a:sym typeface="Cambria"/>
                        </a:rPr>
                        <a:t>Procesamiento</a:t>
                      </a: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None/>
                      </a:pPr>
                      <a:r>
                        <a:rPr lang="es-419" sz="1300" b="1" u="none" strike="noStrike" cap="none">
                          <a:solidFill>
                            <a:schemeClr val="lt1"/>
                          </a:solidFill>
                          <a:latin typeface="Cambria"/>
                          <a:ea typeface="Cambria"/>
                          <a:cs typeface="Cambria"/>
                          <a:sym typeface="Cambria"/>
                        </a:rPr>
                        <a:t>Ensamblaje</a:t>
                      </a: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s-419" sz="1400" u="none" strike="noStrike" cap="none">
                          <a:solidFill>
                            <a:schemeClr val="lt1"/>
                          </a:solidFill>
                          <a:latin typeface="Cambria"/>
                          <a:ea typeface="Cambria"/>
                          <a:cs typeface="Cambria"/>
                          <a:sym typeface="Cambria"/>
                        </a:rPr>
                        <a:t>Magnético DC73</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6</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3</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4</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5</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7</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Fotoeléctrico</a:t>
                      </a:r>
                      <a:endParaRPr/>
                    </a:p>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Omron E3ZLS61</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2</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4</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Fotoeléctrico</a:t>
                      </a:r>
                      <a:endParaRPr/>
                    </a:p>
                    <a:p>
                      <a:pPr marL="0" marR="0" lvl="0" indent="0" algn="l" rtl="0">
                        <a:lnSpc>
                          <a:spcPct val="100000"/>
                        </a:lnSpc>
                        <a:spcBef>
                          <a:spcPts val="0"/>
                        </a:spcBef>
                        <a:spcAft>
                          <a:spcPts val="0"/>
                        </a:spcAft>
                        <a:buClr>
                          <a:srgbClr val="000000"/>
                        </a:buClr>
                        <a:buSzPts val="1400"/>
                        <a:buFont typeface="Arial"/>
                        <a:buNone/>
                      </a:pPr>
                      <a:r>
                        <a:rPr lang="es-419" sz="1400" u="none" strike="noStrike" cap="none">
                          <a:solidFill>
                            <a:schemeClr val="lt1"/>
                          </a:solidFill>
                          <a:latin typeface="Cambria"/>
                          <a:ea typeface="Cambria"/>
                          <a:cs typeface="Cambria"/>
                          <a:sym typeface="Cambria"/>
                        </a:rPr>
                        <a:t>Omron E3XNA11 (F.Ó.)</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Fotoeléctrico </a:t>
                      </a:r>
                      <a:endParaRPr/>
                    </a:p>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MHT15 (Reflex)</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Final de Carrera</a:t>
                      </a:r>
                      <a:endParaRPr/>
                    </a:p>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V-156_1C25</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2</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Proximidad Inductivo LM183008NA</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6"/>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Proximidad Inductivo TL08NK</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7"/>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Encoder incremental </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3"/>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Sensor Magnético D-C73</a:t>
            </a:r>
            <a:endParaRPr sz="2400" b="1" i="0" u="none" strike="noStrike" cap="none">
              <a:solidFill>
                <a:srgbClr val="681900"/>
              </a:solidFill>
              <a:latin typeface="Raleway"/>
              <a:ea typeface="Raleway"/>
              <a:cs typeface="Raleway"/>
              <a:sym typeface="Raleway"/>
            </a:endParaRPr>
          </a:p>
        </p:txBody>
      </p:sp>
      <p:sp>
        <p:nvSpPr>
          <p:cNvPr id="185" name="Google Shape;185;p13"/>
          <p:cNvSpPr txBox="1">
            <a:spLocks noGrp="1"/>
          </p:cNvSpPr>
          <p:nvPr>
            <p:ph type="body" idx="1"/>
          </p:nvPr>
        </p:nvSpPr>
        <p:spPr>
          <a:xfrm>
            <a:off x="530870" y="2008866"/>
            <a:ext cx="3725041" cy="1357210"/>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24 VDC</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5 – 40 mA</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Caída de voltaje en el circuito: &lt; 2.4 V</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Tiempo de respuesta: 1.2 m[s]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endParaRPr sz="1400">
              <a:latin typeface="Cambria"/>
              <a:ea typeface="Cambria"/>
              <a:cs typeface="Cambria"/>
              <a:sym typeface="Cambria"/>
            </a:endParaRPr>
          </a:p>
        </p:txBody>
      </p:sp>
      <p:sp>
        <p:nvSpPr>
          <p:cNvPr id="186" name="Google Shape;186;p13"/>
          <p:cNvSpPr txBox="1"/>
          <p:nvPr/>
        </p:nvSpPr>
        <p:spPr>
          <a:xfrm>
            <a:off x="530870" y="614856"/>
            <a:ext cx="8104836"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Este sensor se utiliza para detectar la ubicación del imán acoplado al pistón de la parte móvil dentro del cilindro neumático. En los diferentes cilindros utilizados se hace uso de dos sensores en cada extremo para identificar la extensión o retracción de la parte móvil.</a:t>
            </a:r>
            <a:endParaRPr sz="1600" b="0" i="0" u="none" strike="noStrike" cap="none">
              <a:solidFill>
                <a:schemeClr val="accent1"/>
              </a:solidFill>
              <a:latin typeface="Cambria"/>
              <a:ea typeface="Cambria"/>
              <a:cs typeface="Cambria"/>
              <a:sym typeface="Cambria"/>
            </a:endParaRPr>
          </a:p>
          <a:p>
            <a:pPr marL="108000" marR="0" lvl="0" indent="0" algn="l" rtl="0">
              <a:lnSpc>
                <a:spcPct val="100000"/>
              </a:lnSpc>
              <a:spcBef>
                <a:spcPts val="0"/>
              </a:spcBef>
              <a:spcAft>
                <a:spcPts val="0"/>
              </a:spcAft>
              <a:buClr>
                <a:schemeClr val="accent1"/>
              </a:buClr>
              <a:buSzPts val="1300"/>
              <a:buFont typeface="Lato"/>
              <a:buNone/>
            </a:pPr>
            <a:endParaRPr sz="1400" b="0" i="0" u="none" strike="noStrike" cap="none">
              <a:solidFill>
                <a:schemeClr val="accent1"/>
              </a:solidFill>
              <a:latin typeface="Cambria"/>
              <a:ea typeface="Cambria"/>
              <a:cs typeface="Cambria"/>
              <a:sym typeface="Cambria"/>
            </a:endParaRPr>
          </a:p>
        </p:txBody>
      </p:sp>
      <p:pic>
        <p:nvPicPr>
          <p:cNvPr id="187" name="Google Shape;187;p13"/>
          <p:cNvPicPr preferRelativeResize="0"/>
          <p:nvPr/>
        </p:nvPicPr>
        <p:blipFill rotWithShape="1">
          <a:blip r:embed="rId3">
            <a:alphaModFix/>
          </a:blip>
          <a:srcRect/>
          <a:stretch/>
        </p:blipFill>
        <p:spPr>
          <a:xfrm>
            <a:off x="4888089" y="2067631"/>
            <a:ext cx="3747617" cy="2802045"/>
          </a:xfrm>
          <a:prstGeom prst="rect">
            <a:avLst/>
          </a:prstGeom>
          <a:noFill/>
          <a:ln>
            <a:noFill/>
          </a:ln>
        </p:spPr>
      </p:pic>
      <p:sp>
        <p:nvSpPr>
          <p:cNvPr id="188" name="Google Shape;188;p13"/>
          <p:cNvSpPr txBox="1"/>
          <p:nvPr/>
        </p:nvSpPr>
        <p:spPr>
          <a:xfrm>
            <a:off x="553448" y="3556280"/>
            <a:ext cx="3725041" cy="1357210"/>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Se realizaron mediciones al tiempo de respuesta del sensor y se obtuvo un valor experimental de 1.08 m[s] próximo al valor indicado por la hoja de datos.</a:t>
            </a:r>
            <a:endParaRPr sz="1200" b="0" i="0" u="none" strike="noStrike" cap="none">
              <a:solidFill>
                <a:schemeClr val="dk2"/>
              </a:solidFill>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4"/>
          <p:cNvSpPr txBox="1"/>
          <p:nvPr/>
        </p:nvSpPr>
        <p:spPr>
          <a:xfrm>
            <a:off x="427611" y="-41032"/>
            <a:ext cx="4618521"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Sensor fotoeléctrico E3Z-LS61</a:t>
            </a:r>
            <a:endParaRPr sz="2400" b="1" i="0" u="none" strike="noStrike" cap="none">
              <a:solidFill>
                <a:srgbClr val="681900"/>
              </a:solidFill>
              <a:latin typeface="Raleway"/>
              <a:ea typeface="Raleway"/>
              <a:cs typeface="Raleway"/>
              <a:sym typeface="Raleway"/>
            </a:endParaRPr>
          </a:p>
        </p:txBody>
      </p:sp>
      <p:sp>
        <p:nvSpPr>
          <p:cNvPr id="194" name="Google Shape;194;p14"/>
          <p:cNvSpPr txBox="1">
            <a:spLocks noGrp="1"/>
          </p:cNvSpPr>
          <p:nvPr>
            <p:ph type="body" idx="1"/>
          </p:nvPr>
        </p:nvSpPr>
        <p:spPr>
          <a:xfrm>
            <a:off x="508294" y="1942922"/>
            <a:ext cx="3928241" cy="1584018"/>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12 – 24 VDC</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30 m[A] máximo</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Tiempo de respuesta: 1 m[s] máximo</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Luz emitida: </a:t>
            </a:r>
            <a:r>
              <a:rPr lang="es-419" sz="1400">
                <a:solidFill>
                  <a:schemeClr val="dk2"/>
                </a:solidFill>
                <a:latin typeface="Cambria"/>
                <a:ea typeface="Cambria"/>
                <a:cs typeface="Cambria"/>
                <a:sym typeface="Cambria"/>
              </a:rPr>
              <a:t>Roja de longitud de onda 680nm</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Rango de detección: 20 – 200 mm</a:t>
            </a:r>
            <a:endParaRPr/>
          </a:p>
          <a:p>
            <a:pPr marL="108000" lvl="0" indent="0" algn="l" rtl="0">
              <a:lnSpc>
                <a:spcPct val="100000"/>
              </a:lnSpc>
              <a:spcBef>
                <a:spcPts val="0"/>
              </a:spcBef>
              <a:spcAft>
                <a:spcPts val="0"/>
              </a:spcAft>
              <a:buSzPts val="1300"/>
              <a:buNone/>
            </a:pPr>
            <a:endParaRPr sz="1400">
              <a:latin typeface="Cambria"/>
              <a:ea typeface="Cambria"/>
              <a:cs typeface="Cambria"/>
              <a:sym typeface="Cambria"/>
            </a:endParaRPr>
          </a:p>
        </p:txBody>
      </p:sp>
      <p:sp>
        <p:nvSpPr>
          <p:cNvPr id="195" name="Google Shape;195;p14"/>
          <p:cNvSpPr txBox="1"/>
          <p:nvPr/>
        </p:nvSpPr>
        <p:spPr>
          <a:xfrm>
            <a:off x="530870" y="642241"/>
            <a:ext cx="8104836"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El sensor integra una fuente emisora de luz roja junto con un receptor para detectar los cambios en la luz reflejada por los objetos que se sobreponen al haz de luz que emite. El sensor posee dos pilotos de señalización para indicar su estado y la presencia de algún objeto en sus proximidades.</a:t>
            </a:r>
            <a:endParaRPr sz="1400" b="0" i="0" u="none" strike="noStrike" cap="none">
              <a:solidFill>
                <a:schemeClr val="accent1"/>
              </a:solidFill>
              <a:latin typeface="Cambria"/>
              <a:ea typeface="Cambria"/>
              <a:cs typeface="Cambria"/>
              <a:sym typeface="Cambria"/>
            </a:endParaRPr>
          </a:p>
        </p:txBody>
      </p:sp>
      <p:sp>
        <p:nvSpPr>
          <p:cNvPr id="196" name="Google Shape;196;p14"/>
          <p:cNvSpPr txBox="1"/>
          <p:nvPr/>
        </p:nvSpPr>
        <p:spPr>
          <a:xfrm>
            <a:off x="508294" y="3677777"/>
            <a:ext cx="3905663" cy="1196342"/>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La respuesta para el sensor registran un valor experimental de 980 us que es un valor próximo al indicado en su hoja de datos</a:t>
            </a:r>
            <a:endParaRPr sz="1600" b="0" i="0" u="none" strike="noStrike" cap="none">
              <a:solidFill>
                <a:schemeClr val="dk2"/>
              </a:solidFill>
              <a:latin typeface="Cambria"/>
              <a:ea typeface="Cambria"/>
              <a:cs typeface="Cambria"/>
              <a:sym typeface="Cambria"/>
            </a:endParaRPr>
          </a:p>
        </p:txBody>
      </p:sp>
      <p:pic>
        <p:nvPicPr>
          <p:cNvPr id="197" name="Google Shape;197;p14"/>
          <p:cNvPicPr preferRelativeResize="0"/>
          <p:nvPr/>
        </p:nvPicPr>
        <p:blipFill rotWithShape="1">
          <a:blip r:embed="rId3">
            <a:alphaModFix/>
          </a:blip>
          <a:srcRect/>
          <a:stretch/>
        </p:blipFill>
        <p:spPr>
          <a:xfrm>
            <a:off x="4730044" y="2152508"/>
            <a:ext cx="3694427" cy="26143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5"/>
          <p:cNvSpPr txBox="1"/>
          <p:nvPr/>
        </p:nvSpPr>
        <p:spPr>
          <a:xfrm>
            <a:off x="427611" y="-41032"/>
            <a:ext cx="4758985"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Sensor inductivo LM18-3008NA</a:t>
            </a:r>
            <a:endParaRPr sz="2400" b="1" i="0" u="none" strike="noStrike" cap="none">
              <a:solidFill>
                <a:srgbClr val="681900"/>
              </a:solidFill>
              <a:latin typeface="Raleway"/>
              <a:ea typeface="Raleway"/>
              <a:cs typeface="Raleway"/>
              <a:sym typeface="Raleway"/>
            </a:endParaRPr>
          </a:p>
        </p:txBody>
      </p:sp>
      <p:sp>
        <p:nvSpPr>
          <p:cNvPr id="203" name="Google Shape;203;p15"/>
          <p:cNvSpPr txBox="1">
            <a:spLocks noGrp="1"/>
          </p:cNvSpPr>
          <p:nvPr>
            <p:ph type="body" idx="1"/>
          </p:nvPr>
        </p:nvSpPr>
        <p:spPr>
          <a:xfrm>
            <a:off x="530870" y="2008866"/>
            <a:ext cx="3725041" cy="1357210"/>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15 -30 VDC</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Distancia mínima detección: 8mm</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Dimensiones: 30mm x 30mm x 70mm</a:t>
            </a:r>
            <a:endParaRPr sz="1400">
              <a:latin typeface="Cambria"/>
              <a:ea typeface="Cambria"/>
              <a:cs typeface="Cambria"/>
              <a:sym typeface="Cambria"/>
            </a:endParaRPr>
          </a:p>
        </p:txBody>
      </p:sp>
      <p:sp>
        <p:nvSpPr>
          <p:cNvPr id="204" name="Google Shape;204;p15"/>
          <p:cNvSpPr txBox="1"/>
          <p:nvPr/>
        </p:nvSpPr>
        <p:spPr>
          <a:xfrm>
            <a:off x="530870" y="614856"/>
            <a:ext cx="8104836"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También denominado sensor de proximidad debido a su capacidad de reacción frente a la presencia de objetos cercanos. Cuando se sitúa un objeto de metal cambia de nivel a una salida binaria poniéndola en 1 o 0 lógico para indicar la presencia de un objeto metálico</a:t>
            </a:r>
            <a:endParaRPr sz="1400" b="0" i="0" u="none" strike="noStrike" cap="none">
              <a:solidFill>
                <a:schemeClr val="accent1"/>
              </a:solidFill>
              <a:latin typeface="Cambria"/>
              <a:ea typeface="Cambria"/>
              <a:cs typeface="Cambria"/>
              <a:sym typeface="Cambria"/>
            </a:endParaRPr>
          </a:p>
        </p:txBody>
      </p:sp>
      <p:sp>
        <p:nvSpPr>
          <p:cNvPr id="205" name="Google Shape;205;p15"/>
          <p:cNvSpPr txBox="1"/>
          <p:nvPr/>
        </p:nvSpPr>
        <p:spPr>
          <a:xfrm>
            <a:off x="553448" y="3556280"/>
            <a:ext cx="3725041" cy="1357210"/>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Si bien no se encontró el tiempo de respuesta del sensor, si se lo pudo determinar experimentalmente obteniendo el valor de 960 us.</a:t>
            </a:r>
            <a:endParaRPr sz="1200" b="0" i="0" u="none" strike="noStrike" cap="none">
              <a:solidFill>
                <a:schemeClr val="dk2"/>
              </a:solidFill>
              <a:latin typeface="Cambria"/>
              <a:ea typeface="Cambria"/>
              <a:cs typeface="Cambria"/>
              <a:sym typeface="Cambria"/>
            </a:endParaRPr>
          </a:p>
        </p:txBody>
      </p:sp>
      <p:pic>
        <p:nvPicPr>
          <p:cNvPr id="206" name="Google Shape;206;p15"/>
          <p:cNvPicPr preferRelativeResize="0"/>
          <p:nvPr/>
        </p:nvPicPr>
        <p:blipFill rotWithShape="1">
          <a:blip r:embed="rId3">
            <a:alphaModFix/>
          </a:blip>
          <a:srcRect/>
          <a:stretch/>
        </p:blipFill>
        <p:spPr>
          <a:xfrm>
            <a:off x="4692952" y="2111445"/>
            <a:ext cx="3897600" cy="25954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6"/>
          <p:cNvSpPr txBox="1"/>
          <p:nvPr/>
        </p:nvSpPr>
        <p:spPr>
          <a:xfrm>
            <a:off x="427611" y="-41032"/>
            <a:ext cx="4758985"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Sensor fotoeléctrico E3X-NA11</a:t>
            </a:r>
            <a:endParaRPr sz="2400" b="1" i="0" u="none" strike="noStrike" cap="none">
              <a:solidFill>
                <a:srgbClr val="681900"/>
              </a:solidFill>
              <a:latin typeface="Raleway"/>
              <a:ea typeface="Raleway"/>
              <a:cs typeface="Raleway"/>
              <a:sym typeface="Raleway"/>
            </a:endParaRPr>
          </a:p>
        </p:txBody>
      </p:sp>
      <p:sp>
        <p:nvSpPr>
          <p:cNvPr id="212" name="Google Shape;212;p16"/>
          <p:cNvSpPr txBox="1">
            <a:spLocks noGrp="1"/>
          </p:cNvSpPr>
          <p:nvPr>
            <p:ph type="body" idx="1"/>
          </p:nvPr>
        </p:nvSpPr>
        <p:spPr>
          <a:xfrm>
            <a:off x="530870" y="1889832"/>
            <a:ext cx="3920179" cy="1573783"/>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12 – 24 VDC</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35 mA máximo</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Tiempo de respuesta: 200 us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Luz emitida: </a:t>
            </a:r>
            <a:r>
              <a:rPr lang="es-419" sz="1400">
                <a:solidFill>
                  <a:schemeClr val="dk2"/>
                </a:solidFill>
                <a:latin typeface="Cambria"/>
                <a:ea typeface="Cambria"/>
                <a:cs typeface="Cambria"/>
                <a:sym typeface="Cambria"/>
              </a:rPr>
              <a:t>Roja de longitud de onda 680 nm</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Rango de detección: hasta 200mm</a:t>
            </a:r>
            <a:endParaRPr/>
          </a:p>
        </p:txBody>
      </p:sp>
      <p:sp>
        <p:nvSpPr>
          <p:cNvPr id="213" name="Google Shape;213;p16"/>
          <p:cNvSpPr txBox="1"/>
          <p:nvPr/>
        </p:nvSpPr>
        <p:spPr>
          <a:xfrm>
            <a:off x="530870" y="614856"/>
            <a:ext cx="8104836"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Tiene el mismo principio de funcionamiento basado en la emisión de luz y la recepción del haz de luz reflejado por el objeto. Utiliza fibra óptica para el transporte de la luz desde el punto donde realiza la detección hasta el punto donde se encuentra el sensor.</a:t>
            </a:r>
            <a:endParaRPr sz="1400" b="0" i="0" u="none" strike="noStrike" cap="none">
              <a:solidFill>
                <a:schemeClr val="accent1"/>
              </a:solidFill>
              <a:latin typeface="Cambria"/>
              <a:ea typeface="Cambria"/>
              <a:cs typeface="Cambria"/>
              <a:sym typeface="Cambria"/>
            </a:endParaRPr>
          </a:p>
        </p:txBody>
      </p:sp>
      <p:sp>
        <p:nvSpPr>
          <p:cNvPr id="214" name="Google Shape;214;p16"/>
          <p:cNvSpPr txBox="1"/>
          <p:nvPr/>
        </p:nvSpPr>
        <p:spPr>
          <a:xfrm>
            <a:off x="530870" y="3584303"/>
            <a:ext cx="3920179" cy="1357210"/>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El tiempo de respuesta experimental supera en gran medida al de la hoja de datos pero al tener un valor de 990 us se encuentra en los rangos de otros sensores utilizados.</a:t>
            </a:r>
            <a:endParaRPr sz="1200" b="0" i="0" u="none" strike="noStrike" cap="none">
              <a:solidFill>
                <a:schemeClr val="dk2"/>
              </a:solidFill>
              <a:latin typeface="Cambria"/>
              <a:ea typeface="Cambria"/>
              <a:cs typeface="Cambria"/>
              <a:sym typeface="Cambria"/>
            </a:endParaRPr>
          </a:p>
        </p:txBody>
      </p:sp>
      <p:pic>
        <p:nvPicPr>
          <p:cNvPr id="215" name="Google Shape;215;p16"/>
          <p:cNvPicPr preferRelativeResize="0"/>
          <p:nvPr/>
        </p:nvPicPr>
        <p:blipFill rotWithShape="1">
          <a:blip r:embed="rId3">
            <a:alphaModFix/>
          </a:blip>
          <a:srcRect/>
          <a:stretch/>
        </p:blipFill>
        <p:spPr>
          <a:xfrm>
            <a:off x="4888090" y="2132951"/>
            <a:ext cx="3725039" cy="269388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7"/>
          <p:cNvSpPr txBox="1"/>
          <p:nvPr/>
        </p:nvSpPr>
        <p:spPr>
          <a:xfrm>
            <a:off x="427611" y="-41032"/>
            <a:ext cx="4758985"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Sensor fotoeléctrico MHT-15</a:t>
            </a:r>
            <a:endParaRPr sz="2400" b="1" i="0" u="none" strike="noStrike" cap="none">
              <a:solidFill>
                <a:srgbClr val="681900"/>
              </a:solidFill>
              <a:latin typeface="Raleway"/>
              <a:ea typeface="Raleway"/>
              <a:cs typeface="Raleway"/>
              <a:sym typeface="Raleway"/>
            </a:endParaRPr>
          </a:p>
        </p:txBody>
      </p:sp>
      <p:sp>
        <p:nvSpPr>
          <p:cNvPr id="221" name="Google Shape;221;p17"/>
          <p:cNvSpPr txBox="1">
            <a:spLocks noGrp="1"/>
          </p:cNvSpPr>
          <p:nvPr>
            <p:ph type="body" idx="1"/>
          </p:nvPr>
        </p:nvSpPr>
        <p:spPr>
          <a:xfrm>
            <a:off x="530870" y="1889832"/>
            <a:ext cx="3920179" cy="1573783"/>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10 – 30 VDC</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(circuito): 30 mA</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Tiempo de respuesta: &lt; 1.25 ms</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Luz emitida: Infrarroja de longitud de onda 950 nm</a:t>
            </a:r>
            <a:endParaRPr/>
          </a:p>
        </p:txBody>
      </p:sp>
      <p:sp>
        <p:nvSpPr>
          <p:cNvPr id="222" name="Google Shape;222;p17"/>
          <p:cNvSpPr txBox="1"/>
          <p:nvPr/>
        </p:nvSpPr>
        <p:spPr>
          <a:xfrm>
            <a:off x="530870" y="614856"/>
            <a:ext cx="8104836"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Comparte el principio de funcionamiento de los sensores fotoeléctricos que realizan la detección de objetos mediante la emisión y posterior recepción de haces de luz, en este caso luz infrarroja de mayor longitud de onda que la luz roja de los otros casos.</a:t>
            </a:r>
            <a:endParaRPr sz="1400" b="0" i="0" u="none" strike="noStrike" cap="none">
              <a:solidFill>
                <a:schemeClr val="accent1"/>
              </a:solidFill>
              <a:latin typeface="Cambria"/>
              <a:ea typeface="Cambria"/>
              <a:cs typeface="Cambria"/>
              <a:sym typeface="Cambria"/>
            </a:endParaRPr>
          </a:p>
        </p:txBody>
      </p:sp>
      <p:sp>
        <p:nvSpPr>
          <p:cNvPr id="223" name="Google Shape;223;p17"/>
          <p:cNvSpPr txBox="1"/>
          <p:nvPr/>
        </p:nvSpPr>
        <p:spPr>
          <a:xfrm>
            <a:off x="530870" y="3584304"/>
            <a:ext cx="3920179" cy="1092628"/>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El tiempo de respuesta se encuentra dentro de los rangos indicados en la hoja de datos y tiene un valor de 960 us, </a:t>
            </a:r>
            <a:endParaRPr sz="1200" b="0" i="0" u="none" strike="noStrike" cap="none">
              <a:solidFill>
                <a:schemeClr val="dk2"/>
              </a:solidFill>
              <a:latin typeface="Cambria"/>
              <a:ea typeface="Cambria"/>
              <a:cs typeface="Cambria"/>
              <a:sym typeface="Cambria"/>
            </a:endParaRPr>
          </a:p>
        </p:txBody>
      </p:sp>
      <p:pic>
        <p:nvPicPr>
          <p:cNvPr id="224" name="Google Shape;224;p17"/>
          <p:cNvPicPr preferRelativeResize="0"/>
          <p:nvPr/>
        </p:nvPicPr>
        <p:blipFill rotWithShape="1">
          <a:blip r:embed="rId3">
            <a:alphaModFix/>
          </a:blip>
          <a:srcRect/>
          <a:stretch/>
        </p:blipFill>
        <p:spPr>
          <a:xfrm>
            <a:off x="4967152" y="2184586"/>
            <a:ext cx="3487300" cy="249234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8"/>
          <p:cNvSpPr txBox="1"/>
          <p:nvPr/>
        </p:nvSpPr>
        <p:spPr>
          <a:xfrm>
            <a:off x="427611" y="-41032"/>
            <a:ext cx="4758985"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Sensor inductivo TL-08NK</a:t>
            </a:r>
            <a:endParaRPr sz="2400" b="1" i="0" u="none" strike="noStrike" cap="none">
              <a:solidFill>
                <a:srgbClr val="681900"/>
              </a:solidFill>
              <a:latin typeface="Raleway"/>
              <a:ea typeface="Raleway"/>
              <a:cs typeface="Raleway"/>
              <a:sym typeface="Raleway"/>
            </a:endParaRPr>
          </a:p>
        </p:txBody>
      </p:sp>
      <p:sp>
        <p:nvSpPr>
          <p:cNvPr id="230" name="Google Shape;230;p18"/>
          <p:cNvSpPr txBox="1">
            <a:spLocks noGrp="1"/>
          </p:cNvSpPr>
          <p:nvPr>
            <p:ph type="body" idx="1"/>
          </p:nvPr>
        </p:nvSpPr>
        <p:spPr>
          <a:xfrm>
            <a:off x="530870" y="1889832"/>
            <a:ext cx="3920179" cy="1573783"/>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10 – 30 VDC</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200 mA máximo</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Tiempo de respuesta: 2 ms</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Caída de voltaje: 1 V máximo</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Rango de detección: 5mm máximo</a:t>
            </a:r>
            <a:endParaRPr/>
          </a:p>
        </p:txBody>
      </p:sp>
      <p:sp>
        <p:nvSpPr>
          <p:cNvPr id="231" name="Google Shape;231;p18"/>
          <p:cNvSpPr txBox="1"/>
          <p:nvPr/>
        </p:nvSpPr>
        <p:spPr>
          <a:xfrm>
            <a:off x="530870" y="614856"/>
            <a:ext cx="6334625"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El sensor TL-08NK es utilizado como sensor de proximidad para la detección de objetos metálicos cercanos a su cara de detección de área cuadrada. Este sensor es una réplica de la línea de sensores rectangulares </a:t>
            </a:r>
            <a:endParaRPr sz="1400" b="0" i="0" u="none" strike="noStrike" cap="none">
              <a:solidFill>
                <a:schemeClr val="accent1"/>
              </a:solidFill>
              <a:latin typeface="Cambria"/>
              <a:ea typeface="Cambria"/>
              <a:cs typeface="Cambria"/>
              <a:sym typeface="Cambria"/>
            </a:endParaRPr>
          </a:p>
        </p:txBody>
      </p:sp>
      <p:sp>
        <p:nvSpPr>
          <p:cNvPr id="232" name="Google Shape;232;p18"/>
          <p:cNvSpPr txBox="1"/>
          <p:nvPr/>
        </p:nvSpPr>
        <p:spPr>
          <a:xfrm>
            <a:off x="530870" y="3584304"/>
            <a:ext cx="3920179" cy="1092628"/>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El tiempo de respuesta experimental tiene un valor de 990 us es similar al de sensores de fabricantes oficiales.</a:t>
            </a:r>
            <a:endParaRPr sz="1200" b="0" i="0" u="none" strike="noStrike" cap="none">
              <a:solidFill>
                <a:schemeClr val="dk2"/>
              </a:solidFill>
              <a:latin typeface="Cambria"/>
              <a:ea typeface="Cambria"/>
              <a:cs typeface="Cambria"/>
              <a:sym typeface="Cambria"/>
            </a:endParaRPr>
          </a:p>
        </p:txBody>
      </p:sp>
      <p:pic>
        <p:nvPicPr>
          <p:cNvPr id="233" name="Google Shape;233;p18"/>
          <p:cNvPicPr preferRelativeResize="0"/>
          <p:nvPr/>
        </p:nvPicPr>
        <p:blipFill rotWithShape="1">
          <a:blip r:embed="rId3">
            <a:alphaModFix/>
          </a:blip>
          <a:srcRect/>
          <a:stretch/>
        </p:blipFill>
        <p:spPr>
          <a:xfrm>
            <a:off x="7383353" y="529695"/>
            <a:ext cx="1362710" cy="1324610"/>
          </a:xfrm>
          <a:prstGeom prst="rect">
            <a:avLst/>
          </a:prstGeom>
          <a:noFill/>
          <a:ln>
            <a:noFill/>
          </a:ln>
        </p:spPr>
      </p:pic>
      <p:pic>
        <p:nvPicPr>
          <p:cNvPr id="234" name="Google Shape;234;p18"/>
          <p:cNvPicPr preferRelativeResize="0"/>
          <p:nvPr/>
        </p:nvPicPr>
        <p:blipFill rotWithShape="1">
          <a:blip r:embed="rId4">
            <a:alphaModFix/>
          </a:blip>
          <a:srcRect/>
          <a:stretch/>
        </p:blipFill>
        <p:spPr>
          <a:xfrm>
            <a:off x="4693984" y="1983466"/>
            <a:ext cx="3919145" cy="269346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9"/>
          <p:cNvSpPr txBox="1"/>
          <p:nvPr/>
        </p:nvSpPr>
        <p:spPr>
          <a:xfrm>
            <a:off x="427611" y="-41032"/>
            <a:ext cx="4758985"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Encoder incremental</a:t>
            </a:r>
            <a:endParaRPr sz="2400" b="1" i="0" u="none" strike="noStrike" cap="none">
              <a:solidFill>
                <a:srgbClr val="681900"/>
              </a:solidFill>
              <a:latin typeface="Raleway"/>
              <a:ea typeface="Raleway"/>
              <a:cs typeface="Raleway"/>
              <a:sym typeface="Raleway"/>
            </a:endParaRPr>
          </a:p>
        </p:txBody>
      </p:sp>
      <p:sp>
        <p:nvSpPr>
          <p:cNvPr id="240" name="Google Shape;240;p19"/>
          <p:cNvSpPr txBox="1">
            <a:spLocks noGrp="1"/>
          </p:cNvSpPr>
          <p:nvPr>
            <p:ph type="body" idx="1"/>
          </p:nvPr>
        </p:nvSpPr>
        <p:spPr>
          <a:xfrm>
            <a:off x="530870" y="1889833"/>
            <a:ext cx="3021799" cy="995602"/>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10 – 30 VDC</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Pulsos por revolución: 2500</a:t>
            </a:r>
            <a:endParaRPr/>
          </a:p>
        </p:txBody>
      </p:sp>
      <p:sp>
        <p:nvSpPr>
          <p:cNvPr id="241" name="Google Shape;241;p19"/>
          <p:cNvSpPr txBox="1"/>
          <p:nvPr/>
        </p:nvSpPr>
        <p:spPr>
          <a:xfrm>
            <a:off x="530870" y="614856"/>
            <a:ext cx="6529497"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El encoder incremental es un transductor numérico ya que permite traducir las características del movimiento del motor en señales eléctricas que son procesadas para obtener códigos digitales que reflejan dichas características</a:t>
            </a:r>
            <a:endParaRPr sz="1400" b="0" i="0" u="none" strike="noStrike" cap="none">
              <a:solidFill>
                <a:schemeClr val="accent1"/>
              </a:solidFill>
              <a:latin typeface="Cambria"/>
              <a:ea typeface="Cambria"/>
              <a:cs typeface="Cambria"/>
              <a:sym typeface="Cambria"/>
            </a:endParaRPr>
          </a:p>
        </p:txBody>
      </p:sp>
      <p:sp>
        <p:nvSpPr>
          <p:cNvPr id="242" name="Google Shape;242;p19"/>
          <p:cNvSpPr txBox="1"/>
          <p:nvPr/>
        </p:nvSpPr>
        <p:spPr>
          <a:xfrm>
            <a:off x="529838" y="3006123"/>
            <a:ext cx="3202713" cy="1865679"/>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Para el flanco ascendente de la señal se tiene una duración de 39.60 us entre la transición del nivel bajo al nivel alto. En el caso del flanco descendente se registró la misma duración.</a:t>
            </a:r>
            <a:endParaRPr sz="1200" b="0" i="0" u="none" strike="noStrike" cap="none">
              <a:solidFill>
                <a:schemeClr val="dk2"/>
              </a:solidFill>
              <a:latin typeface="Cambria"/>
              <a:ea typeface="Cambria"/>
              <a:cs typeface="Cambria"/>
              <a:sym typeface="Cambria"/>
            </a:endParaRPr>
          </a:p>
        </p:txBody>
      </p:sp>
      <p:pic>
        <p:nvPicPr>
          <p:cNvPr id="243" name="Google Shape;243;p19"/>
          <p:cNvPicPr preferRelativeResize="0"/>
          <p:nvPr/>
        </p:nvPicPr>
        <p:blipFill rotWithShape="1">
          <a:blip r:embed="rId3">
            <a:alphaModFix/>
          </a:blip>
          <a:srcRect/>
          <a:stretch/>
        </p:blipFill>
        <p:spPr>
          <a:xfrm>
            <a:off x="4619501" y="1146788"/>
            <a:ext cx="431269" cy="149526"/>
          </a:xfrm>
          <a:prstGeom prst="rect">
            <a:avLst/>
          </a:prstGeom>
          <a:noFill/>
          <a:ln>
            <a:noFill/>
          </a:ln>
        </p:spPr>
      </p:pic>
      <p:sp>
        <p:nvSpPr>
          <p:cNvPr id="244" name="Google Shape;244;p19"/>
          <p:cNvSpPr txBox="1"/>
          <p:nvPr/>
        </p:nvSpPr>
        <p:spPr>
          <a:xfrm>
            <a:off x="4269858" y="566229"/>
            <a:ext cx="1130490" cy="504045"/>
          </a:xfrm>
          <a:prstGeom prst="rect">
            <a:avLst/>
          </a:prstGeom>
          <a:solidFill>
            <a:srgbClr val="FFFFFF"/>
          </a:solid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None/>
            </a:pPr>
            <a:r>
              <a:rPr lang="es-419" sz="1100" b="0" i="0" u="none" strike="noStrike" cap="none">
                <a:solidFill>
                  <a:srgbClr val="000000"/>
                </a:solidFill>
                <a:highlight>
                  <a:srgbClr val="FFFFFF"/>
                </a:highlight>
                <a:latin typeface="Arial"/>
                <a:ea typeface="Arial"/>
                <a:cs typeface="Arial"/>
                <a:sym typeface="Arial"/>
              </a:rPr>
              <a:t>Receptor fotoeléctrico</a:t>
            </a:r>
            <a:endParaRPr sz="1100" b="0" i="0" u="none" strike="noStrike" cap="none">
              <a:solidFill>
                <a:srgbClr val="000000"/>
              </a:solidFill>
              <a:latin typeface="Arial"/>
              <a:ea typeface="Arial"/>
              <a:cs typeface="Arial"/>
              <a:sym typeface="Arial"/>
            </a:endParaRPr>
          </a:p>
        </p:txBody>
      </p:sp>
      <p:grpSp>
        <p:nvGrpSpPr>
          <p:cNvPr id="245" name="Google Shape;245;p19"/>
          <p:cNvGrpSpPr/>
          <p:nvPr/>
        </p:nvGrpSpPr>
        <p:grpSpPr>
          <a:xfrm>
            <a:off x="6978369" y="396146"/>
            <a:ext cx="2160967" cy="1991488"/>
            <a:chOff x="3328026" y="466568"/>
            <a:chExt cx="2430790" cy="2406652"/>
          </a:xfrm>
        </p:grpSpPr>
        <p:pic>
          <p:nvPicPr>
            <p:cNvPr id="246" name="Google Shape;246;p19"/>
            <p:cNvPicPr preferRelativeResize="0"/>
            <p:nvPr/>
          </p:nvPicPr>
          <p:blipFill rotWithShape="1">
            <a:blip r:embed="rId4">
              <a:alphaModFix/>
            </a:blip>
            <a:srcRect/>
            <a:stretch/>
          </p:blipFill>
          <p:spPr>
            <a:xfrm>
              <a:off x="3419507" y="466568"/>
              <a:ext cx="2339309" cy="2406652"/>
            </a:xfrm>
            <a:prstGeom prst="rect">
              <a:avLst/>
            </a:prstGeom>
            <a:noFill/>
            <a:ln>
              <a:noFill/>
            </a:ln>
          </p:spPr>
        </p:pic>
        <p:pic>
          <p:nvPicPr>
            <p:cNvPr id="247" name="Google Shape;247;p19"/>
            <p:cNvPicPr preferRelativeResize="0"/>
            <p:nvPr/>
          </p:nvPicPr>
          <p:blipFill rotWithShape="1">
            <a:blip r:embed="rId5">
              <a:alphaModFix/>
            </a:blip>
            <a:srcRect/>
            <a:stretch/>
          </p:blipFill>
          <p:spPr>
            <a:xfrm>
              <a:off x="4449607" y="1146788"/>
              <a:ext cx="601163" cy="818831"/>
            </a:xfrm>
            <a:prstGeom prst="rect">
              <a:avLst/>
            </a:prstGeom>
            <a:noFill/>
            <a:ln>
              <a:noFill/>
            </a:ln>
          </p:spPr>
        </p:pic>
        <p:sp>
          <p:nvSpPr>
            <p:cNvPr id="248" name="Google Shape;248;p19"/>
            <p:cNvSpPr txBox="1"/>
            <p:nvPr/>
          </p:nvSpPr>
          <p:spPr>
            <a:xfrm>
              <a:off x="3583717" y="608941"/>
              <a:ext cx="634094" cy="343427"/>
            </a:xfrm>
            <a:prstGeom prst="rect">
              <a:avLst/>
            </a:prstGeom>
            <a:solidFill>
              <a:srgbClr val="FFFFFF"/>
            </a:solid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None/>
              </a:pPr>
              <a:r>
                <a:rPr lang="es-419" sz="1100" b="0" i="0" u="none" strike="noStrike" cap="none">
                  <a:solidFill>
                    <a:srgbClr val="000000"/>
                  </a:solidFill>
                  <a:highlight>
                    <a:srgbClr val="FFFFFF"/>
                  </a:highlight>
                  <a:latin typeface="Arial"/>
                  <a:ea typeface="Arial"/>
                  <a:cs typeface="Arial"/>
                  <a:sym typeface="Arial"/>
                </a:rPr>
                <a:t>Disco</a:t>
              </a:r>
              <a:endParaRPr sz="1100" b="0" i="0" u="none" strike="noStrike" cap="none">
                <a:solidFill>
                  <a:srgbClr val="000000"/>
                </a:solidFill>
                <a:latin typeface="Arial"/>
                <a:ea typeface="Arial"/>
                <a:cs typeface="Arial"/>
                <a:sym typeface="Arial"/>
              </a:endParaRPr>
            </a:p>
          </p:txBody>
        </p:sp>
        <p:sp>
          <p:nvSpPr>
            <p:cNvPr id="249" name="Google Shape;249;p19"/>
            <p:cNvSpPr txBox="1"/>
            <p:nvPr/>
          </p:nvSpPr>
          <p:spPr>
            <a:xfrm>
              <a:off x="3328026" y="2274704"/>
              <a:ext cx="634094" cy="504045"/>
            </a:xfrm>
            <a:prstGeom prst="rect">
              <a:avLst/>
            </a:prstGeom>
            <a:solidFill>
              <a:srgbClr val="FFFFFF"/>
            </a:solid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None/>
              </a:pPr>
              <a:r>
                <a:rPr lang="es-419" sz="1100" b="0" i="0" u="none" strike="noStrike" cap="none">
                  <a:solidFill>
                    <a:srgbClr val="000000"/>
                  </a:solidFill>
                  <a:highlight>
                    <a:srgbClr val="FFFFFF"/>
                  </a:highlight>
                  <a:latin typeface="Arial"/>
                  <a:ea typeface="Arial"/>
                  <a:cs typeface="Arial"/>
                  <a:sym typeface="Arial"/>
                </a:rPr>
                <a:t>LED emisor</a:t>
              </a:r>
              <a:endParaRPr sz="1100" b="0" i="0" u="none" strike="noStrike" cap="none">
                <a:solidFill>
                  <a:srgbClr val="000000"/>
                </a:solidFill>
                <a:latin typeface="Arial"/>
                <a:ea typeface="Arial"/>
                <a:cs typeface="Arial"/>
                <a:sym typeface="Arial"/>
              </a:endParaRPr>
            </a:p>
          </p:txBody>
        </p:sp>
      </p:grpSp>
      <p:pic>
        <p:nvPicPr>
          <p:cNvPr id="250" name="Google Shape;250;p19"/>
          <p:cNvPicPr preferRelativeResize="0"/>
          <p:nvPr/>
        </p:nvPicPr>
        <p:blipFill rotWithShape="1">
          <a:blip r:embed="rId6">
            <a:alphaModFix/>
          </a:blip>
          <a:srcRect/>
          <a:stretch/>
        </p:blipFill>
        <p:spPr>
          <a:xfrm>
            <a:off x="3840184" y="1810104"/>
            <a:ext cx="2811780" cy="2123440"/>
          </a:xfrm>
          <a:prstGeom prst="rect">
            <a:avLst/>
          </a:prstGeom>
          <a:noFill/>
          <a:ln>
            <a:noFill/>
          </a:ln>
        </p:spPr>
      </p:pic>
      <p:pic>
        <p:nvPicPr>
          <p:cNvPr id="251" name="Google Shape;251;p19"/>
          <p:cNvPicPr preferRelativeResize="0"/>
          <p:nvPr/>
        </p:nvPicPr>
        <p:blipFill rotWithShape="1">
          <a:blip r:embed="rId7">
            <a:alphaModFix/>
          </a:blip>
          <a:srcRect/>
          <a:stretch/>
        </p:blipFill>
        <p:spPr>
          <a:xfrm>
            <a:off x="6199894" y="3051061"/>
            <a:ext cx="2769235" cy="21234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0"/>
          <p:cNvSpPr txBox="1"/>
          <p:nvPr/>
        </p:nvSpPr>
        <p:spPr>
          <a:xfrm>
            <a:off x="427611" y="-41032"/>
            <a:ext cx="4758985"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Sensor inductivo TL-08NK</a:t>
            </a:r>
            <a:endParaRPr sz="2400" b="1" i="0" u="none" strike="noStrike" cap="none">
              <a:solidFill>
                <a:srgbClr val="681900"/>
              </a:solidFill>
              <a:latin typeface="Raleway"/>
              <a:ea typeface="Raleway"/>
              <a:cs typeface="Raleway"/>
              <a:sym typeface="Raleway"/>
            </a:endParaRPr>
          </a:p>
        </p:txBody>
      </p:sp>
      <p:sp>
        <p:nvSpPr>
          <p:cNvPr id="257" name="Google Shape;257;p20"/>
          <p:cNvSpPr txBox="1">
            <a:spLocks noGrp="1"/>
          </p:cNvSpPr>
          <p:nvPr>
            <p:ph type="body" idx="1"/>
          </p:nvPr>
        </p:nvSpPr>
        <p:spPr>
          <a:xfrm>
            <a:off x="530870" y="1889832"/>
            <a:ext cx="4236002" cy="1573783"/>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(carga): 250 VDC máximo</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(carga): 0.6 A máximo</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Máxima frecuencia de operación: 600 conmutaciones por minuto</a:t>
            </a:r>
            <a:endParaRPr/>
          </a:p>
        </p:txBody>
      </p:sp>
      <p:sp>
        <p:nvSpPr>
          <p:cNvPr id="258" name="Google Shape;258;p20"/>
          <p:cNvSpPr txBox="1"/>
          <p:nvPr/>
        </p:nvSpPr>
        <p:spPr>
          <a:xfrm>
            <a:off x="530870" y="614856"/>
            <a:ext cx="6334625"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Los finales de carrera son interruptores pequeños adaptados con un mecanismo que permite la activación o desactivación según el contacto con piezas que se aproximan al elemento. </a:t>
            </a:r>
            <a:endParaRPr sz="1400" b="0" i="0" u="none" strike="noStrike" cap="none">
              <a:solidFill>
                <a:schemeClr val="accent1"/>
              </a:solidFill>
              <a:latin typeface="Cambria"/>
              <a:ea typeface="Cambria"/>
              <a:cs typeface="Cambria"/>
              <a:sym typeface="Cambria"/>
            </a:endParaRPr>
          </a:p>
        </p:txBody>
      </p:sp>
      <p:sp>
        <p:nvSpPr>
          <p:cNvPr id="259" name="Google Shape;259;p20"/>
          <p:cNvSpPr txBox="1"/>
          <p:nvPr/>
        </p:nvSpPr>
        <p:spPr>
          <a:xfrm>
            <a:off x="530870" y="3584303"/>
            <a:ext cx="4236002" cy="1452391"/>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De las mediciones realizadas en el laboratorio se obtuvo un tiempo de respuesta de 1 ms el cual se encuentra dentro del rango manejado por los demás sensores analizados</a:t>
            </a:r>
            <a:endParaRPr sz="1200" b="0" i="0" u="none" strike="noStrike" cap="none">
              <a:solidFill>
                <a:schemeClr val="dk2"/>
              </a:solidFill>
              <a:latin typeface="Cambria"/>
              <a:ea typeface="Cambria"/>
              <a:cs typeface="Cambria"/>
              <a:sym typeface="Cambria"/>
            </a:endParaRPr>
          </a:p>
        </p:txBody>
      </p:sp>
      <p:pic>
        <p:nvPicPr>
          <p:cNvPr id="260" name="Google Shape;260;p20"/>
          <p:cNvPicPr preferRelativeResize="0"/>
          <p:nvPr/>
        </p:nvPicPr>
        <p:blipFill rotWithShape="1">
          <a:blip r:embed="rId3">
            <a:alphaModFix/>
          </a:blip>
          <a:srcRect/>
          <a:stretch/>
        </p:blipFill>
        <p:spPr>
          <a:xfrm>
            <a:off x="7325984" y="502600"/>
            <a:ext cx="1287145" cy="1050925"/>
          </a:xfrm>
          <a:prstGeom prst="rect">
            <a:avLst/>
          </a:prstGeom>
          <a:noFill/>
          <a:ln>
            <a:noFill/>
          </a:ln>
        </p:spPr>
      </p:pic>
      <p:pic>
        <p:nvPicPr>
          <p:cNvPr id="261" name="Google Shape;261;p20"/>
          <p:cNvPicPr preferRelativeResize="0"/>
          <p:nvPr/>
        </p:nvPicPr>
        <p:blipFill rotWithShape="1">
          <a:blip r:embed="rId4">
            <a:alphaModFix/>
          </a:blip>
          <a:srcRect/>
          <a:stretch/>
        </p:blipFill>
        <p:spPr>
          <a:xfrm>
            <a:off x="5109858" y="2177564"/>
            <a:ext cx="3767298" cy="25721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1"/>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Tabla Resumen: Actuadores </a:t>
            </a:r>
            <a:endParaRPr/>
          </a:p>
        </p:txBody>
      </p:sp>
      <p:graphicFrame>
        <p:nvGraphicFramePr>
          <p:cNvPr id="267" name="Google Shape;267;p21"/>
          <p:cNvGraphicFramePr/>
          <p:nvPr/>
        </p:nvGraphicFramePr>
        <p:xfrm>
          <a:off x="427612" y="734011"/>
          <a:ext cx="3000000" cy="3000000"/>
        </p:xfrm>
        <a:graphic>
          <a:graphicData uri="http://schemas.openxmlformats.org/drawingml/2006/table">
            <a:tbl>
              <a:tblPr firstRow="1" bandRow="1">
                <a:noFill/>
                <a:tableStyleId>{3FF80745-7821-485C-8F53-118708D8D5D8}</a:tableStyleId>
              </a:tblPr>
              <a:tblGrid>
                <a:gridCol w="2165675">
                  <a:extLst>
                    <a:ext uri="{9D8B030D-6E8A-4147-A177-3AD203B41FA5}">
                      <a16:colId xmlns:a16="http://schemas.microsoft.com/office/drawing/2014/main" val="20000"/>
                    </a:ext>
                  </a:extLst>
                </a:gridCol>
                <a:gridCol w="1274175">
                  <a:extLst>
                    <a:ext uri="{9D8B030D-6E8A-4147-A177-3AD203B41FA5}">
                      <a16:colId xmlns:a16="http://schemas.microsoft.com/office/drawing/2014/main" val="20001"/>
                    </a:ext>
                  </a:extLst>
                </a:gridCol>
                <a:gridCol w="1334125">
                  <a:extLst>
                    <a:ext uri="{9D8B030D-6E8A-4147-A177-3AD203B41FA5}">
                      <a16:colId xmlns:a16="http://schemas.microsoft.com/office/drawing/2014/main" val="20002"/>
                    </a:ext>
                  </a:extLst>
                </a:gridCol>
                <a:gridCol w="1124250">
                  <a:extLst>
                    <a:ext uri="{9D8B030D-6E8A-4147-A177-3AD203B41FA5}">
                      <a16:colId xmlns:a16="http://schemas.microsoft.com/office/drawing/2014/main" val="20003"/>
                    </a:ext>
                  </a:extLst>
                </a:gridCol>
                <a:gridCol w="1349125">
                  <a:extLst>
                    <a:ext uri="{9D8B030D-6E8A-4147-A177-3AD203B41FA5}">
                      <a16:colId xmlns:a16="http://schemas.microsoft.com/office/drawing/2014/main" val="20004"/>
                    </a:ext>
                  </a:extLst>
                </a:gridCol>
                <a:gridCol w="1162575">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200"/>
                        <a:buFont typeface="Arial"/>
                        <a:buNone/>
                      </a:pPr>
                      <a:r>
                        <a:rPr lang="es-419" sz="1200" u="none" strike="noStrike" cap="none">
                          <a:solidFill>
                            <a:schemeClr val="lt1"/>
                          </a:solidFill>
                        </a:rPr>
                        <a:t>Sensor \ </a:t>
                      </a:r>
                      <a:r>
                        <a:rPr lang="es-419" sz="1200" b="1" u="none" strike="noStrike" cap="none">
                          <a:solidFill>
                            <a:schemeClr val="lt1"/>
                          </a:solidFill>
                          <a:latin typeface="Cambria"/>
                          <a:ea typeface="Cambria"/>
                          <a:cs typeface="Cambria"/>
                          <a:sym typeface="Cambria"/>
                        </a:rPr>
                        <a:t>Unidad </a:t>
                      </a:r>
                      <a:endParaRPr sz="12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s-419" sz="1300" b="1" u="none" strike="noStrike" cap="none">
                          <a:solidFill>
                            <a:schemeClr val="lt1"/>
                          </a:solidFill>
                          <a:latin typeface="Cambria"/>
                          <a:ea typeface="Cambria"/>
                          <a:cs typeface="Cambria"/>
                          <a:sym typeface="Cambria"/>
                        </a:rPr>
                        <a:t>Alimentación</a:t>
                      </a: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s-419" sz="1300" b="1" u="none" strike="noStrike" cap="none">
                          <a:solidFill>
                            <a:schemeClr val="lt1"/>
                          </a:solidFill>
                          <a:latin typeface="Cambria"/>
                          <a:ea typeface="Cambria"/>
                          <a:cs typeface="Cambria"/>
                          <a:sym typeface="Cambria"/>
                        </a:rPr>
                        <a:t>Procesamiento</a:t>
                      </a:r>
                      <a:endParaRPr sz="1300" b="1" u="none" strike="noStrike" cap="none">
                        <a:solidFill>
                          <a:schemeClr val="lt1"/>
                        </a:solidFill>
                        <a:latin typeface="Cambria"/>
                        <a:ea typeface="Cambria"/>
                        <a:cs typeface="Cambria"/>
                        <a:sym typeface="Cambria"/>
                      </a:endParaRPr>
                    </a:p>
                    <a:p>
                      <a:pPr marL="0" marR="0" lvl="0" indent="0" algn="ctr" rtl="0">
                        <a:lnSpc>
                          <a:spcPct val="100000"/>
                        </a:lnSpc>
                        <a:spcBef>
                          <a:spcPts val="0"/>
                        </a:spcBef>
                        <a:spcAft>
                          <a:spcPts val="0"/>
                        </a:spcAft>
                        <a:buNone/>
                      </a:pP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s-419" sz="1300" b="1" u="none" strike="noStrike" cap="none">
                          <a:solidFill>
                            <a:schemeClr val="lt1"/>
                          </a:solidFill>
                          <a:latin typeface="Cambria"/>
                          <a:ea typeface="Cambria"/>
                          <a:cs typeface="Cambria"/>
                          <a:sym typeface="Cambria"/>
                        </a:rPr>
                        <a:t>Ensamblaje</a:t>
                      </a:r>
                      <a:endParaRPr sz="1300" b="1" u="none" strike="noStrike" cap="none">
                        <a:solidFill>
                          <a:schemeClr val="lt1"/>
                        </a:solidFill>
                        <a:latin typeface="Cambria"/>
                        <a:ea typeface="Cambria"/>
                        <a:cs typeface="Cambria"/>
                        <a:sym typeface="Cambria"/>
                      </a:endParaRPr>
                    </a:p>
                    <a:p>
                      <a:pPr marL="0" marR="0" lvl="0" indent="0" algn="ctr" rtl="0">
                        <a:lnSpc>
                          <a:spcPct val="100000"/>
                        </a:lnSpc>
                        <a:spcBef>
                          <a:spcPts val="0"/>
                        </a:spcBef>
                        <a:spcAft>
                          <a:spcPts val="0"/>
                        </a:spcAft>
                        <a:buNone/>
                      </a:pP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s-419" sz="1300" b="1" u="none" strike="noStrike" cap="none">
                          <a:solidFill>
                            <a:schemeClr val="lt1"/>
                          </a:solidFill>
                          <a:latin typeface="Cambria"/>
                          <a:ea typeface="Cambria"/>
                          <a:cs typeface="Cambria"/>
                          <a:sym typeface="Cambria"/>
                        </a:rPr>
                        <a:t>Transporte</a:t>
                      </a:r>
                      <a:endParaRPr/>
                    </a:p>
                    <a:p>
                      <a:pPr marL="0" marR="0" lvl="0" indent="0" algn="ctr" rtl="0">
                        <a:lnSpc>
                          <a:spcPct val="100000"/>
                        </a:lnSpc>
                        <a:spcBef>
                          <a:spcPts val="0"/>
                        </a:spcBef>
                        <a:spcAft>
                          <a:spcPts val="0"/>
                        </a:spcAft>
                        <a:buNone/>
                      </a:pP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s-419" sz="1300" b="1" u="none" strike="noStrike" cap="none">
                          <a:solidFill>
                            <a:schemeClr val="lt1"/>
                          </a:solidFill>
                          <a:latin typeface="Cambria"/>
                          <a:ea typeface="Cambria"/>
                          <a:cs typeface="Cambria"/>
                          <a:sym typeface="Cambria"/>
                        </a:rPr>
                        <a:t>Selección</a:t>
                      </a:r>
                      <a:endParaRPr sz="1300" b="1" u="none" strike="noStrike" cap="none">
                        <a:solidFill>
                          <a:schemeClr val="lt1"/>
                        </a:solidFill>
                        <a:latin typeface="Cambria"/>
                        <a:ea typeface="Cambria"/>
                        <a:cs typeface="Cambria"/>
                        <a:sym typeface="Cambria"/>
                      </a:endParaRPr>
                    </a:p>
                    <a:p>
                      <a:pPr marL="0" marR="0" lvl="0" indent="0" algn="ctr" rtl="0">
                        <a:lnSpc>
                          <a:spcPct val="100000"/>
                        </a:lnSpc>
                        <a:spcBef>
                          <a:spcPts val="0"/>
                        </a:spcBef>
                        <a:spcAft>
                          <a:spcPts val="0"/>
                        </a:spcAft>
                        <a:buNone/>
                      </a:pP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s-419" sz="1400" u="none" strike="noStrike" cap="none">
                          <a:solidFill>
                            <a:schemeClr val="lt1"/>
                          </a:solidFill>
                          <a:latin typeface="Cambria"/>
                          <a:ea typeface="Cambria"/>
                          <a:cs typeface="Cambria"/>
                          <a:sym typeface="Cambria"/>
                        </a:rPr>
                        <a:t>Cilindro Tipo Pluma Neumático</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2</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3</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s-419" sz="1400" b="0" u="none" strike="noStrike" cap="none">
                          <a:solidFill>
                            <a:schemeClr val="dk2"/>
                          </a:solidFill>
                          <a:latin typeface="Cambria"/>
                          <a:ea typeface="Cambria"/>
                          <a:cs typeface="Cambria"/>
                          <a:sym typeface="Cambria"/>
                        </a:rPr>
                        <a:t>3</a:t>
                      </a:r>
                      <a:endParaRPr sz="1400" b="0" u="none" strike="noStrike" cap="none">
                        <a:solidFill>
                          <a:schemeClr val="dk2"/>
                        </a:solidFill>
                        <a:latin typeface="Cambria"/>
                        <a:ea typeface="Cambria"/>
                        <a:cs typeface="Cambria"/>
                        <a:sym typeface="Cambria"/>
                      </a:endParaRPr>
                    </a:p>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Cilindro Delgado Neumático</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Cilindro de Doble Vástago </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Cilindro Rotatorio Neumático</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Cilindro de Dedo Neumático</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Servo-Motor</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6"/>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Variador de Frecuencia</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2"/>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INVESTIGACIÓN:</a:t>
            </a:r>
            <a:br>
              <a:rPr lang="es-419"/>
            </a:br>
            <a:r>
              <a:rPr lang="es-419" sz="3600" b="0"/>
              <a:t>Librería para el control del Servomotor</a:t>
            </a:r>
            <a:endParaRPr b="0"/>
          </a:p>
        </p:txBody>
      </p:sp>
      <p:sp>
        <p:nvSpPr>
          <p:cNvPr id="273" name="Google Shape;273;p22"/>
          <p:cNvSpPr txBox="1">
            <a:spLocks noGrp="1"/>
          </p:cNvSpPr>
          <p:nvPr>
            <p:ph type="subTitle" idx="1"/>
          </p:nvPr>
        </p:nvSpPr>
        <p:spPr>
          <a:xfrm>
            <a:off x="729627" y="3172900"/>
            <a:ext cx="3123045" cy="541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78" name="Google Shape;278;p23"/>
          <p:cNvPicPr preferRelativeResize="0"/>
          <p:nvPr/>
        </p:nvPicPr>
        <p:blipFill rotWithShape="1">
          <a:blip r:embed="rId3">
            <a:alphaModFix/>
          </a:blip>
          <a:srcRect b="8418"/>
          <a:stretch/>
        </p:blipFill>
        <p:spPr>
          <a:xfrm>
            <a:off x="2319289" y="3667486"/>
            <a:ext cx="6140900" cy="1412515"/>
          </a:xfrm>
          <a:prstGeom prst="rect">
            <a:avLst/>
          </a:prstGeom>
          <a:noFill/>
          <a:ln>
            <a:noFill/>
          </a:ln>
        </p:spPr>
      </p:pic>
      <p:sp>
        <p:nvSpPr>
          <p:cNvPr id="279" name="Google Shape;279;p23"/>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Funcionamiento</a:t>
            </a:r>
            <a:endParaRPr/>
          </a:p>
        </p:txBody>
      </p:sp>
      <p:sp>
        <p:nvSpPr>
          <p:cNvPr id="280" name="Google Shape;280;p23"/>
          <p:cNvSpPr txBox="1">
            <a:spLocks noGrp="1"/>
          </p:cNvSpPr>
          <p:nvPr>
            <p:ph type="body" idx="1"/>
          </p:nvPr>
        </p:nvSpPr>
        <p:spPr>
          <a:xfrm>
            <a:off x="427612" y="639221"/>
            <a:ext cx="8327030" cy="1673586"/>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300"/>
              <a:buNone/>
            </a:pPr>
            <a:r>
              <a:rPr lang="es-419" sz="1600">
                <a:solidFill>
                  <a:srgbClr val="010101"/>
                </a:solidFill>
                <a:latin typeface="Cambria"/>
                <a:ea typeface="Cambria"/>
                <a:cs typeface="Cambria"/>
                <a:sym typeface="Cambria"/>
              </a:rPr>
              <a:t>El proceso de posicionamiento se implementa utilizando la salida de tren de pulsos del PLC S7-200 </a:t>
            </a:r>
            <a:r>
              <a:rPr lang="es-419" sz="1600">
                <a:solidFill>
                  <a:srgbClr val="17141C"/>
                </a:solidFill>
                <a:latin typeface="Cambria"/>
                <a:ea typeface="Cambria"/>
                <a:cs typeface="Cambria"/>
                <a:sym typeface="Cambria"/>
              </a:rPr>
              <a:t>. </a:t>
            </a:r>
            <a:endParaRPr/>
          </a:p>
          <a:p>
            <a:pPr marL="361950" lvl="0" indent="-196850" algn="just" rtl="0">
              <a:lnSpc>
                <a:spcPct val="100000"/>
              </a:lnSpc>
              <a:spcBef>
                <a:spcPts val="0"/>
              </a:spcBef>
              <a:spcAft>
                <a:spcPts val="0"/>
              </a:spcAft>
              <a:buSzPts val="1300"/>
              <a:buChar char="●"/>
            </a:pPr>
            <a:r>
              <a:rPr lang="es-419" sz="1600">
                <a:solidFill>
                  <a:srgbClr val="010101"/>
                </a:solidFill>
                <a:latin typeface="Cambria"/>
                <a:ea typeface="Cambria"/>
                <a:cs typeface="Cambria"/>
                <a:sym typeface="Cambria"/>
              </a:rPr>
              <a:t>La CPU envía un tren de pulsos (PTO) y la información direccional (sentido de giro) a un servo-drive</a:t>
            </a:r>
            <a:r>
              <a:rPr lang="es-419" sz="1600">
                <a:solidFill>
                  <a:srgbClr val="312F33"/>
                </a:solidFill>
                <a:latin typeface="Cambria"/>
                <a:ea typeface="Cambria"/>
                <a:cs typeface="Cambria"/>
                <a:sym typeface="Cambria"/>
              </a:rPr>
              <a:t>.  </a:t>
            </a:r>
            <a:endParaRPr/>
          </a:p>
          <a:p>
            <a:pPr marL="361950" lvl="0" indent="-196850" algn="just" rtl="0">
              <a:lnSpc>
                <a:spcPct val="100000"/>
              </a:lnSpc>
              <a:spcBef>
                <a:spcPts val="0"/>
              </a:spcBef>
              <a:spcAft>
                <a:spcPts val="0"/>
              </a:spcAft>
              <a:buSzPts val="1300"/>
              <a:buChar char="●"/>
            </a:pPr>
            <a:r>
              <a:rPr lang="es-419" sz="1600">
                <a:solidFill>
                  <a:srgbClr val="010101"/>
                </a:solidFill>
                <a:latin typeface="Cambria"/>
                <a:ea typeface="Cambria"/>
                <a:cs typeface="Cambria"/>
                <a:sym typeface="Cambria"/>
              </a:rPr>
              <a:t>El servo-drive convierte la señal en la tensión trifásica en función de la frecuencia (proporcional a la velocidad) y alimenta el servomotor</a:t>
            </a:r>
            <a:r>
              <a:rPr lang="es-419" sz="1600">
                <a:solidFill>
                  <a:srgbClr val="17141C"/>
                </a:solidFill>
                <a:latin typeface="Cambria"/>
                <a:ea typeface="Cambria"/>
                <a:cs typeface="Cambria"/>
                <a:sym typeface="Cambria"/>
              </a:rPr>
              <a:t>. </a:t>
            </a:r>
            <a:endParaRPr/>
          </a:p>
          <a:p>
            <a:pPr marL="361950" lvl="0" indent="-196850" algn="just" rtl="0">
              <a:lnSpc>
                <a:spcPct val="100000"/>
              </a:lnSpc>
              <a:spcBef>
                <a:spcPts val="0"/>
              </a:spcBef>
              <a:spcAft>
                <a:spcPts val="0"/>
              </a:spcAft>
              <a:buSzPts val="1300"/>
              <a:buChar char="●"/>
            </a:pPr>
            <a:r>
              <a:rPr lang="es-419" sz="1600">
                <a:solidFill>
                  <a:srgbClr val="010101"/>
                </a:solidFill>
                <a:latin typeface="Cambria"/>
                <a:ea typeface="Cambria"/>
                <a:cs typeface="Cambria"/>
                <a:sym typeface="Cambria"/>
              </a:rPr>
              <a:t>El servomotor devuelve el valor de posición actual para el control de velocidad al servo-drive.</a:t>
            </a:r>
            <a:endParaRPr sz="1600">
              <a:latin typeface="Cambria"/>
              <a:ea typeface="Cambria"/>
              <a:cs typeface="Cambria"/>
              <a:sym typeface="Cambria"/>
            </a:endParaRPr>
          </a:p>
        </p:txBody>
      </p:sp>
      <p:pic>
        <p:nvPicPr>
          <p:cNvPr id="281" name="Google Shape;281;p23"/>
          <p:cNvPicPr preferRelativeResize="0"/>
          <p:nvPr/>
        </p:nvPicPr>
        <p:blipFill rotWithShape="1">
          <a:blip r:embed="rId4">
            <a:alphaModFix/>
          </a:blip>
          <a:srcRect l="8417" t="9466" r="3867" b="10972"/>
          <a:stretch/>
        </p:blipFill>
        <p:spPr>
          <a:xfrm>
            <a:off x="402934" y="2457860"/>
            <a:ext cx="4986805" cy="110950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pic>
        <p:nvPicPr>
          <p:cNvPr id="286" name="Google Shape;286;p24"/>
          <p:cNvPicPr preferRelativeResize="0"/>
          <p:nvPr/>
        </p:nvPicPr>
        <p:blipFill rotWithShape="1">
          <a:blip r:embed="rId3">
            <a:alphaModFix/>
          </a:blip>
          <a:srcRect l="7102" t="5958" r="55259" b="5151"/>
          <a:stretch/>
        </p:blipFill>
        <p:spPr>
          <a:xfrm>
            <a:off x="6818397" y="2372507"/>
            <a:ext cx="1536838" cy="1592796"/>
          </a:xfrm>
          <a:prstGeom prst="rect">
            <a:avLst/>
          </a:prstGeom>
          <a:noFill/>
          <a:ln>
            <a:noFill/>
          </a:ln>
        </p:spPr>
      </p:pic>
      <p:sp>
        <p:nvSpPr>
          <p:cNvPr id="287" name="Google Shape;287;p24"/>
          <p:cNvSpPr txBox="1"/>
          <p:nvPr/>
        </p:nvSpPr>
        <p:spPr>
          <a:xfrm>
            <a:off x="621533" y="2399728"/>
            <a:ext cx="5542200" cy="2373984"/>
          </a:xfrm>
          <a:prstGeom prst="rect">
            <a:avLst/>
          </a:prstGeom>
          <a:blipFill rotWithShape="1">
            <a:blip r:embed="rId4">
              <a:alphaModFix/>
            </a:blip>
            <a:stretch>
              <a:fillRect t="-253" r="-546" b="-1014"/>
            </a:stretch>
          </a:blipFill>
          <a:ln w="28575" cap="flat" cmpd="sng">
            <a:solidFill>
              <a:srgbClr val="13726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s-419" sz="1400" b="0" i="0" u="none" strike="noStrike" cap="none">
                <a:latin typeface="Arial"/>
                <a:ea typeface="Arial"/>
                <a:cs typeface="Arial"/>
                <a:sym typeface="Arial"/>
              </a:rPr>
              <a:t> </a:t>
            </a:r>
            <a:endParaRPr/>
          </a:p>
        </p:txBody>
      </p:sp>
      <p:pic>
        <p:nvPicPr>
          <p:cNvPr id="288" name="Google Shape;288;p24"/>
          <p:cNvPicPr preferRelativeResize="0"/>
          <p:nvPr/>
        </p:nvPicPr>
        <p:blipFill rotWithShape="1">
          <a:blip r:embed="rId5">
            <a:alphaModFix/>
          </a:blip>
          <a:srcRect/>
          <a:stretch/>
        </p:blipFill>
        <p:spPr>
          <a:xfrm>
            <a:off x="621533" y="630081"/>
            <a:ext cx="4286346" cy="1486978"/>
          </a:xfrm>
          <a:prstGeom prst="rect">
            <a:avLst/>
          </a:prstGeom>
          <a:noFill/>
          <a:ln>
            <a:noFill/>
          </a:ln>
        </p:spPr>
      </p:pic>
      <p:sp>
        <p:nvSpPr>
          <p:cNvPr id="289" name="Google Shape;289;p24"/>
          <p:cNvSpPr txBox="1">
            <a:spLocks noGrp="1"/>
          </p:cNvSpPr>
          <p:nvPr>
            <p:ph type="body" idx="1"/>
          </p:nvPr>
        </p:nvSpPr>
        <p:spPr>
          <a:xfrm>
            <a:off x="5254870" y="874399"/>
            <a:ext cx="3461518" cy="801511"/>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90488" lvl="0" indent="0" algn="just" rtl="0">
              <a:lnSpc>
                <a:spcPct val="90000"/>
              </a:lnSpc>
              <a:spcBef>
                <a:spcPts val="0"/>
              </a:spcBef>
              <a:spcAft>
                <a:spcPts val="0"/>
              </a:spcAft>
              <a:buSzPts val="1300"/>
              <a:buNone/>
            </a:pPr>
            <a:r>
              <a:rPr lang="es-419" sz="1600">
                <a:solidFill>
                  <a:srgbClr val="010101"/>
                </a:solidFill>
                <a:latin typeface="Cambria"/>
                <a:ea typeface="Cambria"/>
                <a:cs typeface="Cambria"/>
                <a:sym typeface="Cambria"/>
              </a:rPr>
              <a:t>El objetivo es mover un objeto del punto A al punto B, mediante el uso de un husillo (tornillo sin fin) de motor.</a:t>
            </a:r>
            <a:endParaRPr/>
          </a:p>
        </p:txBody>
      </p:sp>
      <p:sp>
        <p:nvSpPr>
          <p:cNvPr id="290" name="Google Shape;290;p24"/>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Funcionamiento</a:t>
            </a:r>
            <a:endParaRPr/>
          </a:p>
        </p:txBody>
      </p:sp>
      <p:pic>
        <p:nvPicPr>
          <p:cNvPr id="291" name="Google Shape;291;p24"/>
          <p:cNvPicPr preferRelativeResize="0"/>
          <p:nvPr/>
        </p:nvPicPr>
        <p:blipFill rotWithShape="1">
          <a:blip r:embed="rId3">
            <a:alphaModFix/>
          </a:blip>
          <a:srcRect l="52260" t="39377" r="5945" b="23143"/>
          <a:stretch/>
        </p:blipFill>
        <p:spPr>
          <a:xfrm>
            <a:off x="6457244" y="3992524"/>
            <a:ext cx="2259144" cy="84682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5"/>
          <p:cNvSpPr txBox="1"/>
          <p:nvPr/>
        </p:nvSpPr>
        <p:spPr>
          <a:xfrm>
            <a:off x="580695" y="-41032"/>
            <a:ext cx="8269794"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000" b="1" i="0" u="none" strike="noStrike" cap="none">
                <a:solidFill>
                  <a:srgbClr val="681900"/>
                </a:solidFill>
                <a:latin typeface="Raleway"/>
                <a:ea typeface="Raleway"/>
                <a:cs typeface="Raleway"/>
                <a:sym typeface="Raleway"/>
              </a:rPr>
              <a:t>Configuraciones</a:t>
            </a:r>
            <a:endParaRPr sz="2000" b="1" i="0" u="none" strike="noStrike" cap="none">
              <a:solidFill>
                <a:srgbClr val="681800"/>
              </a:solidFill>
              <a:latin typeface="Raleway"/>
              <a:ea typeface="Raleway"/>
              <a:cs typeface="Raleway"/>
              <a:sym typeface="Raleway"/>
            </a:endParaRPr>
          </a:p>
        </p:txBody>
      </p:sp>
      <p:grpSp>
        <p:nvGrpSpPr>
          <p:cNvPr id="297" name="Google Shape;297;p25"/>
          <p:cNvGrpSpPr/>
          <p:nvPr/>
        </p:nvGrpSpPr>
        <p:grpSpPr>
          <a:xfrm>
            <a:off x="1648178" y="701987"/>
            <a:ext cx="5441243" cy="1668679"/>
            <a:chOff x="4064000" y="1377244"/>
            <a:chExt cx="4436534" cy="1614312"/>
          </a:xfrm>
        </p:grpSpPr>
        <p:pic>
          <p:nvPicPr>
            <p:cNvPr id="298" name="Google Shape;298;p25"/>
            <p:cNvPicPr preferRelativeResize="0"/>
            <p:nvPr/>
          </p:nvPicPr>
          <p:blipFill rotWithShape="1">
            <a:blip r:embed="rId3">
              <a:alphaModFix/>
            </a:blip>
            <a:srcRect l="1466" t="34870" r="6382" b="-1"/>
            <a:stretch/>
          </p:blipFill>
          <p:spPr>
            <a:xfrm>
              <a:off x="4064000" y="1377244"/>
              <a:ext cx="4436534" cy="1614312"/>
            </a:xfrm>
            <a:prstGeom prst="rect">
              <a:avLst/>
            </a:prstGeom>
            <a:noFill/>
            <a:ln>
              <a:noFill/>
            </a:ln>
          </p:spPr>
        </p:pic>
        <p:sp>
          <p:nvSpPr>
            <p:cNvPr id="299" name="Google Shape;299;p25"/>
            <p:cNvSpPr txBox="1"/>
            <p:nvPr/>
          </p:nvSpPr>
          <p:spPr>
            <a:xfrm>
              <a:off x="6005338" y="1627057"/>
              <a:ext cx="742511"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419" sz="1400" b="1" i="0" u="none" strike="noStrike" cap="none">
                  <a:solidFill>
                    <a:srgbClr val="000000"/>
                  </a:solidFill>
                  <a:latin typeface="Arial"/>
                  <a:ea typeface="Arial"/>
                  <a:cs typeface="Arial"/>
                  <a:sym typeface="Arial"/>
                </a:rPr>
                <a:t>C_Pos</a:t>
              </a:r>
              <a:endParaRPr sz="1400" b="1" i="0" u="none" strike="noStrike" cap="none">
                <a:solidFill>
                  <a:srgbClr val="000000"/>
                </a:solidFill>
                <a:latin typeface="Arial"/>
                <a:ea typeface="Arial"/>
                <a:cs typeface="Arial"/>
                <a:sym typeface="Arial"/>
              </a:endParaRPr>
            </a:p>
          </p:txBody>
        </p:sp>
      </p:grpSp>
      <p:sp>
        <p:nvSpPr>
          <p:cNvPr id="300" name="Google Shape;300;p25"/>
          <p:cNvSpPr txBox="1">
            <a:spLocks noGrp="1"/>
          </p:cNvSpPr>
          <p:nvPr>
            <p:ph type="body" idx="1"/>
          </p:nvPr>
        </p:nvSpPr>
        <p:spPr>
          <a:xfrm>
            <a:off x="580695" y="2380684"/>
            <a:ext cx="8128000" cy="2665449"/>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46050" lvl="0" indent="0" algn="just" rtl="0">
              <a:lnSpc>
                <a:spcPct val="100000"/>
              </a:lnSpc>
              <a:spcBef>
                <a:spcPts val="0"/>
              </a:spcBef>
              <a:spcAft>
                <a:spcPts val="0"/>
              </a:spcAft>
              <a:buSzPts val="1300"/>
              <a:buNone/>
            </a:pPr>
            <a:r>
              <a:rPr lang="es-419" sz="1800">
                <a:solidFill>
                  <a:schemeClr val="dk2"/>
                </a:solidFill>
                <a:latin typeface="Cambria"/>
                <a:ea typeface="Cambria"/>
                <a:cs typeface="Cambria"/>
                <a:sym typeface="Cambria"/>
              </a:rPr>
              <a:t>Para utilizar mejor los bloques de posicionamiento, se requieren tres interruptores de límite a lo largo del husillo:</a:t>
            </a:r>
            <a:endParaRPr/>
          </a:p>
          <a:p>
            <a:pPr marL="376238" lvl="0" indent="-285750" algn="just" rtl="0">
              <a:lnSpc>
                <a:spcPct val="100000"/>
              </a:lnSpc>
              <a:spcBef>
                <a:spcPts val="0"/>
              </a:spcBef>
              <a:spcAft>
                <a:spcPts val="0"/>
              </a:spcAft>
              <a:buSzPts val="1300"/>
              <a:buChar char="●"/>
            </a:pPr>
            <a:r>
              <a:rPr lang="es-419" sz="1800">
                <a:solidFill>
                  <a:schemeClr val="dk2"/>
                </a:solidFill>
                <a:latin typeface="Cambria"/>
                <a:ea typeface="Cambria"/>
                <a:cs typeface="Cambria"/>
                <a:sym typeface="Cambria"/>
              </a:rPr>
              <a:t>Un interruptor de punto de referencia (inicio) para el punto cero de la escala de pulsos C_Pos.</a:t>
            </a:r>
            <a:endParaRPr/>
          </a:p>
          <a:p>
            <a:pPr marL="376238" lvl="0" indent="-285750" algn="l" rtl="0">
              <a:lnSpc>
                <a:spcPct val="100000"/>
              </a:lnSpc>
              <a:spcBef>
                <a:spcPts val="0"/>
              </a:spcBef>
              <a:spcAft>
                <a:spcPts val="0"/>
              </a:spcAft>
              <a:buSzPts val="1300"/>
              <a:buChar char="●"/>
            </a:pPr>
            <a:r>
              <a:rPr lang="es-419" sz="1800">
                <a:solidFill>
                  <a:schemeClr val="dk2"/>
                </a:solidFill>
                <a:latin typeface="Cambria"/>
                <a:ea typeface="Cambria"/>
                <a:cs typeface="Cambria"/>
                <a:sym typeface="Cambria"/>
              </a:rPr>
              <a:t>Un interruptor de límite en el sentido positivo (Fwd_Limit) y uno en sentido negativo (Rev_Limit)</a:t>
            </a:r>
            <a:endParaRPr/>
          </a:p>
          <a:p>
            <a:pPr marL="376238" lvl="0" indent="-285750" algn="just" rtl="0">
              <a:lnSpc>
                <a:spcPct val="100000"/>
              </a:lnSpc>
              <a:spcBef>
                <a:spcPts val="0"/>
              </a:spcBef>
              <a:spcAft>
                <a:spcPts val="0"/>
              </a:spcAft>
              <a:buSzPts val="1300"/>
              <a:buChar char="●"/>
            </a:pPr>
            <a:r>
              <a:rPr lang="es-419" sz="1800">
                <a:solidFill>
                  <a:schemeClr val="dk2"/>
                </a:solidFill>
                <a:latin typeface="Cambria"/>
                <a:ea typeface="Cambria"/>
                <a:cs typeface="Cambria"/>
                <a:sym typeface="Cambria"/>
              </a:rPr>
              <a:t>El valor del contador de pulsos C_Pos pertenece al tipo de datos DINT (32 bits)</a:t>
            </a:r>
            <a:endParaRPr/>
          </a:p>
          <a:p>
            <a:pPr marL="376238" lvl="0" indent="-285750" algn="just" rtl="0">
              <a:lnSpc>
                <a:spcPct val="100000"/>
              </a:lnSpc>
              <a:spcBef>
                <a:spcPts val="0"/>
              </a:spcBef>
              <a:spcAft>
                <a:spcPts val="0"/>
              </a:spcAft>
              <a:buSzPts val="1300"/>
              <a:buChar char="●"/>
            </a:pPr>
            <a:r>
              <a:rPr lang="es-419" sz="1800">
                <a:solidFill>
                  <a:schemeClr val="dk2"/>
                </a:solidFill>
                <a:latin typeface="Cambria"/>
                <a:ea typeface="Cambria"/>
                <a:cs typeface="Cambria"/>
                <a:sym typeface="Cambria"/>
              </a:rPr>
              <a:t>Los interruptores de final de carrera deben disponerse de modo que todavía haya suficiente espacio la desaceleración.</a:t>
            </a:r>
            <a:endParaRPr/>
          </a:p>
          <a:p>
            <a:pPr marL="376238" lvl="0" indent="-203200" algn="l" rtl="0">
              <a:lnSpc>
                <a:spcPct val="100000"/>
              </a:lnSpc>
              <a:spcBef>
                <a:spcPts val="0"/>
              </a:spcBef>
              <a:spcAft>
                <a:spcPts val="0"/>
              </a:spcAft>
              <a:buSzPts val="1300"/>
              <a:buNone/>
            </a:pPr>
            <a:endParaRPr sz="1800">
              <a:solidFill>
                <a:schemeClr val="dk2"/>
              </a:solidFill>
              <a:latin typeface="Cambria"/>
              <a:ea typeface="Cambria"/>
              <a:cs typeface="Cambria"/>
              <a:sym typeface="Cambria"/>
            </a:endParaRPr>
          </a:p>
          <a:p>
            <a:pPr marL="146050" lvl="0" indent="0" algn="l" rtl="0">
              <a:lnSpc>
                <a:spcPct val="100000"/>
              </a:lnSpc>
              <a:spcBef>
                <a:spcPts val="0"/>
              </a:spcBef>
              <a:spcAft>
                <a:spcPts val="0"/>
              </a:spcAft>
              <a:buSzPts val="1300"/>
              <a:buNone/>
            </a:pPr>
            <a:endParaRPr sz="1600">
              <a:solidFill>
                <a:schemeClr val="dk2"/>
              </a:solidFill>
              <a:latin typeface="Cambria"/>
              <a:ea typeface="Cambria"/>
              <a:cs typeface="Cambria"/>
              <a:sym typeface="Cambri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6"/>
          <p:cNvSpPr txBox="1"/>
          <p:nvPr/>
        </p:nvSpPr>
        <p:spPr>
          <a:xfrm>
            <a:off x="580695" y="-41032"/>
            <a:ext cx="8269794"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000" b="1" i="0" u="none" strike="noStrike" cap="none">
                <a:solidFill>
                  <a:srgbClr val="681900"/>
                </a:solidFill>
                <a:latin typeface="Raleway"/>
                <a:ea typeface="Raleway"/>
                <a:cs typeface="Raleway"/>
                <a:sym typeface="Raleway"/>
              </a:rPr>
              <a:t>Biblioteca “MAP SERV Q0._”</a:t>
            </a:r>
            <a:endParaRPr sz="2400" b="1" i="0" u="none" strike="noStrike" cap="none">
              <a:solidFill>
                <a:srgbClr val="681900"/>
              </a:solidFill>
              <a:latin typeface="Raleway"/>
              <a:ea typeface="Raleway"/>
              <a:cs typeface="Raleway"/>
              <a:sym typeface="Raleway"/>
            </a:endParaRPr>
          </a:p>
        </p:txBody>
      </p:sp>
      <p:pic>
        <p:nvPicPr>
          <p:cNvPr id="306" name="Google Shape;306;p26"/>
          <p:cNvPicPr preferRelativeResize="0"/>
          <p:nvPr/>
        </p:nvPicPr>
        <p:blipFill rotWithShape="1">
          <a:blip r:embed="rId3">
            <a:alphaModFix/>
          </a:blip>
          <a:srcRect b="47176"/>
          <a:stretch/>
        </p:blipFill>
        <p:spPr>
          <a:xfrm>
            <a:off x="4389403" y="684422"/>
            <a:ext cx="1986703" cy="1986812"/>
          </a:xfrm>
          <a:prstGeom prst="rect">
            <a:avLst/>
          </a:prstGeom>
          <a:noFill/>
          <a:ln>
            <a:noFill/>
          </a:ln>
        </p:spPr>
      </p:pic>
      <p:pic>
        <p:nvPicPr>
          <p:cNvPr id="307" name="Google Shape;307;p26"/>
          <p:cNvPicPr preferRelativeResize="0"/>
          <p:nvPr/>
        </p:nvPicPr>
        <p:blipFill rotWithShape="1">
          <a:blip r:embed="rId3">
            <a:alphaModFix/>
          </a:blip>
          <a:srcRect t="52234"/>
          <a:stretch/>
        </p:blipFill>
        <p:spPr>
          <a:xfrm>
            <a:off x="6467616" y="877334"/>
            <a:ext cx="1986703" cy="1795900"/>
          </a:xfrm>
          <a:prstGeom prst="rect">
            <a:avLst/>
          </a:prstGeom>
          <a:noFill/>
          <a:ln>
            <a:noFill/>
          </a:ln>
        </p:spPr>
      </p:pic>
      <p:sp>
        <p:nvSpPr>
          <p:cNvPr id="308" name="Google Shape;308;p26"/>
          <p:cNvSpPr txBox="1"/>
          <p:nvPr/>
        </p:nvSpPr>
        <p:spPr>
          <a:xfrm>
            <a:off x="580695" y="1106196"/>
            <a:ext cx="3460727" cy="1199822"/>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0000"/>
              </a:lnSpc>
              <a:spcBef>
                <a:spcPts val="0"/>
              </a:spcBef>
              <a:spcAft>
                <a:spcPts val="0"/>
              </a:spcAft>
              <a:buClr>
                <a:schemeClr val="accent1"/>
              </a:buClr>
              <a:buSzPts val="1300"/>
              <a:buFont typeface="Lato"/>
              <a:buNone/>
            </a:pPr>
            <a:r>
              <a:rPr lang="es-419" sz="1800" b="0" i="0" u="none" strike="noStrike" cap="none">
                <a:solidFill>
                  <a:schemeClr val="dk2"/>
                </a:solidFill>
                <a:latin typeface="Cambria"/>
                <a:ea typeface="Cambria"/>
                <a:cs typeface="Cambria"/>
                <a:sym typeface="Cambria"/>
              </a:rPr>
              <a:t>La biblioteca “MAP SERV Q0.0,1” proporciona los bloques de posicionamiento para la salida A0. 0 y “MAP SERV Q0.1” para A0.1</a:t>
            </a:r>
            <a:endParaRPr sz="1800" b="0" i="0" u="none" strike="noStrike" cap="none">
              <a:solidFill>
                <a:schemeClr val="dk2"/>
              </a:solidFill>
              <a:latin typeface="Cambria"/>
              <a:ea typeface="Cambria"/>
              <a:cs typeface="Cambria"/>
              <a:sym typeface="Cambria"/>
            </a:endParaRPr>
          </a:p>
          <a:p>
            <a:pPr marL="180975" marR="0" lvl="0" indent="-161925" algn="just" rtl="0">
              <a:lnSpc>
                <a:spcPct val="90000"/>
              </a:lnSpc>
              <a:spcBef>
                <a:spcPts val="0"/>
              </a:spcBef>
              <a:spcAft>
                <a:spcPts val="0"/>
              </a:spcAft>
              <a:buClr>
                <a:schemeClr val="accent1"/>
              </a:buClr>
              <a:buSzPts val="1300"/>
              <a:buFont typeface="Lato"/>
              <a:buNone/>
            </a:pPr>
            <a:endParaRPr sz="1800" b="0" i="0" u="none" strike="noStrike" cap="none">
              <a:solidFill>
                <a:schemeClr val="dk2"/>
              </a:solidFill>
              <a:latin typeface="Cambria"/>
              <a:ea typeface="Cambria"/>
              <a:cs typeface="Cambria"/>
              <a:sym typeface="Cambria"/>
            </a:endParaRPr>
          </a:p>
        </p:txBody>
      </p:sp>
      <p:graphicFrame>
        <p:nvGraphicFramePr>
          <p:cNvPr id="309" name="Google Shape;309;p26"/>
          <p:cNvGraphicFramePr/>
          <p:nvPr/>
        </p:nvGraphicFramePr>
        <p:xfrm>
          <a:off x="1909595" y="2918046"/>
          <a:ext cx="3000000" cy="3000000"/>
        </p:xfrm>
        <a:graphic>
          <a:graphicData uri="http://schemas.openxmlformats.org/drawingml/2006/table">
            <a:tbl>
              <a:tblPr firstRow="1" firstCol="1" bandRow="1">
                <a:noFill/>
                <a:tableStyleId>{3FF80745-7821-485C-8F53-118708D8D5D8}</a:tableStyleId>
              </a:tblPr>
              <a:tblGrid>
                <a:gridCol w="1690750">
                  <a:extLst>
                    <a:ext uri="{9D8B030D-6E8A-4147-A177-3AD203B41FA5}">
                      <a16:colId xmlns:a16="http://schemas.microsoft.com/office/drawing/2014/main" val="20000"/>
                    </a:ext>
                  </a:extLst>
                </a:gridCol>
                <a:gridCol w="3851450">
                  <a:extLst>
                    <a:ext uri="{9D8B030D-6E8A-4147-A177-3AD203B41FA5}">
                      <a16:colId xmlns:a16="http://schemas.microsoft.com/office/drawing/2014/main" val="20001"/>
                    </a:ext>
                  </a:extLst>
                </a:gridCol>
              </a:tblGrid>
              <a:tr h="198375">
                <a:tc>
                  <a:txBody>
                    <a:bodyPr/>
                    <a:lstStyle/>
                    <a:p>
                      <a:pPr marL="0" marR="0" lvl="0" indent="0" algn="ctr" rtl="0">
                        <a:lnSpc>
                          <a:spcPct val="118181"/>
                        </a:lnSpc>
                        <a:spcBef>
                          <a:spcPts val="0"/>
                        </a:spcBef>
                        <a:spcAft>
                          <a:spcPts val="0"/>
                        </a:spcAft>
                        <a:buNone/>
                      </a:pPr>
                      <a:r>
                        <a:rPr lang="es-419" sz="1100" u="none" strike="noStrike" cap="none">
                          <a:solidFill>
                            <a:schemeClr val="lt1"/>
                          </a:solidFill>
                        </a:rPr>
                        <a:t>BLOQUE</a:t>
                      </a:r>
                      <a:endParaRPr sz="1000" u="none" strike="noStrike" cap="none">
                        <a:solidFill>
                          <a:schemeClr val="lt1"/>
                        </a:solidFill>
                        <a:latin typeface="Times New Roman"/>
                        <a:ea typeface="Times New Roman"/>
                        <a:cs typeface="Times New Roman"/>
                        <a:sym typeface="Times New Roman"/>
                      </a:endParaRPr>
                    </a:p>
                  </a:txBody>
                  <a:tcPr marL="68575" marR="68575" marT="0" marB="0">
                    <a:solidFill>
                      <a:srgbClr val="14285A"/>
                    </a:solidFill>
                  </a:tcPr>
                </a:tc>
                <a:tc>
                  <a:txBody>
                    <a:bodyPr/>
                    <a:lstStyle/>
                    <a:p>
                      <a:pPr marL="0" marR="0" lvl="0" indent="0" algn="ctr" rtl="0">
                        <a:lnSpc>
                          <a:spcPct val="118181"/>
                        </a:lnSpc>
                        <a:spcBef>
                          <a:spcPts val="0"/>
                        </a:spcBef>
                        <a:spcAft>
                          <a:spcPts val="0"/>
                        </a:spcAft>
                        <a:buNone/>
                      </a:pPr>
                      <a:r>
                        <a:rPr lang="es-419" sz="1100" u="none" strike="noStrike" cap="none">
                          <a:solidFill>
                            <a:schemeClr val="lt1"/>
                          </a:solidFill>
                        </a:rPr>
                        <a:t>FUNCIÓN</a:t>
                      </a:r>
                      <a:endParaRPr sz="1000" u="none" strike="noStrike" cap="none">
                        <a:solidFill>
                          <a:schemeClr val="lt1"/>
                        </a:solidFill>
                        <a:latin typeface="Times New Roman"/>
                        <a:ea typeface="Times New Roman"/>
                        <a:cs typeface="Times New Roman"/>
                        <a:sym typeface="Times New Roman"/>
                      </a:endParaRPr>
                    </a:p>
                  </a:txBody>
                  <a:tcPr marL="68575" marR="68575" marT="0" marB="0">
                    <a:solidFill>
                      <a:srgbClr val="14285A"/>
                    </a:solidFill>
                  </a:tcPr>
                </a:tc>
                <a:extLst>
                  <a:ext uri="{0D108BD9-81ED-4DB2-BD59-A6C34878D82A}">
                    <a16:rowId xmlns:a16="http://schemas.microsoft.com/office/drawing/2014/main" val="10000"/>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Q0_x_CTRL                            </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Especificación de parámetros y bloque de control</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extLst>
                  <a:ext uri="{0D108BD9-81ED-4DB2-BD59-A6C34878D82A}">
                    <a16:rowId xmlns:a16="http://schemas.microsoft.com/office/drawing/2014/main" val="10001"/>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Q0_x_MoveRelative</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rgbClr val="C1D9E9"/>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Ejecución de un paso de posicionamiento relativo</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rgbClr val="C1D9E9"/>
                    </a:solidFill>
                  </a:tcPr>
                </a:tc>
                <a:extLst>
                  <a:ext uri="{0D108BD9-81ED-4DB2-BD59-A6C34878D82A}">
                    <a16:rowId xmlns:a16="http://schemas.microsoft.com/office/drawing/2014/main" val="10002"/>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Q0_x_MoveAbsolute</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Ejecución de un paso de posicionamiento absoluto</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extLst>
                  <a:ext uri="{0D108BD9-81ED-4DB2-BD59-A6C34878D82A}">
                    <a16:rowId xmlns:a16="http://schemas.microsoft.com/office/drawing/2014/main" val="10003"/>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Q0_x_MoveVelocity</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Comenzar un movimiento con velocidad preestablecida</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extLst>
                  <a:ext uri="{0D108BD9-81ED-4DB2-BD59-A6C34878D82A}">
                    <a16:rowId xmlns:a16="http://schemas.microsoft.com/office/drawing/2014/main" val="10004"/>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Q0_x_ Home</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rgbClr val="C1D9E9"/>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Buscar la posición del punto de referencia</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rgbClr val="C1D9E9"/>
                    </a:solidFill>
                  </a:tcPr>
                </a:tc>
                <a:extLst>
                  <a:ext uri="{0D108BD9-81ED-4DB2-BD59-A6C34878D82A}">
                    <a16:rowId xmlns:a16="http://schemas.microsoft.com/office/drawing/2014/main" val="10005"/>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Q0_x_ Stop</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rgbClr val="C1D9E9"/>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Detener el movimiento</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rgbClr val="C1D9E9"/>
                    </a:solidFill>
                  </a:tcPr>
                </a:tc>
                <a:extLst>
                  <a:ext uri="{0D108BD9-81ED-4DB2-BD59-A6C34878D82A}">
                    <a16:rowId xmlns:a16="http://schemas.microsoft.com/office/drawing/2014/main" val="10006"/>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Q0_x_LoadPos</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Cargar marcador de posición preestablecido</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extLst>
                  <a:ext uri="{0D108BD9-81ED-4DB2-BD59-A6C34878D82A}">
                    <a16:rowId xmlns:a16="http://schemas.microsoft.com/office/drawing/2014/main" val="10007"/>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Scale _UE_Pulse </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Conversión de valores de distancia en valores de pulso</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extLst>
                  <a:ext uri="{0D108BD9-81ED-4DB2-BD59-A6C34878D82A}">
                    <a16:rowId xmlns:a16="http://schemas.microsoft.com/office/drawing/2014/main" val="10008"/>
                  </a:ext>
                </a:extLst>
              </a:tr>
              <a:tr h="20142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Scale_Pulse_EU</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tc>
                  <a:txBody>
                    <a:bodyPr/>
                    <a:lstStyle/>
                    <a:p>
                      <a:pPr marL="0" marR="0" lvl="0" indent="0" algn="l" rtl="0">
                        <a:lnSpc>
                          <a:spcPct val="100000"/>
                        </a:lnSpc>
                        <a:spcBef>
                          <a:spcPts val="0"/>
                        </a:spcBef>
                        <a:spcAft>
                          <a:spcPts val="0"/>
                        </a:spcAft>
                        <a:buNone/>
                      </a:pPr>
                      <a:r>
                        <a:rPr lang="es-419" sz="1100" u="none" strike="noStrike" cap="none">
                          <a:solidFill>
                            <a:schemeClr val="dk2"/>
                          </a:solidFill>
                        </a:rPr>
                        <a:t>Convertir valores de pulso en valores de distancia</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7"/>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s-419"/>
              <a:t>GRAFCET Y SIMULACIÓN</a:t>
            </a:r>
            <a:endParaRPr b="0"/>
          </a:p>
        </p:txBody>
      </p:sp>
      <p:sp>
        <p:nvSpPr>
          <p:cNvPr id="315" name="Google Shape;315;p27"/>
          <p:cNvSpPr txBox="1">
            <a:spLocks noGrp="1"/>
          </p:cNvSpPr>
          <p:nvPr>
            <p:ph type="subTitle" idx="1"/>
          </p:nvPr>
        </p:nvSpPr>
        <p:spPr>
          <a:xfrm>
            <a:off x="729627" y="3172900"/>
            <a:ext cx="3123045" cy="541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8"/>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GRAFCET: Unidad de Alimentación</a:t>
            </a:r>
            <a:endParaRPr/>
          </a:p>
        </p:txBody>
      </p:sp>
      <p:pic>
        <p:nvPicPr>
          <p:cNvPr id="321" name="Google Shape;321;p28"/>
          <p:cNvPicPr preferRelativeResize="0"/>
          <p:nvPr/>
        </p:nvPicPr>
        <p:blipFill rotWithShape="1">
          <a:blip r:embed="rId3">
            <a:alphaModFix/>
          </a:blip>
          <a:srcRect t="4784" b="29365"/>
          <a:stretch/>
        </p:blipFill>
        <p:spPr>
          <a:xfrm>
            <a:off x="263525" y="686080"/>
            <a:ext cx="5730875" cy="4155164"/>
          </a:xfrm>
          <a:prstGeom prst="rect">
            <a:avLst/>
          </a:prstGeom>
          <a:noFill/>
          <a:ln>
            <a:noFill/>
          </a:ln>
        </p:spPr>
      </p:pic>
      <p:pic>
        <p:nvPicPr>
          <p:cNvPr id="322" name="Google Shape;322;p28"/>
          <p:cNvPicPr preferRelativeResize="0"/>
          <p:nvPr/>
        </p:nvPicPr>
        <p:blipFill rotWithShape="1">
          <a:blip r:embed="rId3">
            <a:alphaModFix/>
          </a:blip>
          <a:srcRect t="69230" r="47867"/>
          <a:stretch/>
        </p:blipFill>
        <p:spPr>
          <a:xfrm>
            <a:off x="5196771" y="2201333"/>
            <a:ext cx="2987674" cy="1941542"/>
          </a:xfrm>
          <a:prstGeom prst="rect">
            <a:avLst/>
          </a:prstGeom>
          <a:noFill/>
          <a:ln>
            <a:noFill/>
          </a:ln>
        </p:spPr>
      </p:pic>
      <p:cxnSp>
        <p:nvCxnSpPr>
          <p:cNvPr id="323" name="Google Shape;323;p28"/>
          <p:cNvCxnSpPr/>
          <p:nvPr/>
        </p:nvCxnSpPr>
        <p:spPr>
          <a:xfrm rot="10800000" flipH="1">
            <a:off x="1422400" y="2201244"/>
            <a:ext cx="4933200" cy="2640000"/>
          </a:xfrm>
          <a:prstGeom prst="bentConnector3">
            <a:avLst>
              <a:gd name="adj1" fmla="val 73113"/>
            </a:avLst>
          </a:prstGeom>
          <a:noFill/>
          <a:ln w="9525" cap="flat" cmpd="sng">
            <a:solidFill>
              <a:srgbClr val="565656"/>
            </a:solidFill>
            <a:prstDash val="solid"/>
            <a:round/>
            <a:headEnd type="none" w="sm" len="sm"/>
            <a:tailEnd type="none" w="sm" len="sm"/>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9"/>
          <p:cNvSpPr txBox="1"/>
          <p:nvPr/>
        </p:nvSpPr>
        <p:spPr>
          <a:xfrm>
            <a:off x="427611" y="-41032"/>
            <a:ext cx="7734255"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Nombres de referencia: Unidad de Alimentación</a:t>
            </a:r>
            <a:endParaRPr/>
          </a:p>
        </p:txBody>
      </p:sp>
      <p:graphicFrame>
        <p:nvGraphicFramePr>
          <p:cNvPr id="329" name="Google Shape;329;p29"/>
          <p:cNvGraphicFramePr/>
          <p:nvPr/>
        </p:nvGraphicFramePr>
        <p:xfrm>
          <a:off x="1584440" y="494168"/>
          <a:ext cx="3000000" cy="3000000"/>
        </p:xfrm>
        <a:graphic>
          <a:graphicData uri="http://schemas.openxmlformats.org/drawingml/2006/table">
            <a:tbl>
              <a:tblPr>
                <a:noFill/>
                <a:tableStyleId>{3FF80745-7821-485C-8F53-118708D8D5D8}</a:tableStyleId>
              </a:tblPr>
              <a:tblGrid>
                <a:gridCol w="2051900">
                  <a:extLst>
                    <a:ext uri="{9D8B030D-6E8A-4147-A177-3AD203B41FA5}">
                      <a16:colId xmlns:a16="http://schemas.microsoft.com/office/drawing/2014/main" val="20000"/>
                    </a:ext>
                  </a:extLst>
                </a:gridCol>
                <a:gridCol w="1603100">
                  <a:extLst>
                    <a:ext uri="{9D8B030D-6E8A-4147-A177-3AD203B41FA5}">
                      <a16:colId xmlns:a16="http://schemas.microsoft.com/office/drawing/2014/main" val="20001"/>
                    </a:ext>
                  </a:extLst>
                </a:gridCol>
                <a:gridCol w="2798250">
                  <a:extLst>
                    <a:ext uri="{9D8B030D-6E8A-4147-A177-3AD203B41FA5}">
                      <a16:colId xmlns:a16="http://schemas.microsoft.com/office/drawing/2014/main" val="20002"/>
                    </a:ext>
                  </a:extLst>
                </a:gridCol>
              </a:tblGrid>
              <a:tr h="186675">
                <a:tc>
                  <a:txBody>
                    <a:bodyPr/>
                    <a:lstStyle/>
                    <a:p>
                      <a:pPr marL="0" marR="0" lvl="0" indent="0" algn="ctr" rtl="0">
                        <a:lnSpc>
                          <a:spcPct val="100000"/>
                        </a:lnSpc>
                        <a:spcBef>
                          <a:spcPts val="0"/>
                        </a:spcBef>
                        <a:spcAft>
                          <a:spcPts val="0"/>
                        </a:spcAft>
                        <a:buNone/>
                      </a:pPr>
                      <a:r>
                        <a:rPr lang="es-419" sz="1050" b="1" u="none" strike="noStrike" cap="none">
                          <a:solidFill>
                            <a:schemeClr val="lt1"/>
                          </a:solidFill>
                        </a:rPr>
                        <a:t>Sensor/actuador</a:t>
                      </a:r>
                      <a:endParaRPr sz="1050" b="1" u="none" strike="noStrike" cap="none">
                        <a:solidFill>
                          <a:schemeClr val="lt1"/>
                        </a:solidFill>
                        <a:latin typeface="Arial"/>
                        <a:ea typeface="Arial"/>
                        <a:cs typeface="Arial"/>
                        <a:sym typeface="Arial"/>
                      </a:endParaRPr>
                    </a:p>
                  </a:txBody>
                  <a:tcPr marL="33075" marR="33075" marT="33075" marB="33075">
                    <a:solidFill>
                      <a:srgbClr val="14285A"/>
                    </a:solidFill>
                  </a:tcPr>
                </a:tc>
                <a:tc>
                  <a:txBody>
                    <a:bodyPr/>
                    <a:lstStyle/>
                    <a:p>
                      <a:pPr marL="0" marR="0" lvl="0" indent="0" algn="ctr" rtl="0">
                        <a:lnSpc>
                          <a:spcPct val="100000"/>
                        </a:lnSpc>
                        <a:spcBef>
                          <a:spcPts val="0"/>
                        </a:spcBef>
                        <a:spcAft>
                          <a:spcPts val="0"/>
                        </a:spcAft>
                        <a:buNone/>
                      </a:pPr>
                      <a:r>
                        <a:rPr lang="es-419" sz="1050" b="1" u="none" strike="noStrike" cap="none">
                          <a:solidFill>
                            <a:schemeClr val="lt1"/>
                          </a:solidFill>
                        </a:rPr>
                        <a:t>Nombre </a:t>
                      </a:r>
                      <a:endParaRPr sz="1050" b="1" u="none" strike="noStrike" cap="none">
                        <a:solidFill>
                          <a:schemeClr val="lt1"/>
                        </a:solidFill>
                        <a:latin typeface="Arial"/>
                        <a:ea typeface="Arial"/>
                        <a:cs typeface="Arial"/>
                        <a:sym typeface="Arial"/>
                      </a:endParaRPr>
                    </a:p>
                  </a:txBody>
                  <a:tcPr marL="33075" marR="33075" marT="33075" marB="33075">
                    <a:solidFill>
                      <a:srgbClr val="14285A"/>
                    </a:solidFill>
                  </a:tcPr>
                </a:tc>
                <a:tc>
                  <a:txBody>
                    <a:bodyPr/>
                    <a:lstStyle/>
                    <a:p>
                      <a:pPr marL="0" marR="0" lvl="0" indent="0" algn="ctr" rtl="0">
                        <a:lnSpc>
                          <a:spcPct val="100000"/>
                        </a:lnSpc>
                        <a:spcBef>
                          <a:spcPts val="0"/>
                        </a:spcBef>
                        <a:spcAft>
                          <a:spcPts val="0"/>
                        </a:spcAft>
                        <a:buNone/>
                      </a:pPr>
                      <a:r>
                        <a:rPr lang="es-419" sz="1050" b="1" u="none" strike="noStrike" cap="none">
                          <a:solidFill>
                            <a:schemeClr val="lt1"/>
                          </a:solidFill>
                          <a:latin typeface="Arial"/>
                          <a:ea typeface="Arial"/>
                          <a:cs typeface="Arial"/>
                          <a:sym typeface="Arial"/>
                        </a:rPr>
                        <a:t>Descripción</a:t>
                      </a:r>
                      <a:endParaRPr sz="1050" b="1" u="none" strike="noStrike" cap="none">
                        <a:solidFill>
                          <a:schemeClr val="lt1"/>
                        </a:solidFill>
                        <a:latin typeface="Arial"/>
                        <a:ea typeface="Arial"/>
                        <a:cs typeface="Arial"/>
                        <a:sym typeface="Arial"/>
                      </a:endParaRPr>
                    </a:p>
                  </a:txBody>
                  <a:tcPr marL="33075" marR="33075" marT="33075" marB="33075">
                    <a:solidFill>
                      <a:srgbClr val="14285A"/>
                    </a:solidFill>
                  </a:tcPr>
                </a:tc>
                <a:extLst>
                  <a:ext uri="{0D108BD9-81ED-4DB2-BD59-A6C34878D82A}">
                    <a16:rowId xmlns:a16="http://schemas.microsoft.com/office/drawing/2014/main" val="10000"/>
                  </a:ext>
                </a:extLst>
              </a:tr>
              <a:tr h="3678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Cilindro neumático montado en la parte superior</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piston_peq</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piston_peq=1 (extendido)*</a:t>
                      </a:r>
                      <a:endParaRPr sz="1000" u="none" strike="noStrike" cap="none">
                        <a:solidFill>
                          <a:schemeClr val="dk2"/>
                        </a:solidFill>
                      </a:endParaRPr>
                    </a:p>
                    <a:p>
                      <a:pPr marL="0" marR="0" lvl="0" indent="0" algn="ctr" rtl="0">
                        <a:lnSpc>
                          <a:spcPct val="100000"/>
                        </a:lnSpc>
                        <a:spcBef>
                          <a:spcPts val="0"/>
                        </a:spcBef>
                        <a:spcAft>
                          <a:spcPts val="0"/>
                        </a:spcAft>
                        <a:buNone/>
                      </a:pPr>
                      <a:r>
                        <a:rPr lang="es-419" sz="1000" u="none" strike="noStrike" cap="none">
                          <a:solidFill>
                            <a:schemeClr val="dk2"/>
                          </a:solidFill>
                        </a:rPr>
                        <a:t>piston_peq=0 (retraido)*</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1"/>
                  </a:ext>
                </a:extLst>
              </a:tr>
              <a:tr h="349700">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Cilindro neumático montado en la parte inferior</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piston_grande</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piston_grande=1 (extendido)*</a:t>
                      </a:r>
                      <a:endParaRPr sz="1000" u="none" strike="noStrike" cap="none">
                        <a:solidFill>
                          <a:schemeClr val="dk2"/>
                        </a:solidFill>
                      </a:endParaRPr>
                    </a:p>
                    <a:p>
                      <a:pPr marL="0" marR="0" lvl="0" indent="0" algn="ctr" rtl="0">
                        <a:lnSpc>
                          <a:spcPct val="100000"/>
                        </a:lnSpc>
                        <a:spcBef>
                          <a:spcPts val="0"/>
                        </a:spcBef>
                        <a:spcAft>
                          <a:spcPts val="0"/>
                        </a:spcAft>
                        <a:buNone/>
                      </a:pPr>
                      <a:r>
                        <a:rPr lang="es-419" sz="1000" u="none" strike="noStrike" cap="none">
                          <a:solidFill>
                            <a:schemeClr val="dk2"/>
                          </a:solidFill>
                        </a:rPr>
                        <a:t>piston_grande=0 (retraido)*</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2"/>
                  </a:ext>
                </a:extLst>
              </a:tr>
              <a:tr h="3075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Sensor magnetico piston_peq (extendido)</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PISTON_PEQ_ADELANT</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3"/>
                  </a:ext>
                </a:extLst>
              </a:tr>
              <a:tr h="3075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Sensor magnetico piston_peq (retraído)</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PISTON_PEQ_ATR</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endParaRPr>
                    </a:p>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4"/>
                  </a:ext>
                </a:extLst>
              </a:tr>
              <a:tr h="3075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Sensor magnetico piston_grande (extendido)</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GRANDE_ADEL</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5"/>
                  </a:ext>
                </a:extLst>
              </a:tr>
              <a:tr h="3075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Sensor magnetico piston_grande (retraído)</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GRANDE_ATRAS</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6"/>
                  </a:ext>
                </a:extLst>
              </a:tr>
              <a:tr h="34912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Sensor fotoeléctrico pen el tubo de alimentación</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presencia_pieza</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presencia_pieza=1 (hay presencia)</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7"/>
                  </a:ext>
                </a:extLst>
              </a:tr>
              <a:tr h="428500">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Sensor fotoeléctrico para la presencia en la posición final</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posicion_pieza_final</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posicion_pieza_final=1 (hay presencia)</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8"/>
                  </a:ext>
                </a:extLst>
              </a:tr>
              <a:tr h="1866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Pulsador verde</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SB1</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9"/>
                  </a:ext>
                </a:extLst>
              </a:tr>
              <a:tr h="1866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Pulsador rojo</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SB2</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10"/>
                  </a:ext>
                </a:extLst>
              </a:tr>
              <a:tr h="1866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Selector</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SA</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11"/>
                  </a:ext>
                </a:extLst>
              </a:tr>
              <a:tr h="3075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Pilotos de señalización</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HL1, HL2, HL3</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Lámparas amarilla, verde y roja.</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12"/>
                  </a:ext>
                </a:extLst>
              </a:tr>
              <a:tr h="3075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Seta de emergencia</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QS</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Normalmente cerrado (si no se enclava esta en estado 1)</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13"/>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0"/>
          <p:cNvSpPr txBox="1"/>
          <p:nvPr/>
        </p:nvSpPr>
        <p:spPr>
          <a:xfrm>
            <a:off x="427611" y="-41032"/>
            <a:ext cx="7734255"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Nombres de referencia: Unidad de Ensamblaje</a:t>
            </a:r>
            <a:endParaRPr/>
          </a:p>
        </p:txBody>
      </p:sp>
      <p:graphicFrame>
        <p:nvGraphicFramePr>
          <p:cNvPr id="335" name="Google Shape;335;p30"/>
          <p:cNvGraphicFramePr/>
          <p:nvPr/>
        </p:nvGraphicFramePr>
        <p:xfrm>
          <a:off x="819862" y="621758"/>
          <a:ext cx="3000000" cy="3000000"/>
        </p:xfrm>
        <a:graphic>
          <a:graphicData uri="http://schemas.openxmlformats.org/drawingml/2006/table">
            <a:tbl>
              <a:tblPr>
                <a:noFill/>
                <a:tableStyleId>{3FF80745-7821-485C-8F53-118708D8D5D8}</a:tableStyleId>
              </a:tblPr>
              <a:tblGrid>
                <a:gridCol w="2386100">
                  <a:extLst>
                    <a:ext uri="{9D8B030D-6E8A-4147-A177-3AD203B41FA5}">
                      <a16:colId xmlns:a16="http://schemas.microsoft.com/office/drawing/2014/main" val="20000"/>
                    </a:ext>
                  </a:extLst>
                </a:gridCol>
                <a:gridCol w="2386100">
                  <a:extLst>
                    <a:ext uri="{9D8B030D-6E8A-4147-A177-3AD203B41FA5}">
                      <a16:colId xmlns:a16="http://schemas.microsoft.com/office/drawing/2014/main" val="20001"/>
                    </a:ext>
                  </a:extLst>
                </a:gridCol>
                <a:gridCol w="2732075">
                  <a:extLst>
                    <a:ext uri="{9D8B030D-6E8A-4147-A177-3AD203B41FA5}">
                      <a16:colId xmlns:a16="http://schemas.microsoft.com/office/drawing/2014/main" val="20002"/>
                    </a:ext>
                  </a:extLst>
                </a:gridCol>
              </a:tblGrid>
              <a:tr h="92875">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Sensor/actuador</a:t>
                      </a:r>
                      <a:endParaRPr sz="1100" b="1" u="none" strike="noStrike" cap="none">
                        <a:solidFill>
                          <a:schemeClr val="lt1"/>
                        </a:solidFill>
                        <a:latin typeface="Arial"/>
                        <a:ea typeface="Arial"/>
                        <a:cs typeface="Arial"/>
                        <a:sym typeface="Arial"/>
                      </a:endParaRPr>
                    </a:p>
                  </a:txBody>
                  <a:tcPr marL="15925" marR="15925" marT="15925" marB="15925">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Nombre </a:t>
                      </a:r>
                      <a:endParaRPr sz="1100" b="1" u="none" strike="noStrike" cap="none">
                        <a:solidFill>
                          <a:schemeClr val="lt1"/>
                        </a:solidFill>
                        <a:latin typeface="Arial"/>
                        <a:ea typeface="Arial"/>
                        <a:cs typeface="Arial"/>
                        <a:sym typeface="Arial"/>
                      </a:endParaRPr>
                    </a:p>
                  </a:txBody>
                  <a:tcPr marL="15925" marR="15925" marT="15925" marB="15925">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Descripción</a:t>
                      </a:r>
                      <a:endParaRPr sz="1100" b="1" u="none" strike="noStrike" cap="none">
                        <a:solidFill>
                          <a:schemeClr val="lt1"/>
                        </a:solidFill>
                        <a:latin typeface="Arial"/>
                        <a:ea typeface="Arial"/>
                        <a:cs typeface="Arial"/>
                        <a:sym typeface="Arial"/>
                      </a:endParaRPr>
                    </a:p>
                  </a:txBody>
                  <a:tcPr marL="15925" marR="15925" marT="15925" marB="15925">
                    <a:solidFill>
                      <a:srgbClr val="14285A"/>
                    </a:solidFill>
                  </a:tcPr>
                </a:tc>
                <a:extLst>
                  <a:ext uri="{0D108BD9-81ED-4DB2-BD59-A6C34878D82A}">
                    <a16:rowId xmlns:a16="http://schemas.microsoft.com/office/drawing/2014/main" val="10000"/>
                  </a:ext>
                </a:extLst>
              </a:tr>
              <a:tr h="1539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Cilindro neumático liberador</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PLIB</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PLIB=1 (extendido)*</a:t>
                      </a:r>
                      <a:endParaRPr sz="1050" u="none" strike="noStrike" cap="none">
                        <a:solidFill>
                          <a:schemeClr val="dk2"/>
                        </a:solidFill>
                      </a:endParaRPr>
                    </a:p>
                    <a:p>
                      <a:pPr marL="0" marR="0" lvl="0" indent="0" algn="ctr" rtl="0">
                        <a:lnSpc>
                          <a:spcPct val="115000"/>
                        </a:lnSpc>
                        <a:spcBef>
                          <a:spcPts val="0"/>
                        </a:spcBef>
                        <a:spcAft>
                          <a:spcPts val="0"/>
                        </a:spcAft>
                        <a:buNone/>
                      </a:pPr>
                      <a:r>
                        <a:rPr lang="es-419" sz="1050" u="none" strike="noStrike" cap="none">
                          <a:solidFill>
                            <a:schemeClr val="dk2"/>
                          </a:solidFill>
                        </a:rPr>
                        <a:t>PLIB=0 (retraido)*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1"/>
                  </a:ext>
                </a:extLst>
              </a:tr>
              <a:tr h="1539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Cilindro neumático sujetador</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PSUJ</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PSUJ=0 (extendido)*</a:t>
                      </a:r>
                      <a:endParaRPr sz="1050" u="none" strike="noStrike" cap="none">
                        <a:solidFill>
                          <a:schemeClr val="dk2"/>
                        </a:solidFill>
                      </a:endParaRPr>
                    </a:p>
                    <a:p>
                      <a:pPr marL="0" marR="0" lvl="0" indent="0" algn="ctr" rtl="0">
                        <a:lnSpc>
                          <a:spcPct val="115000"/>
                        </a:lnSpc>
                        <a:spcBef>
                          <a:spcPts val="0"/>
                        </a:spcBef>
                        <a:spcAft>
                          <a:spcPts val="0"/>
                        </a:spcAft>
                        <a:buNone/>
                      </a:pPr>
                      <a:r>
                        <a:rPr lang="es-419" sz="1050" u="none" strike="noStrike" cap="none">
                          <a:solidFill>
                            <a:schemeClr val="dk2"/>
                          </a:solidFill>
                        </a:rPr>
                        <a:t>PSUJ=1 (retraido)*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2"/>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PLIB (extendido)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SPLS</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3"/>
                  </a:ext>
                </a:extLst>
              </a:tr>
              <a:tr h="1539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PLIB (retraído)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SPLE</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4"/>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PSUJ (extendido)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SPSS</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5"/>
                  </a:ext>
                </a:extLst>
              </a:tr>
              <a:tr h="1539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PSUJ (retraído)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SPSE</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6"/>
                  </a:ext>
                </a:extLst>
              </a:tr>
              <a:tr h="1539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Cilindro rotatorio anti horario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CILROTAH</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CILROTAH=1 (giro antihorario)</a:t>
                      </a:r>
                      <a:endParaRPr sz="1050" u="none" strike="noStrike" cap="none">
                        <a:solidFill>
                          <a:schemeClr val="dk2"/>
                        </a:solidFill>
                      </a:endParaRPr>
                    </a:p>
                    <a:p>
                      <a:pPr marL="0" marR="0" lvl="0" indent="0" algn="ctr" rtl="0">
                        <a:lnSpc>
                          <a:spcPct val="115000"/>
                        </a:lnSpc>
                        <a:spcBef>
                          <a:spcPts val="0"/>
                        </a:spcBef>
                        <a:spcAft>
                          <a:spcPts val="0"/>
                        </a:spcAft>
                        <a:buNone/>
                      </a:pPr>
                      <a:r>
                        <a:rPr lang="es-419" sz="1050" u="none" strike="noStrike" cap="none">
                          <a:solidFill>
                            <a:schemeClr val="dk2"/>
                          </a:solidFill>
                        </a:rPr>
                        <a:t>CILROTAH=0 (giro horario)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7"/>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de giro antihorario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8"/>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de giro horario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SGH</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9"/>
                  </a:ext>
                </a:extLst>
              </a:tr>
              <a:tr h="1539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Cilindro neumático horizontal</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CILHORADE</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CILHORADE=1 (extendido)*</a:t>
                      </a:r>
                      <a:endParaRPr sz="1050" u="none" strike="noStrike" cap="none">
                        <a:solidFill>
                          <a:schemeClr val="dk2"/>
                        </a:solidFill>
                      </a:endParaRPr>
                    </a:p>
                    <a:p>
                      <a:pPr marL="0" marR="0" lvl="0" indent="0" algn="ctr" rtl="0">
                        <a:lnSpc>
                          <a:spcPct val="115000"/>
                        </a:lnSpc>
                        <a:spcBef>
                          <a:spcPts val="0"/>
                        </a:spcBef>
                        <a:spcAft>
                          <a:spcPts val="0"/>
                        </a:spcAft>
                        <a:buNone/>
                      </a:pPr>
                      <a:r>
                        <a:rPr lang="es-419" sz="1050" u="none" strike="noStrike" cap="none">
                          <a:solidFill>
                            <a:schemeClr val="dk2"/>
                          </a:solidFill>
                        </a:rPr>
                        <a:t>CILHORADE=0 (retraido)*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0"/>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CILHORADE (extendido)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SGRAD</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1"/>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CILHORADE (retraído)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SGRT</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20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2"/>
                  </a:ext>
                </a:extLst>
              </a:tr>
              <a:tr h="15862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Cilindro neumático vertical</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CILVERTABAJO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20000"/>
                        </a:lnSpc>
                        <a:spcBef>
                          <a:spcPts val="0"/>
                        </a:spcBef>
                        <a:spcAft>
                          <a:spcPts val="0"/>
                        </a:spcAft>
                        <a:buNone/>
                      </a:pPr>
                      <a:r>
                        <a:rPr lang="es-419" sz="1050" u="none" strike="noStrike" cap="none">
                          <a:solidFill>
                            <a:schemeClr val="dk2"/>
                          </a:solidFill>
                        </a:rPr>
                        <a:t>CILVERTABAJO=1 (extendido)*</a:t>
                      </a:r>
                      <a:endParaRPr sz="1050" u="none" strike="noStrike" cap="none">
                        <a:solidFill>
                          <a:schemeClr val="dk2"/>
                        </a:solidFill>
                      </a:endParaRPr>
                    </a:p>
                    <a:p>
                      <a:pPr marL="0" marR="0" lvl="0" indent="0" algn="ctr" rtl="0">
                        <a:lnSpc>
                          <a:spcPct val="120000"/>
                        </a:lnSpc>
                        <a:spcBef>
                          <a:spcPts val="0"/>
                        </a:spcBef>
                        <a:spcAft>
                          <a:spcPts val="0"/>
                        </a:spcAft>
                        <a:buNone/>
                      </a:pPr>
                      <a:r>
                        <a:rPr lang="es-419" sz="1050" u="none" strike="noStrike" cap="none">
                          <a:solidFill>
                            <a:schemeClr val="dk2"/>
                          </a:solidFill>
                        </a:rPr>
                        <a:t>CILVERTABAJO=0 (retraido)*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1"/>
          <p:cNvSpPr txBox="1"/>
          <p:nvPr/>
        </p:nvSpPr>
        <p:spPr>
          <a:xfrm>
            <a:off x="427611" y="-41032"/>
            <a:ext cx="7734255"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Nombres de referencia: Unidad de Ensamblaje</a:t>
            </a:r>
            <a:endParaRPr/>
          </a:p>
        </p:txBody>
      </p:sp>
      <p:graphicFrame>
        <p:nvGraphicFramePr>
          <p:cNvPr id="341" name="Google Shape;341;p31"/>
          <p:cNvGraphicFramePr/>
          <p:nvPr/>
        </p:nvGraphicFramePr>
        <p:xfrm>
          <a:off x="819862" y="621758"/>
          <a:ext cx="3000000" cy="3000000"/>
        </p:xfrm>
        <a:graphic>
          <a:graphicData uri="http://schemas.openxmlformats.org/drawingml/2006/table">
            <a:tbl>
              <a:tblPr>
                <a:noFill/>
                <a:tableStyleId>{3FF80745-7821-485C-8F53-118708D8D5D8}</a:tableStyleId>
              </a:tblPr>
              <a:tblGrid>
                <a:gridCol w="2386100">
                  <a:extLst>
                    <a:ext uri="{9D8B030D-6E8A-4147-A177-3AD203B41FA5}">
                      <a16:colId xmlns:a16="http://schemas.microsoft.com/office/drawing/2014/main" val="20000"/>
                    </a:ext>
                  </a:extLst>
                </a:gridCol>
                <a:gridCol w="2386100">
                  <a:extLst>
                    <a:ext uri="{9D8B030D-6E8A-4147-A177-3AD203B41FA5}">
                      <a16:colId xmlns:a16="http://schemas.microsoft.com/office/drawing/2014/main" val="20001"/>
                    </a:ext>
                  </a:extLst>
                </a:gridCol>
                <a:gridCol w="2732075">
                  <a:extLst>
                    <a:ext uri="{9D8B030D-6E8A-4147-A177-3AD203B41FA5}">
                      <a16:colId xmlns:a16="http://schemas.microsoft.com/office/drawing/2014/main" val="20002"/>
                    </a:ext>
                  </a:extLst>
                </a:gridCol>
              </a:tblGrid>
              <a:tr h="92875">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Sensor/actuador</a:t>
                      </a:r>
                      <a:endParaRPr sz="1100" b="1" u="none" strike="noStrike" cap="none">
                        <a:solidFill>
                          <a:schemeClr val="lt1"/>
                        </a:solidFill>
                        <a:latin typeface="Arial"/>
                        <a:ea typeface="Arial"/>
                        <a:cs typeface="Arial"/>
                        <a:sym typeface="Arial"/>
                      </a:endParaRPr>
                    </a:p>
                  </a:txBody>
                  <a:tcPr marL="15925" marR="15925" marT="15925" marB="15925">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Nombre </a:t>
                      </a:r>
                      <a:endParaRPr sz="1100" b="1" u="none" strike="noStrike" cap="none">
                        <a:solidFill>
                          <a:schemeClr val="lt1"/>
                        </a:solidFill>
                        <a:latin typeface="Arial"/>
                        <a:ea typeface="Arial"/>
                        <a:cs typeface="Arial"/>
                        <a:sym typeface="Arial"/>
                      </a:endParaRPr>
                    </a:p>
                  </a:txBody>
                  <a:tcPr marL="15925" marR="15925" marT="15925" marB="15925">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Descripción</a:t>
                      </a:r>
                      <a:endParaRPr sz="1100" b="1" u="none" strike="noStrike" cap="none">
                        <a:solidFill>
                          <a:schemeClr val="lt1"/>
                        </a:solidFill>
                        <a:latin typeface="Arial"/>
                        <a:ea typeface="Arial"/>
                        <a:cs typeface="Arial"/>
                        <a:sym typeface="Arial"/>
                      </a:endParaRPr>
                    </a:p>
                  </a:txBody>
                  <a:tcPr marL="15925" marR="15925" marT="15925" marB="15925">
                    <a:solidFill>
                      <a:srgbClr val="14285A"/>
                    </a:solidFill>
                  </a:tcPr>
                </a:tc>
                <a:extLst>
                  <a:ext uri="{0D108BD9-81ED-4DB2-BD59-A6C34878D82A}">
                    <a16:rowId xmlns:a16="http://schemas.microsoft.com/office/drawing/2014/main" val="10000"/>
                  </a:ext>
                </a:extLst>
              </a:tr>
              <a:tr h="20082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CILVERTABAJO (extendido)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SGRB</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20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1"/>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CILVERTABAJO (retraído)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SGRS</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20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2"/>
                  </a:ext>
                </a:extLst>
              </a:tr>
              <a:tr h="15862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Pinza neumática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FINGER</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20000"/>
                        </a:lnSpc>
                        <a:spcBef>
                          <a:spcPts val="0"/>
                        </a:spcBef>
                        <a:spcAft>
                          <a:spcPts val="0"/>
                        </a:spcAft>
                        <a:buNone/>
                      </a:pPr>
                      <a:r>
                        <a:rPr lang="es-419" sz="1050" u="none" strike="noStrike" cap="none">
                          <a:solidFill>
                            <a:schemeClr val="dk2"/>
                          </a:solidFill>
                        </a:rPr>
                        <a:t>FINGER=1 (cerrado)*</a:t>
                      </a:r>
                      <a:endParaRPr sz="1050" u="none" strike="noStrike" cap="none">
                        <a:solidFill>
                          <a:schemeClr val="dk2"/>
                        </a:solidFill>
                      </a:endParaRPr>
                    </a:p>
                    <a:p>
                      <a:pPr marL="0" marR="0" lvl="0" indent="0" algn="ctr" rtl="0">
                        <a:lnSpc>
                          <a:spcPct val="120000"/>
                        </a:lnSpc>
                        <a:spcBef>
                          <a:spcPts val="0"/>
                        </a:spcBef>
                        <a:spcAft>
                          <a:spcPts val="0"/>
                        </a:spcAft>
                        <a:buNone/>
                      </a:pPr>
                      <a:r>
                        <a:rPr lang="es-419" sz="1050" u="none" strike="noStrike" cap="none">
                          <a:solidFill>
                            <a:schemeClr val="dk2"/>
                          </a:solidFill>
                        </a:rPr>
                        <a:t>FINGER=0 (cerrado)*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3"/>
                  </a:ext>
                </a:extLst>
              </a:tr>
              <a:tr h="20082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fotoeléctrico en el tubo de alimentación</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STI</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STl=1 (hay presencia)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4"/>
                  </a:ext>
                </a:extLst>
              </a:tr>
              <a:tr h="25702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fotoeléctrico a la salida del tubo de alimentación</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SST</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SST=1 (hay presencia)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5"/>
                  </a:ext>
                </a:extLst>
              </a:tr>
              <a:tr h="20082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fotoeléctrico de presencia de pieza lista para recoger por la pinza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SPR</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SPR=1 (hay presencia)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6"/>
                  </a:ext>
                </a:extLst>
              </a:tr>
              <a:tr h="928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de pinza cerrada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SGRA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SGRA=1 (pinza cerrada)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7"/>
                  </a:ext>
                </a:extLst>
              </a:tr>
              <a:tr h="20082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fotoeléctrico de pieza en posición para recoger</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SFO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SFO=1 (hay presencia)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8"/>
                  </a:ext>
                </a:extLst>
              </a:tr>
              <a:tr h="928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Pulsador verde</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SB1</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9"/>
                  </a:ext>
                </a:extLst>
              </a:tr>
              <a:tr h="928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Pulsador rojo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SB2</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0"/>
                  </a:ext>
                </a:extLst>
              </a:tr>
              <a:tr h="928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Selector</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1"/>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Pilotos de señalización</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HL1, HL2, HL3</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Lámparas amarilla, verde y roja.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2"/>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Seta de emergencia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QS</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Normalmente cerrado (si no se enclava esta en estado 1)</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pic>
        <p:nvPicPr>
          <p:cNvPr id="346" name="Google Shape;346;p32"/>
          <p:cNvPicPr preferRelativeResize="0"/>
          <p:nvPr/>
        </p:nvPicPr>
        <p:blipFill rotWithShape="1">
          <a:blip r:embed="rId3">
            <a:alphaModFix/>
          </a:blip>
          <a:srcRect t="5100" b="36005"/>
          <a:stretch/>
        </p:blipFill>
        <p:spPr>
          <a:xfrm>
            <a:off x="624769" y="629634"/>
            <a:ext cx="5730875" cy="4043965"/>
          </a:xfrm>
          <a:prstGeom prst="rect">
            <a:avLst/>
          </a:prstGeom>
          <a:noFill/>
          <a:ln>
            <a:noFill/>
          </a:ln>
        </p:spPr>
      </p:pic>
      <p:pic>
        <p:nvPicPr>
          <p:cNvPr id="347" name="Google Shape;347;p32"/>
          <p:cNvPicPr preferRelativeResize="0"/>
          <p:nvPr/>
        </p:nvPicPr>
        <p:blipFill rotWithShape="1">
          <a:blip r:embed="rId3">
            <a:alphaModFix/>
          </a:blip>
          <a:srcRect t="62844" r="49107"/>
          <a:stretch/>
        </p:blipFill>
        <p:spPr>
          <a:xfrm>
            <a:off x="5694956" y="1761065"/>
            <a:ext cx="2916637" cy="2551289"/>
          </a:xfrm>
          <a:prstGeom prst="rect">
            <a:avLst/>
          </a:prstGeom>
          <a:noFill/>
          <a:ln>
            <a:noFill/>
          </a:ln>
        </p:spPr>
      </p:pic>
      <p:sp>
        <p:nvSpPr>
          <p:cNvPr id="348" name="Google Shape;348;p32"/>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GRAFCET: Unidad de Ensamblaje</a:t>
            </a:r>
            <a:endParaRPr/>
          </a:p>
        </p:txBody>
      </p:sp>
      <p:cxnSp>
        <p:nvCxnSpPr>
          <p:cNvPr id="349" name="Google Shape;349;p32"/>
          <p:cNvCxnSpPr/>
          <p:nvPr/>
        </p:nvCxnSpPr>
        <p:spPr>
          <a:xfrm rot="10800000" flipH="1">
            <a:off x="1490133" y="1761199"/>
            <a:ext cx="5091300" cy="2912400"/>
          </a:xfrm>
          <a:prstGeom prst="bentConnector3">
            <a:avLst>
              <a:gd name="adj1" fmla="val 81042"/>
            </a:avLst>
          </a:prstGeom>
          <a:noFill/>
          <a:ln w="9525" cap="flat" cmpd="sng">
            <a:solidFill>
              <a:srgbClr val="565656"/>
            </a:solidFill>
            <a:prstDash val="solid"/>
            <a:round/>
            <a:headEnd type="none" w="sm" len="sm"/>
            <a:tailEnd type="none" w="sm" len="sm"/>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3"/>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GRAFCET: Unidad de Procesamiento</a:t>
            </a:r>
            <a:endParaRPr/>
          </a:p>
        </p:txBody>
      </p:sp>
      <p:cxnSp>
        <p:nvCxnSpPr>
          <p:cNvPr id="355" name="Google Shape;355;p33"/>
          <p:cNvCxnSpPr/>
          <p:nvPr/>
        </p:nvCxnSpPr>
        <p:spPr>
          <a:xfrm>
            <a:off x="4334933" y="4817464"/>
            <a:ext cx="1930401" cy="0"/>
          </a:xfrm>
          <a:prstGeom prst="straightConnector1">
            <a:avLst/>
          </a:prstGeom>
          <a:noFill/>
          <a:ln w="9525" cap="flat" cmpd="sng">
            <a:solidFill>
              <a:srgbClr val="565656"/>
            </a:solidFill>
            <a:prstDash val="solid"/>
            <a:round/>
            <a:headEnd type="none" w="sm" len="sm"/>
            <a:tailEnd type="none" w="sm" len="sm"/>
          </a:ln>
        </p:spPr>
      </p:cxnSp>
      <p:pic>
        <p:nvPicPr>
          <p:cNvPr id="356" name="Google Shape;356;p33"/>
          <p:cNvPicPr preferRelativeResize="0"/>
          <p:nvPr/>
        </p:nvPicPr>
        <p:blipFill rotWithShape="1">
          <a:blip r:embed="rId3">
            <a:alphaModFix/>
          </a:blip>
          <a:srcRect/>
          <a:stretch/>
        </p:blipFill>
        <p:spPr>
          <a:xfrm>
            <a:off x="672161" y="494168"/>
            <a:ext cx="5593173" cy="4649332"/>
          </a:xfrm>
          <a:prstGeom prst="rect">
            <a:avLst/>
          </a:prstGeom>
          <a:noFill/>
          <a:ln>
            <a:noFill/>
          </a:ln>
        </p:spPr>
      </p:pic>
      <p:pic>
        <p:nvPicPr>
          <p:cNvPr id="357" name="Google Shape;357;p33"/>
          <p:cNvPicPr preferRelativeResize="0"/>
          <p:nvPr/>
        </p:nvPicPr>
        <p:blipFill rotWithShape="1">
          <a:blip r:embed="rId4">
            <a:alphaModFix/>
          </a:blip>
          <a:srcRect/>
          <a:stretch/>
        </p:blipFill>
        <p:spPr>
          <a:xfrm>
            <a:off x="4637057" y="1633999"/>
            <a:ext cx="4113459" cy="2650924"/>
          </a:xfrm>
          <a:prstGeom prst="rect">
            <a:avLst/>
          </a:prstGeom>
          <a:noFill/>
          <a:ln w="28575" cap="flat" cmpd="sng">
            <a:solidFill>
              <a:srgbClr val="14285A"/>
            </a:solidFill>
            <a:prstDash val="solid"/>
            <a:round/>
            <a:headEnd type="none" w="sm" len="sm"/>
            <a:tailEnd type="none" w="sm" len="sm"/>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4"/>
          <p:cNvSpPr txBox="1"/>
          <p:nvPr/>
        </p:nvSpPr>
        <p:spPr>
          <a:xfrm>
            <a:off x="427611" y="-41032"/>
            <a:ext cx="7734255"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Nombres de referencia: Unidad de Procesamiento</a:t>
            </a:r>
            <a:endParaRPr/>
          </a:p>
        </p:txBody>
      </p:sp>
      <p:graphicFrame>
        <p:nvGraphicFramePr>
          <p:cNvPr id="363" name="Google Shape;363;p34"/>
          <p:cNvGraphicFramePr/>
          <p:nvPr/>
        </p:nvGraphicFramePr>
        <p:xfrm>
          <a:off x="819862" y="621758"/>
          <a:ext cx="3000000" cy="3000000"/>
        </p:xfrm>
        <a:graphic>
          <a:graphicData uri="http://schemas.openxmlformats.org/drawingml/2006/table">
            <a:tbl>
              <a:tblPr>
                <a:noFill/>
                <a:tableStyleId>{3FF80745-7821-485C-8F53-118708D8D5D8}</a:tableStyleId>
              </a:tblPr>
              <a:tblGrid>
                <a:gridCol w="3007850">
                  <a:extLst>
                    <a:ext uri="{9D8B030D-6E8A-4147-A177-3AD203B41FA5}">
                      <a16:colId xmlns:a16="http://schemas.microsoft.com/office/drawing/2014/main" val="20000"/>
                    </a:ext>
                  </a:extLst>
                </a:gridCol>
                <a:gridCol w="839975">
                  <a:extLst>
                    <a:ext uri="{9D8B030D-6E8A-4147-A177-3AD203B41FA5}">
                      <a16:colId xmlns:a16="http://schemas.microsoft.com/office/drawing/2014/main" val="20001"/>
                    </a:ext>
                  </a:extLst>
                </a:gridCol>
                <a:gridCol w="3656450">
                  <a:extLst>
                    <a:ext uri="{9D8B030D-6E8A-4147-A177-3AD203B41FA5}">
                      <a16:colId xmlns:a16="http://schemas.microsoft.com/office/drawing/2014/main" val="20002"/>
                    </a:ext>
                  </a:extLst>
                </a:gridCol>
              </a:tblGrid>
              <a:tr h="257150">
                <a:tc>
                  <a:txBody>
                    <a:bodyPr/>
                    <a:lstStyle/>
                    <a:p>
                      <a:pPr marL="0" marR="0" lvl="0" indent="0" algn="ctr" rtl="0">
                        <a:lnSpc>
                          <a:spcPct val="115000"/>
                        </a:lnSpc>
                        <a:spcBef>
                          <a:spcPts val="0"/>
                        </a:spcBef>
                        <a:spcAft>
                          <a:spcPts val="0"/>
                        </a:spcAft>
                        <a:buNone/>
                      </a:pPr>
                      <a:r>
                        <a:rPr lang="es-419" sz="1100" b="1" u="none" strike="noStrike" cap="none">
                          <a:solidFill>
                            <a:schemeClr val="lt1"/>
                          </a:solidFill>
                          <a:latin typeface="Arial"/>
                          <a:ea typeface="Arial"/>
                          <a:cs typeface="Arial"/>
                          <a:sym typeface="Arial"/>
                        </a:rPr>
                        <a:t>Sensor/actuador</a:t>
                      </a:r>
                      <a:endParaRPr sz="1100" u="none" strike="noStrike" cap="none">
                        <a:solidFill>
                          <a:schemeClr val="lt1"/>
                        </a:solidFill>
                        <a:latin typeface="Arial"/>
                        <a:ea typeface="Arial"/>
                        <a:cs typeface="Arial"/>
                        <a:sym typeface="Arial"/>
                      </a:endParaRPr>
                    </a:p>
                  </a:txBody>
                  <a:tcPr marL="63500" marR="63500" marT="63500" marB="63500">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latin typeface="Arial"/>
                          <a:ea typeface="Arial"/>
                          <a:cs typeface="Arial"/>
                          <a:sym typeface="Arial"/>
                        </a:rPr>
                        <a:t>Nombre </a:t>
                      </a:r>
                      <a:endParaRPr sz="1100" u="none" strike="noStrike" cap="none">
                        <a:solidFill>
                          <a:schemeClr val="lt1"/>
                        </a:solidFill>
                        <a:latin typeface="Arial"/>
                        <a:ea typeface="Arial"/>
                        <a:cs typeface="Arial"/>
                        <a:sym typeface="Arial"/>
                      </a:endParaRPr>
                    </a:p>
                  </a:txBody>
                  <a:tcPr marL="63500" marR="63500" marT="63500" marB="63500">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latin typeface="Arial"/>
                          <a:ea typeface="Arial"/>
                          <a:cs typeface="Arial"/>
                          <a:sym typeface="Arial"/>
                        </a:rPr>
                        <a:t>Comentario</a:t>
                      </a:r>
                      <a:endParaRPr sz="1100" u="none" strike="noStrike" cap="none">
                        <a:solidFill>
                          <a:schemeClr val="lt1"/>
                        </a:solidFill>
                        <a:latin typeface="Arial"/>
                        <a:ea typeface="Arial"/>
                        <a:cs typeface="Arial"/>
                        <a:sym typeface="Arial"/>
                      </a:endParaRPr>
                    </a:p>
                  </a:txBody>
                  <a:tcPr marL="63500" marR="63500" marT="63500" marB="63500">
                    <a:solidFill>
                      <a:srgbClr val="14285A"/>
                    </a:solidFill>
                  </a:tcPr>
                </a:tc>
                <a:extLst>
                  <a:ext uri="{0D108BD9-81ED-4DB2-BD59-A6C34878D82A}">
                    <a16:rowId xmlns:a16="http://schemas.microsoft.com/office/drawing/2014/main" val="10000"/>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Magnético del cilindro largo retraído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SM1</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indicador de retorno del cilindro largo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1"/>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Magnético del cilindro largo extendido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SM2</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indicador de extensión del cilindro largo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2"/>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Magnético de la pinza neumática</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SM3</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indicador del cierre de la pinza neumática </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3"/>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Magnético del cilindro corto retraído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SM4</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indicador de retorno del cilindro corto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4"/>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Magnético del cilindro corto extendido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SM5</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indicador de extensión del cilindro corto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5"/>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Fotoeléctrico para las piezas</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SF1</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indicador de la presencia de pieza</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6"/>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Selector de modo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SA</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Selecciona modo manual o modo automático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7"/>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Parada de Emergencia</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QS</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Detiene el proceso completamente</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8"/>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Pulsador de Marcha</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SB1</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Da inicio al proceso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9"/>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Pulsador de Paro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SB2</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Detiene el proceso momentáneamente</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10"/>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Lampara de señalizacion amarilla</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HL1</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Indica paro momentáneo o estado inicial</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11"/>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Lampara de señalización verde</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HL2</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Indica que la unidad está en ejecución</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12"/>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Lampara de señalización roja</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HL3</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Indica que el proceso ha sido detenido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5"/>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GRAFCET: Unidad de Selección</a:t>
            </a:r>
            <a:endParaRPr/>
          </a:p>
        </p:txBody>
      </p:sp>
      <p:pic>
        <p:nvPicPr>
          <p:cNvPr id="369" name="Google Shape;369;p35"/>
          <p:cNvPicPr preferRelativeResize="0"/>
          <p:nvPr/>
        </p:nvPicPr>
        <p:blipFill rotWithShape="1">
          <a:blip r:embed="rId3">
            <a:alphaModFix/>
          </a:blip>
          <a:srcRect t="5542"/>
          <a:stretch/>
        </p:blipFill>
        <p:spPr>
          <a:xfrm>
            <a:off x="713233" y="494168"/>
            <a:ext cx="4995545" cy="4545665"/>
          </a:xfrm>
          <a:prstGeom prst="rect">
            <a:avLst/>
          </a:prstGeom>
          <a:noFill/>
          <a:ln>
            <a:noFill/>
          </a:ln>
        </p:spPr>
      </p:pic>
      <p:pic>
        <p:nvPicPr>
          <p:cNvPr id="370" name="Google Shape;370;p35"/>
          <p:cNvPicPr preferRelativeResize="0"/>
          <p:nvPr/>
        </p:nvPicPr>
        <p:blipFill rotWithShape="1">
          <a:blip r:embed="rId4">
            <a:alphaModFix/>
          </a:blip>
          <a:srcRect/>
          <a:stretch/>
        </p:blipFill>
        <p:spPr>
          <a:xfrm>
            <a:off x="5718505" y="494169"/>
            <a:ext cx="2840704" cy="2077582"/>
          </a:xfrm>
          <a:prstGeom prst="rect">
            <a:avLst/>
          </a:prstGeom>
          <a:noFill/>
          <a:ln>
            <a:noFill/>
          </a:ln>
        </p:spPr>
      </p:pic>
      <p:pic>
        <p:nvPicPr>
          <p:cNvPr id="371" name="Google Shape;371;p35"/>
          <p:cNvPicPr preferRelativeResize="0"/>
          <p:nvPr/>
        </p:nvPicPr>
        <p:blipFill rotWithShape="1">
          <a:blip r:embed="rId5">
            <a:alphaModFix/>
          </a:blip>
          <a:srcRect/>
          <a:stretch/>
        </p:blipFill>
        <p:spPr>
          <a:xfrm>
            <a:off x="6424339" y="2699223"/>
            <a:ext cx="2134870" cy="234061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6"/>
          <p:cNvSpPr txBox="1"/>
          <p:nvPr/>
        </p:nvSpPr>
        <p:spPr>
          <a:xfrm>
            <a:off x="427611" y="-41032"/>
            <a:ext cx="7734255"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Nombres de referencia: Unidad de Selección</a:t>
            </a:r>
            <a:endParaRPr/>
          </a:p>
        </p:txBody>
      </p:sp>
      <p:graphicFrame>
        <p:nvGraphicFramePr>
          <p:cNvPr id="377" name="Google Shape;377;p36"/>
          <p:cNvGraphicFramePr/>
          <p:nvPr/>
        </p:nvGraphicFramePr>
        <p:xfrm>
          <a:off x="1068355" y="494168"/>
          <a:ext cx="3000000" cy="3000000"/>
        </p:xfrm>
        <a:graphic>
          <a:graphicData uri="http://schemas.openxmlformats.org/drawingml/2006/table">
            <a:tbl>
              <a:tblPr>
                <a:noFill/>
                <a:tableStyleId>{3FF80745-7821-485C-8F53-118708D8D5D8}</a:tableStyleId>
              </a:tblPr>
              <a:tblGrid>
                <a:gridCol w="2252900">
                  <a:extLst>
                    <a:ext uri="{9D8B030D-6E8A-4147-A177-3AD203B41FA5}">
                      <a16:colId xmlns:a16="http://schemas.microsoft.com/office/drawing/2014/main" val="20000"/>
                    </a:ext>
                  </a:extLst>
                </a:gridCol>
                <a:gridCol w="786800">
                  <a:extLst>
                    <a:ext uri="{9D8B030D-6E8A-4147-A177-3AD203B41FA5}">
                      <a16:colId xmlns:a16="http://schemas.microsoft.com/office/drawing/2014/main" val="20001"/>
                    </a:ext>
                  </a:extLst>
                </a:gridCol>
                <a:gridCol w="3413050">
                  <a:extLst>
                    <a:ext uri="{9D8B030D-6E8A-4147-A177-3AD203B41FA5}">
                      <a16:colId xmlns:a16="http://schemas.microsoft.com/office/drawing/2014/main" val="20002"/>
                    </a:ext>
                  </a:extLst>
                </a:gridCol>
              </a:tblGrid>
              <a:tr h="132600">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Sensor/actuador</a:t>
                      </a:r>
                      <a:endParaRPr sz="1100" b="1" u="none" strike="noStrike" cap="none">
                        <a:solidFill>
                          <a:schemeClr val="lt1"/>
                        </a:solidFill>
                        <a:latin typeface="Arial"/>
                        <a:ea typeface="Arial"/>
                        <a:cs typeface="Arial"/>
                        <a:sym typeface="Arial"/>
                      </a:endParaRPr>
                    </a:p>
                  </a:txBody>
                  <a:tcPr marL="26575" marR="26575" marT="26575" marB="26575">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Nombre </a:t>
                      </a:r>
                      <a:endParaRPr sz="1100" b="1" u="none" strike="noStrike" cap="none">
                        <a:solidFill>
                          <a:schemeClr val="lt1"/>
                        </a:solidFill>
                        <a:latin typeface="Arial"/>
                        <a:ea typeface="Arial"/>
                        <a:cs typeface="Arial"/>
                        <a:sym typeface="Arial"/>
                      </a:endParaRPr>
                    </a:p>
                  </a:txBody>
                  <a:tcPr marL="26575" marR="26575" marT="26575" marB="26575">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latin typeface="Arial"/>
                          <a:ea typeface="Arial"/>
                          <a:cs typeface="Arial"/>
                          <a:sym typeface="Arial"/>
                        </a:rPr>
                        <a:t>Descripción</a:t>
                      </a:r>
                      <a:endParaRPr sz="1100" b="1" u="none" strike="noStrike" cap="none">
                        <a:solidFill>
                          <a:schemeClr val="lt1"/>
                        </a:solidFill>
                        <a:latin typeface="Arial"/>
                        <a:ea typeface="Arial"/>
                        <a:cs typeface="Arial"/>
                        <a:sym typeface="Arial"/>
                      </a:endParaRPr>
                    </a:p>
                  </a:txBody>
                  <a:tcPr marL="26575" marR="26575" marT="26575" marB="26575">
                    <a:solidFill>
                      <a:srgbClr val="14285A"/>
                    </a:solidFill>
                  </a:tcPr>
                </a:tc>
                <a:extLst>
                  <a:ext uri="{0D108BD9-81ED-4DB2-BD59-A6C34878D82A}">
                    <a16:rowId xmlns:a16="http://schemas.microsoft.com/office/drawing/2014/main" val="10000"/>
                  </a:ext>
                </a:extLst>
              </a:tr>
              <a:tr h="2868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 Sensor de Objetos</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 SO</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Detecta la presencia de materiales en la unidad</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1"/>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Fotoeléctrico </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SI</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Ayuda en la selección del tipo de material </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2"/>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SM</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Ayuda en la selección del tipo de material </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3"/>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del cilindro 1</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S1</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indicador de retorno del cilindro</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4"/>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del cilindro 2</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S2</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indicador de retorno del cilindro</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5"/>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del cilindro 3</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S3</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indicador de retorno del cilindro</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6"/>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Selector </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SA</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Selecciona modo manual o modo automático</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7"/>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Parada de Emergencia</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QS</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Detiene el proceso completamente</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8"/>
                  </a:ext>
                </a:extLst>
              </a:tr>
              <a:tr h="1326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Pulsador de Marcha</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SBB1</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Da inicio al proceso</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9"/>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Pulsador de Paro</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SBB2</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Detiene el proceso momentáneamente</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0"/>
                  </a:ext>
                </a:extLst>
              </a:tr>
              <a:tr h="2868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Lampara de señalizacion amarilla</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HL1</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Indica paro momentáneo o estado inicial</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1"/>
                  </a:ext>
                </a:extLst>
              </a:tr>
              <a:tr h="2197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Lampara de señalización verde</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HL2</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Indica que la unidad está en ejecución</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2"/>
                  </a:ext>
                </a:extLst>
              </a:tr>
              <a:tr h="2197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Lampara de señalización roja</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HL3</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Indica que el proceso ha sido detenido</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3"/>
                  </a:ext>
                </a:extLst>
              </a:tr>
              <a:tr h="1326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Motor</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M</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Motor</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4"/>
                  </a:ext>
                </a:extLst>
              </a:tr>
              <a:tr h="1326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Neumático 1</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C_1</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1 </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5"/>
                  </a:ext>
                </a:extLst>
              </a:tr>
              <a:tr h="1326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Neumático 2</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C_2</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2</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6"/>
                  </a:ext>
                </a:extLst>
              </a:tr>
              <a:tr h="1326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Neumático 3</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C_3</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3</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7"/>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37"/>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GRAFCET: Unidad de Transporte</a:t>
            </a:r>
            <a:endParaRPr/>
          </a:p>
        </p:txBody>
      </p:sp>
      <p:pic>
        <p:nvPicPr>
          <p:cNvPr id="383" name="Google Shape;383;p37"/>
          <p:cNvPicPr preferRelativeResize="0"/>
          <p:nvPr/>
        </p:nvPicPr>
        <p:blipFill rotWithShape="1">
          <a:blip r:embed="rId3">
            <a:alphaModFix/>
          </a:blip>
          <a:srcRect t="2221" b="48911"/>
          <a:stretch/>
        </p:blipFill>
        <p:spPr>
          <a:xfrm>
            <a:off x="427613" y="494169"/>
            <a:ext cx="4844298" cy="4531643"/>
          </a:xfrm>
          <a:prstGeom prst="rect">
            <a:avLst/>
          </a:prstGeom>
          <a:noFill/>
          <a:ln>
            <a:noFill/>
          </a:ln>
        </p:spPr>
      </p:pic>
      <p:pic>
        <p:nvPicPr>
          <p:cNvPr id="384" name="Google Shape;384;p37"/>
          <p:cNvPicPr preferRelativeResize="0"/>
          <p:nvPr/>
        </p:nvPicPr>
        <p:blipFill rotWithShape="1">
          <a:blip r:embed="rId3">
            <a:alphaModFix/>
          </a:blip>
          <a:srcRect l="14543" t="48782" r="35225" b="448"/>
          <a:stretch/>
        </p:blipFill>
        <p:spPr>
          <a:xfrm>
            <a:off x="5994400" y="611857"/>
            <a:ext cx="2156179" cy="441395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8"/>
          <p:cNvSpPr txBox="1"/>
          <p:nvPr/>
        </p:nvSpPr>
        <p:spPr>
          <a:xfrm>
            <a:off x="427611" y="-41032"/>
            <a:ext cx="7734255"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Nombres de referencia: Unidad de Transporte</a:t>
            </a:r>
            <a:endParaRPr/>
          </a:p>
        </p:txBody>
      </p:sp>
      <p:graphicFrame>
        <p:nvGraphicFramePr>
          <p:cNvPr id="390" name="Google Shape;390;p38"/>
          <p:cNvGraphicFramePr/>
          <p:nvPr/>
        </p:nvGraphicFramePr>
        <p:xfrm>
          <a:off x="1087208" y="494168"/>
          <a:ext cx="3000000" cy="3000000"/>
        </p:xfrm>
        <a:graphic>
          <a:graphicData uri="http://schemas.openxmlformats.org/drawingml/2006/table">
            <a:tbl>
              <a:tblPr>
                <a:noFill/>
                <a:tableStyleId>{3FF80745-7821-485C-8F53-118708D8D5D8}</a:tableStyleId>
              </a:tblPr>
              <a:tblGrid>
                <a:gridCol w="3027600">
                  <a:extLst>
                    <a:ext uri="{9D8B030D-6E8A-4147-A177-3AD203B41FA5}">
                      <a16:colId xmlns:a16="http://schemas.microsoft.com/office/drawing/2014/main" val="20000"/>
                    </a:ext>
                  </a:extLst>
                </a:gridCol>
                <a:gridCol w="1414125">
                  <a:extLst>
                    <a:ext uri="{9D8B030D-6E8A-4147-A177-3AD203B41FA5}">
                      <a16:colId xmlns:a16="http://schemas.microsoft.com/office/drawing/2014/main" val="20001"/>
                    </a:ext>
                  </a:extLst>
                </a:gridCol>
                <a:gridCol w="2817625">
                  <a:extLst>
                    <a:ext uri="{9D8B030D-6E8A-4147-A177-3AD203B41FA5}">
                      <a16:colId xmlns:a16="http://schemas.microsoft.com/office/drawing/2014/main" val="20002"/>
                    </a:ext>
                  </a:extLst>
                </a:gridCol>
              </a:tblGrid>
              <a:tr h="203950">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Sensor/actuador</a:t>
                      </a:r>
                      <a:endParaRPr sz="1100" b="1" u="none" strike="noStrike" cap="none">
                        <a:solidFill>
                          <a:schemeClr val="lt1"/>
                        </a:solidFill>
                        <a:latin typeface="Arial"/>
                        <a:ea typeface="Arial"/>
                        <a:cs typeface="Arial"/>
                        <a:sym typeface="Arial"/>
                      </a:endParaRPr>
                    </a:p>
                  </a:txBody>
                  <a:tcPr marL="23400" marR="23400" marT="23400" marB="23400">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Nombre </a:t>
                      </a:r>
                      <a:endParaRPr sz="1100" b="1" u="none" strike="noStrike" cap="none">
                        <a:solidFill>
                          <a:schemeClr val="lt1"/>
                        </a:solidFill>
                        <a:latin typeface="Arial"/>
                        <a:ea typeface="Arial"/>
                        <a:cs typeface="Arial"/>
                        <a:sym typeface="Arial"/>
                      </a:endParaRPr>
                    </a:p>
                  </a:txBody>
                  <a:tcPr marL="23400" marR="23400" marT="23400" marB="23400">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Descripción</a:t>
                      </a:r>
                      <a:endParaRPr sz="1100" b="1" u="none" strike="noStrike" cap="none">
                        <a:solidFill>
                          <a:schemeClr val="lt1"/>
                        </a:solidFill>
                        <a:latin typeface="Arial"/>
                        <a:ea typeface="Arial"/>
                        <a:cs typeface="Arial"/>
                        <a:sym typeface="Arial"/>
                      </a:endParaRPr>
                    </a:p>
                  </a:txBody>
                  <a:tcPr marL="23400" marR="23400" marT="23400" marB="23400">
                    <a:solidFill>
                      <a:srgbClr val="14285A"/>
                    </a:solidFill>
                  </a:tcPr>
                </a:tc>
                <a:extLst>
                  <a:ext uri="{0D108BD9-81ED-4DB2-BD59-A6C34878D82A}">
                    <a16:rowId xmlns:a16="http://schemas.microsoft.com/office/drawing/2014/main" val="10000"/>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rotatorio antihorario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anti_horario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anti_horario=1(giro antihorario)**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1"/>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rotatorio 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horario=1 (giro 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2"/>
                  </a:ext>
                </a:extLst>
              </a:tr>
              <a:tr h="2243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neumático doble</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cil_doble</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1 (extendido) / 0 (retraido)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3"/>
                  </a:ext>
                </a:extLst>
              </a:tr>
              <a:tr h="219125">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neumático de elevación</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elevacion</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1 (extendido) / 0 (retraido)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4"/>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 neumática cerrada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pinza_cerrada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pinza_cerrada=1(pinza se cierra)**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5"/>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 neumática abierta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pinza_abierto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pinza_abierto=1(pinza se abre)**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6"/>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de cil_doble (extendido)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CIL_RET</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7"/>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de cil_doble (extendido)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CIL_EXT</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8"/>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de giro antihorario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ROT_IZQU</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9"/>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de giro 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ROT_DER</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0"/>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elevacion (extendido)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CIL_ARRIBA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1"/>
                  </a:ext>
                </a:extLst>
              </a:tr>
              <a:tr h="2097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elevacion (retraído)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CIL_ABAJO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20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2"/>
                  </a:ext>
                </a:extLst>
              </a:tr>
              <a:tr h="2097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 neumátical</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PINZA_CERRADA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20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3"/>
                  </a:ext>
                </a:extLst>
              </a:tr>
              <a:tr h="2097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Final de carrera (final de recorrido)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FIN_CARR_IZQ</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20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4"/>
                  </a:ext>
                </a:extLst>
              </a:tr>
              <a:tr h="2097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Final de carrera (inicio de recorrido)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FIN_CARR_DER</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20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5"/>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Pulsadores</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s-419" sz="1100" u="none" strike="noStrike" cap="none">
                          <a:solidFill>
                            <a:schemeClr val="dk2"/>
                          </a:solidFill>
                        </a:rPr>
                        <a:t>SB1, SB2</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Pulsadores verde y rojo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6"/>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Selector</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7"/>
                  </a:ext>
                </a:extLst>
              </a:tr>
              <a:tr h="225225">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Pilotos de señalización</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HL1, HL2, HL3</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Lámparas amarilla, verde y roja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8"/>
                  </a:ext>
                </a:extLst>
              </a:tr>
              <a:tr h="287075">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Seta de emergencia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QS</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Normalmente cerrado (no enclavado esta en 1)</a:t>
                      </a:r>
                      <a:endParaRPr sz="105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9"/>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9"/>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s-419"/>
              <a:t>LADEER Y SIMULACIÓN</a:t>
            </a:r>
            <a:endParaRPr b="0"/>
          </a:p>
        </p:txBody>
      </p:sp>
      <p:sp>
        <p:nvSpPr>
          <p:cNvPr id="396" name="Google Shape;396;p39"/>
          <p:cNvSpPr txBox="1">
            <a:spLocks noGrp="1"/>
          </p:cNvSpPr>
          <p:nvPr>
            <p:ph type="subTitle" idx="1"/>
          </p:nvPr>
        </p:nvSpPr>
        <p:spPr>
          <a:xfrm>
            <a:off x="729627" y="3172900"/>
            <a:ext cx="3123045" cy="541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40"/>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LADDER: Unidad de Alimentación</a:t>
            </a:r>
            <a:endParaRPr/>
          </a:p>
        </p:txBody>
      </p:sp>
      <p:pic>
        <p:nvPicPr>
          <p:cNvPr id="402" name="Google Shape;402;p40"/>
          <p:cNvPicPr preferRelativeResize="0"/>
          <p:nvPr/>
        </p:nvPicPr>
        <p:blipFill rotWithShape="1">
          <a:blip r:embed="rId3">
            <a:alphaModFix/>
          </a:blip>
          <a:srcRect/>
          <a:stretch/>
        </p:blipFill>
        <p:spPr>
          <a:xfrm>
            <a:off x="484316" y="1162690"/>
            <a:ext cx="2726690" cy="2585085"/>
          </a:xfrm>
          <a:prstGeom prst="rect">
            <a:avLst/>
          </a:prstGeom>
          <a:noFill/>
          <a:ln>
            <a:noFill/>
          </a:ln>
        </p:spPr>
      </p:pic>
      <p:pic>
        <p:nvPicPr>
          <p:cNvPr id="403" name="Google Shape;403;p40"/>
          <p:cNvPicPr preferRelativeResize="0"/>
          <p:nvPr/>
        </p:nvPicPr>
        <p:blipFill rotWithShape="1">
          <a:blip r:embed="rId4">
            <a:alphaModFix/>
          </a:blip>
          <a:srcRect/>
          <a:stretch/>
        </p:blipFill>
        <p:spPr>
          <a:xfrm>
            <a:off x="3413125" y="438544"/>
            <a:ext cx="5730875" cy="470495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1"/>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Simulación: Unidad de Alimentación</a:t>
            </a:r>
            <a:endParaRPr/>
          </a:p>
        </p:txBody>
      </p:sp>
      <p:pic>
        <p:nvPicPr>
          <p:cNvPr id="409" name="Google Shape;409;p41"/>
          <p:cNvPicPr preferRelativeResize="0"/>
          <p:nvPr/>
        </p:nvPicPr>
        <p:blipFill rotWithShape="1">
          <a:blip r:embed="rId3">
            <a:alphaModFix/>
          </a:blip>
          <a:srcRect/>
          <a:stretch/>
        </p:blipFill>
        <p:spPr>
          <a:xfrm>
            <a:off x="0" y="1508479"/>
            <a:ext cx="5072379" cy="2434766"/>
          </a:xfrm>
          <a:prstGeom prst="rect">
            <a:avLst/>
          </a:prstGeom>
          <a:noFill/>
          <a:ln>
            <a:noFill/>
          </a:ln>
        </p:spPr>
      </p:pic>
      <p:pic>
        <p:nvPicPr>
          <p:cNvPr id="410" name="Google Shape;410;p41"/>
          <p:cNvPicPr preferRelativeResize="0"/>
          <p:nvPr/>
        </p:nvPicPr>
        <p:blipFill rotWithShape="1">
          <a:blip r:embed="rId4">
            <a:alphaModFix/>
          </a:blip>
          <a:srcRect/>
          <a:stretch/>
        </p:blipFill>
        <p:spPr>
          <a:xfrm>
            <a:off x="5159022" y="1508479"/>
            <a:ext cx="3984978" cy="3489078"/>
          </a:xfrm>
          <a:prstGeom prst="rect">
            <a:avLst/>
          </a:prstGeom>
          <a:noFill/>
          <a:ln>
            <a:noFill/>
          </a:ln>
        </p:spPr>
      </p:pic>
      <p:sp>
        <p:nvSpPr>
          <p:cNvPr id="411" name="Google Shape;411;p41"/>
          <p:cNvSpPr txBox="1">
            <a:spLocks noGrp="1"/>
          </p:cNvSpPr>
          <p:nvPr>
            <p:ph type="body" idx="1"/>
          </p:nvPr>
        </p:nvSpPr>
        <p:spPr>
          <a:xfrm>
            <a:off x="427612" y="515777"/>
            <a:ext cx="8128000" cy="723760"/>
          </a:xfrm>
          <a:prstGeom prst="rect">
            <a:avLst/>
          </a:prstGeom>
          <a:solidFill>
            <a:schemeClr val="lt1"/>
          </a:solidFill>
          <a:ln>
            <a:noFill/>
          </a:ln>
        </p:spPr>
        <p:txBody>
          <a:bodyPr spcFirstLastPara="1" wrap="square" lIns="91425" tIns="91425" rIns="91425" bIns="91425" anchor="t" anchorCtr="0">
            <a:noAutofit/>
          </a:bodyPr>
          <a:lstStyle/>
          <a:p>
            <a:pPr marL="146050" lvl="0" indent="0" algn="just" rtl="0">
              <a:lnSpc>
                <a:spcPct val="100000"/>
              </a:lnSpc>
              <a:spcBef>
                <a:spcPts val="0"/>
              </a:spcBef>
              <a:spcAft>
                <a:spcPts val="0"/>
              </a:spcAft>
              <a:buSzPts val="1300"/>
              <a:buNone/>
            </a:pPr>
            <a:r>
              <a:rPr lang="es-419" sz="1800">
                <a:solidFill>
                  <a:schemeClr val="dk2"/>
                </a:solidFill>
                <a:latin typeface="Cambria"/>
                <a:ea typeface="Cambria"/>
                <a:cs typeface="Cambria"/>
                <a:sym typeface="Cambria"/>
              </a:rPr>
              <a:t>Para la simulación se utilizará PC SIMU, esto nos permitirá validar que el programa siga la secuencia del esquema GRAFCET: </a:t>
            </a:r>
            <a:endParaRPr sz="1800">
              <a:solidFill>
                <a:schemeClr val="dk2"/>
              </a:solidFill>
              <a:latin typeface="Cambria"/>
              <a:ea typeface="Cambria"/>
              <a:cs typeface="Cambria"/>
              <a:sym typeface="Cambria"/>
            </a:endParaRPr>
          </a:p>
          <a:p>
            <a:pPr marL="146050" lvl="0" indent="0" algn="l" rtl="0">
              <a:lnSpc>
                <a:spcPct val="100000"/>
              </a:lnSpc>
              <a:spcBef>
                <a:spcPts val="0"/>
              </a:spcBef>
              <a:spcAft>
                <a:spcPts val="0"/>
              </a:spcAft>
              <a:buSzPts val="1300"/>
              <a:buNone/>
            </a:pPr>
            <a:endParaRPr sz="1600">
              <a:solidFill>
                <a:schemeClr val="dk2"/>
              </a:solidFill>
              <a:latin typeface="Cambria"/>
              <a:ea typeface="Cambria"/>
              <a:cs typeface="Cambria"/>
              <a:sym typeface="Cambri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42"/>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LADDER: Unidad de Ensamblaje</a:t>
            </a:r>
            <a:endParaRPr/>
          </a:p>
        </p:txBody>
      </p:sp>
      <p:pic>
        <p:nvPicPr>
          <p:cNvPr id="417" name="Google Shape;417;p42"/>
          <p:cNvPicPr preferRelativeResize="0"/>
          <p:nvPr/>
        </p:nvPicPr>
        <p:blipFill rotWithShape="1">
          <a:blip r:embed="rId3">
            <a:alphaModFix/>
          </a:blip>
          <a:srcRect/>
          <a:stretch/>
        </p:blipFill>
        <p:spPr>
          <a:xfrm>
            <a:off x="4158474" y="494168"/>
            <a:ext cx="4749300" cy="4538341"/>
          </a:xfrm>
          <a:prstGeom prst="rect">
            <a:avLst/>
          </a:prstGeom>
          <a:noFill/>
          <a:ln>
            <a:noFill/>
          </a:ln>
        </p:spPr>
      </p:pic>
      <p:pic>
        <p:nvPicPr>
          <p:cNvPr id="418" name="Google Shape;418;p42"/>
          <p:cNvPicPr preferRelativeResize="0"/>
          <p:nvPr/>
        </p:nvPicPr>
        <p:blipFill rotWithShape="1">
          <a:blip r:embed="rId4">
            <a:alphaModFix/>
          </a:blip>
          <a:srcRect l="9136" t="58194" r="46842" b="14100"/>
          <a:stretch/>
        </p:blipFill>
        <p:spPr>
          <a:xfrm>
            <a:off x="592972" y="1168082"/>
            <a:ext cx="3152140" cy="280733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43"/>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Simulación: Unidad de Ensamblaje</a:t>
            </a:r>
            <a:endParaRPr/>
          </a:p>
        </p:txBody>
      </p:sp>
      <p:sp>
        <p:nvSpPr>
          <p:cNvPr id="424" name="Google Shape;424;p43"/>
          <p:cNvSpPr txBox="1">
            <a:spLocks noGrp="1"/>
          </p:cNvSpPr>
          <p:nvPr>
            <p:ph type="body" idx="1"/>
          </p:nvPr>
        </p:nvSpPr>
        <p:spPr>
          <a:xfrm>
            <a:off x="427612" y="515777"/>
            <a:ext cx="8128000" cy="723760"/>
          </a:xfrm>
          <a:prstGeom prst="rect">
            <a:avLst/>
          </a:prstGeom>
          <a:solidFill>
            <a:schemeClr val="lt1"/>
          </a:solidFill>
          <a:ln>
            <a:noFill/>
          </a:ln>
        </p:spPr>
        <p:txBody>
          <a:bodyPr spcFirstLastPara="1" wrap="square" lIns="91425" tIns="91425" rIns="91425" bIns="91425" anchor="t" anchorCtr="0">
            <a:noAutofit/>
          </a:bodyPr>
          <a:lstStyle/>
          <a:p>
            <a:pPr marL="146050" lvl="0" indent="0" algn="just" rtl="0">
              <a:lnSpc>
                <a:spcPct val="100000"/>
              </a:lnSpc>
              <a:spcBef>
                <a:spcPts val="0"/>
              </a:spcBef>
              <a:spcAft>
                <a:spcPts val="0"/>
              </a:spcAft>
              <a:buSzPts val="1300"/>
              <a:buNone/>
            </a:pPr>
            <a:r>
              <a:rPr lang="es-419" sz="1800">
                <a:solidFill>
                  <a:schemeClr val="dk2"/>
                </a:solidFill>
                <a:latin typeface="Cambria"/>
                <a:ea typeface="Cambria"/>
                <a:cs typeface="Cambria"/>
                <a:sym typeface="Cambria"/>
              </a:rPr>
              <a:t>Para la simulación se utilizará PC SIMU, esto nos permitirá validar que el programa siga la secuencia del esquema GRAFCET: </a:t>
            </a:r>
            <a:endParaRPr sz="1800">
              <a:solidFill>
                <a:schemeClr val="dk2"/>
              </a:solidFill>
              <a:latin typeface="Cambria"/>
              <a:ea typeface="Cambria"/>
              <a:cs typeface="Cambria"/>
              <a:sym typeface="Cambria"/>
            </a:endParaRPr>
          </a:p>
          <a:p>
            <a:pPr marL="146050" lvl="0" indent="0" algn="l" rtl="0">
              <a:lnSpc>
                <a:spcPct val="100000"/>
              </a:lnSpc>
              <a:spcBef>
                <a:spcPts val="0"/>
              </a:spcBef>
              <a:spcAft>
                <a:spcPts val="0"/>
              </a:spcAft>
              <a:buSzPts val="1300"/>
              <a:buNone/>
            </a:pPr>
            <a:endParaRPr sz="1600">
              <a:solidFill>
                <a:schemeClr val="dk2"/>
              </a:solidFill>
              <a:latin typeface="Cambria"/>
              <a:ea typeface="Cambria"/>
              <a:cs typeface="Cambria"/>
              <a:sym typeface="Cambria"/>
            </a:endParaRPr>
          </a:p>
        </p:txBody>
      </p:sp>
      <p:pic>
        <p:nvPicPr>
          <p:cNvPr id="425" name="Google Shape;425;p43"/>
          <p:cNvPicPr preferRelativeResize="0"/>
          <p:nvPr/>
        </p:nvPicPr>
        <p:blipFill rotWithShape="1">
          <a:blip r:embed="rId3">
            <a:alphaModFix/>
          </a:blip>
          <a:srcRect/>
          <a:stretch/>
        </p:blipFill>
        <p:spPr>
          <a:xfrm>
            <a:off x="1" y="1473905"/>
            <a:ext cx="5305778" cy="2511073"/>
          </a:xfrm>
          <a:prstGeom prst="rect">
            <a:avLst/>
          </a:prstGeom>
          <a:noFill/>
          <a:ln>
            <a:noFill/>
          </a:ln>
        </p:spPr>
      </p:pic>
      <p:pic>
        <p:nvPicPr>
          <p:cNvPr id="426" name="Google Shape;426;p43"/>
          <p:cNvPicPr preferRelativeResize="0"/>
          <p:nvPr/>
        </p:nvPicPr>
        <p:blipFill rotWithShape="1">
          <a:blip r:embed="rId4">
            <a:alphaModFix/>
          </a:blip>
          <a:srcRect/>
          <a:stretch/>
        </p:blipFill>
        <p:spPr>
          <a:xfrm>
            <a:off x="5305779" y="1569986"/>
            <a:ext cx="3838221" cy="241499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4"/>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LADDER: Unidad de Procesamiento</a:t>
            </a:r>
            <a:endParaRPr/>
          </a:p>
        </p:txBody>
      </p:sp>
      <p:pic>
        <p:nvPicPr>
          <p:cNvPr id="432" name="Google Shape;432;p44"/>
          <p:cNvPicPr preferRelativeResize="0"/>
          <p:nvPr/>
        </p:nvPicPr>
        <p:blipFill rotWithShape="1">
          <a:blip r:embed="rId3">
            <a:alphaModFix/>
          </a:blip>
          <a:srcRect l="22923" t="16594" r="32391" b="23795"/>
          <a:stretch/>
        </p:blipFill>
        <p:spPr>
          <a:xfrm>
            <a:off x="4391247" y="717452"/>
            <a:ext cx="4455270" cy="3992772"/>
          </a:xfrm>
          <a:prstGeom prst="rect">
            <a:avLst/>
          </a:prstGeom>
          <a:noFill/>
          <a:ln>
            <a:noFill/>
          </a:ln>
        </p:spPr>
      </p:pic>
      <p:pic>
        <p:nvPicPr>
          <p:cNvPr id="433" name="Google Shape;433;p44"/>
          <p:cNvPicPr preferRelativeResize="0"/>
          <p:nvPr/>
        </p:nvPicPr>
        <p:blipFill rotWithShape="1">
          <a:blip r:embed="rId4">
            <a:alphaModFix/>
          </a:blip>
          <a:srcRect l="22093" t="17108" r="32059" b="6919"/>
          <a:stretch/>
        </p:blipFill>
        <p:spPr>
          <a:xfrm>
            <a:off x="297483" y="914400"/>
            <a:ext cx="4093764" cy="351164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5"/>
          <p:cNvSpPr txBox="1"/>
          <p:nvPr/>
        </p:nvSpPr>
        <p:spPr>
          <a:xfrm>
            <a:off x="427612" y="-41032"/>
            <a:ext cx="5995766"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Simulación : Unidad de Procesamiento</a:t>
            </a:r>
            <a:endParaRPr/>
          </a:p>
        </p:txBody>
      </p:sp>
      <p:sp>
        <p:nvSpPr>
          <p:cNvPr id="439" name="Google Shape;439;p45"/>
          <p:cNvSpPr txBox="1">
            <a:spLocks noGrp="1"/>
          </p:cNvSpPr>
          <p:nvPr>
            <p:ph type="body" idx="1"/>
          </p:nvPr>
        </p:nvSpPr>
        <p:spPr>
          <a:xfrm>
            <a:off x="427612" y="515777"/>
            <a:ext cx="8128000" cy="723760"/>
          </a:xfrm>
          <a:prstGeom prst="rect">
            <a:avLst/>
          </a:prstGeom>
          <a:solidFill>
            <a:schemeClr val="lt1"/>
          </a:solidFill>
          <a:ln>
            <a:noFill/>
          </a:ln>
        </p:spPr>
        <p:txBody>
          <a:bodyPr spcFirstLastPara="1" wrap="square" lIns="91425" tIns="91425" rIns="91425" bIns="91425" anchor="t" anchorCtr="0">
            <a:noAutofit/>
          </a:bodyPr>
          <a:lstStyle/>
          <a:p>
            <a:pPr marL="146050" lvl="0" indent="0" algn="just" rtl="0">
              <a:lnSpc>
                <a:spcPct val="100000"/>
              </a:lnSpc>
              <a:spcBef>
                <a:spcPts val="0"/>
              </a:spcBef>
              <a:spcAft>
                <a:spcPts val="0"/>
              </a:spcAft>
              <a:buSzPts val="1300"/>
              <a:buNone/>
            </a:pPr>
            <a:r>
              <a:rPr lang="es-419" sz="1800">
                <a:solidFill>
                  <a:schemeClr val="dk2"/>
                </a:solidFill>
                <a:latin typeface="Cambria"/>
                <a:ea typeface="Cambria"/>
                <a:cs typeface="Cambria"/>
                <a:sym typeface="Cambria"/>
              </a:rPr>
              <a:t>Para la simulación se utilizará PC SIMU, esto nos permitirá validar que el programa siga la secuencia del esquema GRAFCET: </a:t>
            </a:r>
            <a:endParaRPr sz="1800">
              <a:solidFill>
                <a:schemeClr val="dk2"/>
              </a:solidFill>
              <a:latin typeface="Cambria"/>
              <a:ea typeface="Cambria"/>
              <a:cs typeface="Cambria"/>
              <a:sym typeface="Cambria"/>
            </a:endParaRPr>
          </a:p>
          <a:p>
            <a:pPr marL="146050" lvl="0" indent="0" algn="l" rtl="0">
              <a:lnSpc>
                <a:spcPct val="100000"/>
              </a:lnSpc>
              <a:spcBef>
                <a:spcPts val="0"/>
              </a:spcBef>
              <a:spcAft>
                <a:spcPts val="0"/>
              </a:spcAft>
              <a:buSzPts val="1300"/>
              <a:buNone/>
            </a:pPr>
            <a:endParaRPr sz="1600">
              <a:solidFill>
                <a:schemeClr val="dk2"/>
              </a:solidFill>
              <a:latin typeface="Cambria"/>
              <a:ea typeface="Cambria"/>
              <a:cs typeface="Cambria"/>
              <a:sym typeface="Cambria"/>
            </a:endParaRPr>
          </a:p>
        </p:txBody>
      </p:sp>
      <p:pic>
        <p:nvPicPr>
          <p:cNvPr id="440" name="Google Shape;440;p45"/>
          <p:cNvPicPr preferRelativeResize="0"/>
          <p:nvPr/>
        </p:nvPicPr>
        <p:blipFill rotWithShape="1">
          <a:blip r:embed="rId3">
            <a:alphaModFix/>
          </a:blip>
          <a:srcRect/>
          <a:stretch/>
        </p:blipFill>
        <p:spPr>
          <a:xfrm>
            <a:off x="0" y="1473200"/>
            <a:ext cx="5591175" cy="2197100"/>
          </a:xfrm>
          <a:prstGeom prst="rect">
            <a:avLst/>
          </a:prstGeom>
          <a:noFill/>
          <a:ln>
            <a:noFill/>
          </a:ln>
        </p:spPr>
      </p:pic>
      <p:pic>
        <p:nvPicPr>
          <p:cNvPr id="441" name="Google Shape;441;p45"/>
          <p:cNvPicPr preferRelativeResize="0"/>
          <p:nvPr/>
        </p:nvPicPr>
        <p:blipFill rotWithShape="1">
          <a:blip r:embed="rId4">
            <a:alphaModFix/>
          </a:blip>
          <a:srcRect/>
          <a:stretch/>
        </p:blipFill>
        <p:spPr>
          <a:xfrm>
            <a:off x="5591175" y="877657"/>
            <a:ext cx="3552825" cy="39147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LADDER: Unidad de Selección</a:t>
            </a:r>
            <a:endParaRPr/>
          </a:p>
        </p:txBody>
      </p:sp>
      <p:pic>
        <p:nvPicPr>
          <p:cNvPr id="447" name="Google Shape;447;p46"/>
          <p:cNvPicPr preferRelativeResize="0"/>
          <p:nvPr/>
        </p:nvPicPr>
        <p:blipFill rotWithShape="1">
          <a:blip r:embed="rId3">
            <a:alphaModFix/>
          </a:blip>
          <a:srcRect/>
          <a:stretch/>
        </p:blipFill>
        <p:spPr>
          <a:xfrm>
            <a:off x="3523143" y="494168"/>
            <a:ext cx="5394585" cy="2568009"/>
          </a:xfrm>
          <a:prstGeom prst="rect">
            <a:avLst/>
          </a:prstGeom>
          <a:noFill/>
          <a:ln>
            <a:noFill/>
          </a:ln>
        </p:spPr>
      </p:pic>
      <p:pic>
        <p:nvPicPr>
          <p:cNvPr id="448" name="Google Shape;448;p46"/>
          <p:cNvPicPr preferRelativeResize="0"/>
          <p:nvPr/>
        </p:nvPicPr>
        <p:blipFill rotWithShape="1">
          <a:blip r:embed="rId4">
            <a:alphaModFix/>
          </a:blip>
          <a:srcRect/>
          <a:stretch/>
        </p:blipFill>
        <p:spPr>
          <a:xfrm>
            <a:off x="3520154" y="3040911"/>
            <a:ext cx="5394585" cy="1977386"/>
          </a:xfrm>
          <a:prstGeom prst="rect">
            <a:avLst/>
          </a:prstGeom>
          <a:noFill/>
          <a:ln>
            <a:noFill/>
          </a:ln>
        </p:spPr>
      </p:pic>
      <p:pic>
        <p:nvPicPr>
          <p:cNvPr id="449" name="Google Shape;449;p46"/>
          <p:cNvPicPr preferRelativeResize="0"/>
          <p:nvPr/>
        </p:nvPicPr>
        <p:blipFill rotWithShape="1">
          <a:blip r:embed="rId5">
            <a:alphaModFix/>
          </a:blip>
          <a:srcRect/>
          <a:stretch/>
        </p:blipFill>
        <p:spPr>
          <a:xfrm>
            <a:off x="226272" y="754910"/>
            <a:ext cx="3219450" cy="417859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7"/>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Simulación : Unidad de Selección</a:t>
            </a:r>
            <a:endParaRPr/>
          </a:p>
        </p:txBody>
      </p:sp>
      <p:sp>
        <p:nvSpPr>
          <p:cNvPr id="455" name="Google Shape;455;p47"/>
          <p:cNvSpPr txBox="1">
            <a:spLocks noGrp="1"/>
          </p:cNvSpPr>
          <p:nvPr>
            <p:ph type="body" idx="1"/>
          </p:nvPr>
        </p:nvSpPr>
        <p:spPr>
          <a:xfrm>
            <a:off x="427612" y="515777"/>
            <a:ext cx="8128000" cy="723760"/>
          </a:xfrm>
          <a:prstGeom prst="rect">
            <a:avLst/>
          </a:prstGeom>
          <a:solidFill>
            <a:schemeClr val="lt1"/>
          </a:solidFill>
          <a:ln>
            <a:noFill/>
          </a:ln>
        </p:spPr>
        <p:txBody>
          <a:bodyPr spcFirstLastPara="1" wrap="square" lIns="91425" tIns="91425" rIns="91425" bIns="91425" anchor="t" anchorCtr="0">
            <a:noAutofit/>
          </a:bodyPr>
          <a:lstStyle/>
          <a:p>
            <a:pPr marL="146050" lvl="0" indent="0" algn="just" rtl="0">
              <a:lnSpc>
                <a:spcPct val="100000"/>
              </a:lnSpc>
              <a:spcBef>
                <a:spcPts val="0"/>
              </a:spcBef>
              <a:spcAft>
                <a:spcPts val="0"/>
              </a:spcAft>
              <a:buSzPts val="1300"/>
              <a:buNone/>
            </a:pPr>
            <a:r>
              <a:rPr lang="es-419" sz="1800">
                <a:solidFill>
                  <a:schemeClr val="dk2"/>
                </a:solidFill>
                <a:latin typeface="Cambria"/>
                <a:ea typeface="Cambria"/>
                <a:cs typeface="Cambria"/>
                <a:sym typeface="Cambria"/>
              </a:rPr>
              <a:t>Para la simulación se utilizará PC SIMU, esto nos permitirá validar que el programa siga la secuencia del esquema GRAFCET: </a:t>
            </a:r>
            <a:endParaRPr sz="1800">
              <a:solidFill>
                <a:schemeClr val="dk2"/>
              </a:solidFill>
              <a:latin typeface="Cambria"/>
              <a:ea typeface="Cambria"/>
              <a:cs typeface="Cambria"/>
              <a:sym typeface="Cambria"/>
            </a:endParaRPr>
          </a:p>
          <a:p>
            <a:pPr marL="146050" lvl="0" indent="0" algn="l" rtl="0">
              <a:lnSpc>
                <a:spcPct val="100000"/>
              </a:lnSpc>
              <a:spcBef>
                <a:spcPts val="0"/>
              </a:spcBef>
              <a:spcAft>
                <a:spcPts val="0"/>
              </a:spcAft>
              <a:buSzPts val="1300"/>
              <a:buNone/>
            </a:pPr>
            <a:endParaRPr sz="1600">
              <a:solidFill>
                <a:schemeClr val="dk2"/>
              </a:solidFill>
              <a:latin typeface="Cambria"/>
              <a:ea typeface="Cambria"/>
              <a:cs typeface="Cambria"/>
              <a:sym typeface="Cambria"/>
            </a:endParaRPr>
          </a:p>
        </p:txBody>
      </p:sp>
      <p:pic>
        <p:nvPicPr>
          <p:cNvPr id="456" name="Google Shape;456;p47"/>
          <p:cNvPicPr preferRelativeResize="0"/>
          <p:nvPr/>
        </p:nvPicPr>
        <p:blipFill rotWithShape="1">
          <a:blip r:embed="rId3">
            <a:alphaModFix/>
          </a:blip>
          <a:srcRect/>
          <a:stretch/>
        </p:blipFill>
        <p:spPr>
          <a:xfrm>
            <a:off x="0" y="1494895"/>
            <a:ext cx="5566788" cy="2561026"/>
          </a:xfrm>
          <a:prstGeom prst="rect">
            <a:avLst/>
          </a:prstGeom>
          <a:noFill/>
          <a:ln>
            <a:noFill/>
          </a:ln>
        </p:spPr>
      </p:pic>
      <p:pic>
        <p:nvPicPr>
          <p:cNvPr id="457" name="Google Shape;457;p47"/>
          <p:cNvPicPr preferRelativeResize="0"/>
          <p:nvPr/>
        </p:nvPicPr>
        <p:blipFill rotWithShape="1">
          <a:blip r:embed="rId4">
            <a:alphaModFix/>
          </a:blip>
          <a:srcRect/>
          <a:stretch/>
        </p:blipFill>
        <p:spPr>
          <a:xfrm>
            <a:off x="5531556" y="2240264"/>
            <a:ext cx="3612444" cy="238745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8"/>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LADDER: Unidad de Transporte</a:t>
            </a:r>
            <a:endParaRPr/>
          </a:p>
        </p:txBody>
      </p:sp>
      <p:pic>
        <p:nvPicPr>
          <p:cNvPr id="463" name="Google Shape;463;p48"/>
          <p:cNvPicPr preferRelativeResize="0"/>
          <p:nvPr/>
        </p:nvPicPr>
        <p:blipFill rotWithShape="1">
          <a:blip r:embed="rId3">
            <a:alphaModFix/>
          </a:blip>
          <a:srcRect/>
          <a:stretch/>
        </p:blipFill>
        <p:spPr>
          <a:xfrm>
            <a:off x="4051005" y="494168"/>
            <a:ext cx="4866723" cy="4649332"/>
          </a:xfrm>
          <a:prstGeom prst="rect">
            <a:avLst/>
          </a:prstGeom>
          <a:noFill/>
          <a:ln>
            <a:noFill/>
          </a:ln>
        </p:spPr>
      </p:pic>
      <p:pic>
        <p:nvPicPr>
          <p:cNvPr id="464" name="Google Shape;464;p48"/>
          <p:cNvPicPr preferRelativeResize="0"/>
          <p:nvPr/>
        </p:nvPicPr>
        <p:blipFill rotWithShape="1">
          <a:blip r:embed="rId4">
            <a:alphaModFix/>
          </a:blip>
          <a:srcRect/>
          <a:stretch/>
        </p:blipFill>
        <p:spPr>
          <a:xfrm>
            <a:off x="686464" y="494168"/>
            <a:ext cx="2939237" cy="3556837"/>
          </a:xfrm>
          <a:prstGeom prst="rect">
            <a:avLst/>
          </a:prstGeom>
          <a:noFill/>
          <a:ln>
            <a:noFill/>
          </a:ln>
        </p:spPr>
      </p:pic>
      <p:pic>
        <p:nvPicPr>
          <p:cNvPr id="465" name="Google Shape;465;p48"/>
          <p:cNvPicPr preferRelativeResize="0"/>
          <p:nvPr/>
        </p:nvPicPr>
        <p:blipFill rotWithShape="1">
          <a:blip r:embed="rId5">
            <a:alphaModFix/>
          </a:blip>
          <a:srcRect t="2554" b="82659"/>
          <a:stretch/>
        </p:blipFill>
        <p:spPr>
          <a:xfrm>
            <a:off x="587781" y="4051005"/>
            <a:ext cx="3200400" cy="741603"/>
          </a:xfrm>
          <a:prstGeom prst="rect">
            <a:avLst/>
          </a:prstGeom>
          <a:noFill/>
          <a:ln>
            <a:noFill/>
          </a:ln>
        </p:spPr>
      </p:pic>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3575</Words>
  <Application>Microsoft Office PowerPoint</Application>
  <PresentationFormat>Presentación en pantalla (16:9)</PresentationFormat>
  <Paragraphs>621</Paragraphs>
  <Slides>47</Slides>
  <Notes>47</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47</vt:i4>
      </vt:variant>
    </vt:vector>
  </HeadingPairs>
  <TitlesOfParts>
    <vt:vector size="54" baseType="lpstr">
      <vt:lpstr>Arial</vt:lpstr>
      <vt:lpstr>Twentieth Century</vt:lpstr>
      <vt:lpstr>Lato</vt:lpstr>
      <vt:lpstr>Raleway</vt:lpstr>
      <vt:lpstr>Times New Roman</vt:lpstr>
      <vt:lpstr>Cambria</vt:lpstr>
      <vt:lpstr>Streamline</vt:lpstr>
      <vt:lpstr> PRESENTACIÓN   LABORATORIO # 1</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COMPLEMENTACIÓN DE LA BITÁCORA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INVESTIGACIÓN: Librería para el control del Servomotor</vt:lpstr>
      <vt:lpstr>Presentación de PowerPoint</vt:lpstr>
      <vt:lpstr>Presentación de PowerPoint</vt:lpstr>
      <vt:lpstr>Presentación de PowerPoint</vt:lpstr>
      <vt:lpstr>Presentación de PowerPoint</vt:lpstr>
      <vt:lpstr>GRAFCET Y SIMULACIÓN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LADEER Y SIMULACIÓN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PRESENTACIÓN   LABORATORIO # 1</dc:title>
  <dc:creator>Jhonson Lovera</dc:creator>
  <cp:lastModifiedBy>Joel Bautista España Ulloa</cp:lastModifiedBy>
  <cp:revision>2</cp:revision>
  <dcterms:modified xsi:type="dcterms:W3CDTF">2023-12-30T23:18:37Z</dcterms:modified>
</cp:coreProperties>
</file>