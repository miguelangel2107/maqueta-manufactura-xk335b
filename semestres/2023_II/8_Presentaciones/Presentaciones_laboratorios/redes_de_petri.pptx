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0" r:id="rId8"/>
    <p:sldId id="263" r:id="rId9"/>
    <p:sldId id="266" r:id="rId10"/>
    <p:sldId id="267" r:id="rId11"/>
    <p:sldId id="265" r:id="rId12"/>
    <p:sldId id="270" r:id="rId13"/>
    <p:sldId id="264" r:id="rId14"/>
    <p:sldId id="268" r:id="rId15"/>
    <p:sldId id="269"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C85A124-4C2A-4B2D-A371-0697AD844B33}" type="datetimeFigureOut">
              <a:rPr lang="es-BO" smtClean="0"/>
              <a:t>11/10/2023</a:t>
            </a:fld>
            <a:endParaRPr lang="es-BO"/>
          </a:p>
        </p:txBody>
      </p:sp>
      <p:sp>
        <p:nvSpPr>
          <p:cNvPr id="5" name="Footer Placeholder 4"/>
          <p:cNvSpPr>
            <a:spLocks noGrp="1"/>
          </p:cNvSpPr>
          <p:nvPr>
            <p:ph type="ftr" sz="quarter" idx="11"/>
          </p:nvPr>
        </p:nvSpPr>
        <p:spPr>
          <a:xfrm>
            <a:off x="1876424" y="5410201"/>
            <a:ext cx="5124886" cy="365125"/>
          </a:xfrm>
        </p:spPr>
        <p:txBody>
          <a:bodyPr/>
          <a:lstStyle/>
          <a:p>
            <a:endParaRPr lang="es-BO"/>
          </a:p>
        </p:txBody>
      </p:sp>
      <p:sp>
        <p:nvSpPr>
          <p:cNvPr id="6" name="Slide Number Placeholder 5"/>
          <p:cNvSpPr>
            <a:spLocks noGrp="1"/>
          </p:cNvSpPr>
          <p:nvPr>
            <p:ph type="sldNum" sz="quarter" idx="12"/>
          </p:nvPr>
        </p:nvSpPr>
        <p:spPr>
          <a:xfrm>
            <a:off x="9896911" y="5410199"/>
            <a:ext cx="771089" cy="365125"/>
          </a:xfrm>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346160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C85A124-4C2A-4B2D-A371-0697AD844B33}" type="datetimeFigureOut">
              <a:rPr lang="es-BO" smtClean="0"/>
              <a:t>11/10/2023</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1319811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C85A124-4C2A-4B2D-A371-0697AD844B33}" type="datetimeFigureOut">
              <a:rPr lang="es-BO" smtClean="0"/>
              <a:t>11/10/2023</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639132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C85A124-4C2A-4B2D-A371-0697AD844B33}" type="datetimeFigureOut">
              <a:rPr lang="es-BO" smtClean="0"/>
              <a:t>11/10/2023</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3527934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C85A124-4C2A-4B2D-A371-0697AD844B33}" type="datetimeFigureOut">
              <a:rPr lang="es-BO" smtClean="0"/>
              <a:t>11/10/2023</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1670596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C85A124-4C2A-4B2D-A371-0697AD844B33}" type="datetimeFigureOut">
              <a:rPr lang="es-BO" smtClean="0"/>
              <a:t>11/10/2023</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3381937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85A124-4C2A-4B2D-A371-0697AD844B33}" type="datetimeFigureOut">
              <a:rPr lang="es-BO" smtClean="0"/>
              <a:t>11/10/2023</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931248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C85A124-4C2A-4B2D-A371-0697AD844B33}" type="datetimeFigureOut">
              <a:rPr lang="es-BO" smtClean="0"/>
              <a:t>11/10/2023</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196294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C85A124-4C2A-4B2D-A371-0697AD844B33}" type="datetimeFigureOut">
              <a:rPr lang="es-BO" smtClean="0"/>
              <a:t>11/10/2023</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4097911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C85A124-4C2A-4B2D-A371-0697AD844B33}" type="datetimeFigureOut">
              <a:rPr lang="es-BO" smtClean="0"/>
              <a:t>11/10/2023</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186843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C85A124-4C2A-4B2D-A371-0697AD844B33}" type="datetimeFigureOut">
              <a:rPr lang="es-BO" smtClean="0"/>
              <a:t>11/10/2023</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2496639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C85A124-4C2A-4B2D-A371-0697AD844B33}" type="datetimeFigureOut">
              <a:rPr lang="es-BO" smtClean="0"/>
              <a:t>11/10/2023</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38062945-F256-452C-881F-D5577DE9CD44}" type="slidenum">
              <a:rPr lang="es-BO" smtClean="0"/>
              <a:t>‹Nº›</a:t>
            </a:fld>
            <a:endParaRPr lang="es-BO"/>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876139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C85A124-4C2A-4B2D-A371-0697AD844B33}" type="datetimeFigureOut">
              <a:rPr lang="es-BO" smtClean="0"/>
              <a:t>11/10/2023</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2775862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EC85A124-4C2A-4B2D-A371-0697AD844B33}" type="datetimeFigureOut">
              <a:rPr lang="es-BO" smtClean="0"/>
              <a:t>11/10/2023</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3985788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EC85A124-4C2A-4B2D-A371-0697AD844B33}" type="datetimeFigureOut">
              <a:rPr lang="es-BO" smtClean="0"/>
              <a:t>11/10/2023</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1014979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C85A124-4C2A-4B2D-A371-0697AD844B33}" type="datetimeFigureOut">
              <a:rPr lang="es-BO" smtClean="0"/>
              <a:t>11/10/2023</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12437038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C85A124-4C2A-4B2D-A371-0697AD844B33}" type="datetimeFigureOut">
              <a:rPr lang="es-BO" smtClean="0"/>
              <a:t>11/10/2023</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38062945-F256-452C-881F-D5577DE9CD44}" type="slidenum">
              <a:rPr lang="es-BO" smtClean="0"/>
              <a:t>‹Nº›</a:t>
            </a:fld>
            <a:endParaRPr lang="es-BO"/>
          </a:p>
        </p:txBody>
      </p:sp>
    </p:spTree>
    <p:extLst>
      <p:ext uri="{BB962C8B-B14F-4D97-AF65-F5344CB8AC3E}">
        <p14:creationId xmlns:p14="http://schemas.microsoft.com/office/powerpoint/2010/main" val="3950089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C85A124-4C2A-4B2D-A371-0697AD844B33}" type="datetimeFigureOut">
              <a:rPr lang="es-BO" smtClean="0"/>
              <a:t>11/10/2023</a:t>
            </a:fld>
            <a:endParaRPr lang="es-BO"/>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BO"/>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8062945-F256-452C-881F-D5577DE9CD44}" type="slidenum">
              <a:rPr lang="es-BO" smtClean="0"/>
              <a:t>‹Nº›</a:t>
            </a:fld>
            <a:endParaRPr lang="es-BO"/>
          </a:p>
        </p:txBody>
      </p:sp>
    </p:spTree>
    <p:extLst>
      <p:ext uri="{BB962C8B-B14F-4D97-AF65-F5344CB8AC3E}">
        <p14:creationId xmlns:p14="http://schemas.microsoft.com/office/powerpoint/2010/main" val="31979186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hyperlink" Target="https://www.youtube.com/watch?v=7p1Q7TgvIno" TargetMode="External"/><Relationship Id="rId2" Type="http://schemas.openxmlformats.org/officeDocument/2006/relationships/hyperlink" Target="https://sourceforge.net/projects/pipe2/" TargetMode="Externa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hyperlink" Target="http://www.winpesim.de/" TargetMode="External"/><Relationship Id="rId4" Type="http://schemas.openxmlformats.org/officeDocument/2006/relationships/hyperlink" Target="https://www.youtube.com/watch?v=ASacSGn6OI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12">
            <a:extLst>
              <a:ext uri="{FF2B5EF4-FFF2-40B4-BE49-F238E27FC236}">
                <a16:creationId xmlns:a16="http://schemas.microsoft.com/office/drawing/2014/main" id="{16322075-D0F5-0C60-BF8C-EDFB3500DD36}"/>
              </a:ext>
            </a:extLst>
          </p:cNvPr>
          <p:cNvSpPr txBox="1"/>
          <p:nvPr/>
        </p:nvSpPr>
        <p:spPr>
          <a:xfrm>
            <a:off x="3511826" y="1577874"/>
            <a:ext cx="6096000" cy="1323439"/>
          </a:xfrm>
          <a:prstGeom prst="rect">
            <a:avLst/>
          </a:prstGeom>
          <a:noFill/>
        </p:spPr>
        <p:txBody>
          <a:bodyPr wrap="square">
            <a:spAutoFit/>
          </a:bodyPr>
          <a:lstStyle/>
          <a:p>
            <a:pPr algn="ctr"/>
            <a:r>
              <a:rPr lang="es-ES" sz="4000" b="1" dirty="0">
                <a:latin typeface="Franklin Gothic Medium" panose="020B0603020102020204" pitchFamily="34" charset="0"/>
              </a:rPr>
              <a:t>Introducción a </a:t>
            </a:r>
          </a:p>
          <a:p>
            <a:pPr algn="ctr"/>
            <a:r>
              <a:rPr lang="es-ES" sz="4000" b="1" dirty="0">
                <a:latin typeface="Franklin Gothic Medium" panose="020B0603020102020204" pitchFamily="34" charset="0"/>
              </a:rPr>
              <a:t>las Redes de Petri</a:t>
            </a:r>
          </a:p>
        </p:txBody>
      </p:sp>
      <p:pic>
        <p:nvPicPr>
          <p:cNvPr id="14" name="Google Shape;290;p1">
            <a:extLst>
              <a:ext uri="{FF2B5EF4-FFF2-40B4-BE49-F238E27FC236}">
                <a16:creationId xmlns:a16="http://schemas.microsoft.com/office/drawing/2014/main" id="{F55D641C-CC41-6DD3-6CD1-962985E8CBEB}"/>
              </a:ext>
            </a:extLst>
          </p:cNvPr>
          <p:cNvPicPr preferRelativeResize="0"/>
          <p:nvPr/>
        </p:nvPicPr>
        <p:blipFill rotWithShape="1">
          <a:blip r:embed="rId2" cstate="print">
            <a:alphaModFix/>
          </a:blip>
          <a:srcRect/>
          <a:stretch/>
        </p:blipFill>
        <p:spPr>
          <a:xfrm>
            <a:off x="10390845" y="3186421"/>
            <a:ext cx="1455137" cy="2942787"/>
          </a:xfrm>
          <a:prstGeom prst="rect">
            <a:avLst/>
          </a:prstGeom>
          <a:noFill/>
          <a:ln>
            <a:noFill/>
          </a:ln>
        </p:spPr>
      </p:pic>
      <p:pic>
        <p:nvPicPr>
          <p:cNvPr id="15" name="Google Shape;291;p1">
            <a:extLst>
              <a:ext uri="{FF2B5EF4-FFF2-40B4-BE49-F238E27FC236}">
                <a16:creationId xmlns:a16="http://schemas.microsoft.com/office/drawing/2014/main" id="{0CB3570E-5355-820F-B927-2BCA5A089CF9}"/>
              </a:ext>
            </a:extLst>
          </p:cNvPr>
          <p:cNvPicPr preferRelativeResize="0"/>
          <p:nvPr/>
        </p:nvPicPr>
        <p:blipFill rotWithShape="1">
          <a:blip r:embed="rId3" cstate="print">
            <a:alphaModFix/>
          </a:blip>
          <a:srcRect/>
          <a:stretch/>
        </p:blipFill>
        <p:spPr>
          <a:xfrm>
            <a:off x="10165982" y="520186"/>
            <a:ext cx="1680000" cy="1680000"/>
          </a:xfrm>
          <a:prstGeom prst="rect">
            <a:avLst/>
          </a:prstGeom>
          <a:noFill/>
          <a:ln>
            <a:noFill/>
          </a:ln>
        </p:spPr>
      </p:pic>
      <p:sp>
        <p:nvSpPr>
          <p:cNvPr id="16" name="CuadroTexto 15">
            <a:extLst>
              <a:ext uri="{FF2B5EF4-FFF2-40B4-BE49-F238E27FC236}">
                <a16:creationId xmlns:a16="http://schemas.microsoft.com/office/drawing/2014/main" id="{E2E2D1BD-45E0-E1C6-F67F-CE4CCD3E4401}"/>
              </a:ext>
            </a:extLst>
          </p:cNvPr>
          <p:cNvSpPr txBox="1"/>
          <p:nvPr/>
        </p:nvSpPr>
        <p:spPr>
          <a:xfrm>
            <a:off x="3611217" y="3749873"/>
            <a:ext cx="5446643" cy="1815882"/>
          </a:xfrm>
          <a:prstGeom prst="rect">
            <a:avLst/>
          </a:prstGeom>
          <a:noFill/>
        </p:spPr>
        <p:txBody>
          <a:bodyPr wrap="square" rtlCol="0">
            <a:spAutoFit/>
          </a:bodyPr>
          <a:lstStyle/>
          <a:p>
            <a:pPr algn="ctr"/>
            <a:r>
              <a:rPr lang="es-BO" sz="2800" b="0" i="0" dirty="0" err="1">
                <a:effectLst/>
                <a:latin typeface="Google Sans"/>
              </a:rPr>
              <a:t>Limber</a:t>
            </a:r>
            <a:r>
              <a:rPr lang="es-BO" sz="2800" b="0" i="0" dirty="0">
                <a:effectLst/>
                <a:latin typeface="Google Sans"/>
              </a:rPr>
              <a:t> </a:t>
            </a:r>
            <a:r>
              <a:rPr lang="es-BO" sz="2800" b="0" i="0" dirty="0" err="1">
                <a:effectLst/>
                <a:latin typeface="Google Sans"/>
              </a:rPr>
              <a:t>Ajnota</a:t>
            </a:r>
            <a:r>
              <a:rPr lang="es-BO" sz="2800" b="0" i="0" dirty="0">
                <a:effectLst/>
                <a:latin typeface="Google Sans"/>
              </a:rPr>
              <a:t> </a:t>
            </a:r>
            <a:r>
              <a:rPr lang="es-BO" sz="2800" b="0" i="0" dirty="0" err="1">
                <a:effectLst/>
                <a:latin typeface="Google Sans"/>
              </a:rPr>
              <a:t>Cahuaya</a:t>
            </a:r>
            <a:r>
              <a:rPr lang="es-BO" sz="2800" dirty="0"/>
              <a:t> </a:t>
            </a:r>
          </a:p>
          <a:p>
            <a:pPr algn="ctr"/>
            <a:r>
              <a:rPr lang="es-BO" sz="2800" dirty="0"/>
              <a:t>Gustavo Ismael </a:t>
            </a:r>
            <a:r>
              <a:rPr lang="es-BO" sz="2800" dirty="0" err="1"/>
              <a:t>Chavez</a:t>
            </a:r>
            <a:r>
              <a:rPr lang="es-BO" sz="2800" dirty="0"/>
              <a:t> Maman </a:t>
            </a:r>
          </a:p>
          <a:p>
            <a:pPr algn="ctr"/>
            <a:r>
              <a:rPr lang="es-BO" sz="2800" b="0" i="0" dirty="0" err="1">
                <a:effectLst/>
                <a:latin typeface="Google Sans"/>
              </a:rPr>
              <a:t>Davor</a:t>
            </a:r>
            <a:r>
              <a:rPr lang="es-BO" sz="2800" b="0" i="0" dirty="0">
                <a:effectLst/>
                <a:latin typeface="Google Sans"/>
              </a:rPr>
              <a:t> Dennis Colque Mamani</a:t>
            </a:r>
          </a:p>
          <a:p>
            <a:pPr algn="ctr"/>
            <a:r>
              <a:rPr lang="es-BO" sz="2800" dirty="0"/>
              <a:t>Joel Bautista España Ulloa</a:t>
            </a:r>
          </a:p>
        </p:txBody>
      </p:sp>
      <p:sp>
        <p:nvSpPr>
          <p:cNvPr id="17" name="Google Shape;286;p1">
            <a:extLst>
              <a:ext uri="{FF2B5EF4-FFF2-40B4-BE49-F238E27FC236}">
                <a16:creationId xmlns:a16="http://schemas.microsoft.com/office/drawing/2014/main" id="{80747D54-EAFC-AC48-E593-892109DE0716}"/>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8" name="Google Shape;287;p1">
            <a:extLst>
              <a:ext uri="{FF2B5EF4-FFF2-40B4-BE49-F238E27FC236}">
                <a16:creationId xmlns:a16="http://schemas.microsoft.com/office/drawing/2014/main" id="{E73E9417-46C6-972F-5F27-8F8F625AF4AC}"/>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a:t>
            </a:fld>
            <a:endParaRPr lang="es-BO" sz="1800" dirty="0">
              <a:solidFill>
                <a:srgbClr val="FFFFFF"/>
              </a:solidFill>
            </a:endParaRPr>
          </a:p>
        </p:txBody>
      </p:sp>
    </p:spTree>
    <p:extLst>
      <p:ext uri="{BB962C8B-B14F-4D97-AF65-F5344CB8AC3E}">
        <p14:creationId xmlns:p14="http://schemas.microsoft.com/office/powerpoint/2010/main" val="2458644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A73004D-5C01-F026-1926-B0EEDE55F987}"/>
              </a:ext>
            </a:extLst>
          </p:cNvPr>
          <p:cNvSpPr txBox="1"/>
          <p:nvPr/>
        </p:nvSpPr>
        <p:spPr>
          <a:xfrm>
            <a:off x="1744317" y="685297"/>
            <a:ext cx="8984973" cy="646331"/>
          </a:xfrm>
          <a:prstGeom prst="rect">
            <a:avLst/>
          </a:prstGeom>
          <a:noFill/>
        </p:spPr>
        <p:txBody>
          <a:bodyPr wrap="square">
            <a:spAutoFit/>
          </a:bodyPr>
          <a:lstStyle/>
          <a:p>
            <a:r>
              <a:rPr lang="es-ES" sz="3600" b="1" dirty="0">
                <a:solidFill>
                  <a:srgbClr val="FF0000"/>
                </a:solidFill>
              </a:rPr>
              <a:t>Modelado y Análisis de Sistemas Dinámicos</a:t>
            </a:r>
          </a:p>
        </p:txBody>
      </p:sp>
      <p:sp>
        <p:nvSpPr>
          <p:cNvPr id="6" name="CuadroTexto 5">
            <a:extLst>
              <a:ext uri="{FF2B5EF4-FFF2-40B4-BE49-F238E27FC236}">
                <a16:creationId xmlns:a16="http://schemas.microsoft.com/office/drawing/2014/main" id="{E2D39948-D1B8-6CF1-E9D8-4BB1E100B637}"/>
              </a:ext>
            </a:extLst>
          </p:cNvPr>
          <p:cNvSpPr txBox="1"/>
          <p:nvPr/>
        </p:nvSpPr>
        <p:spPr>
          <a:xfrm>
            <a:off x="1057688" y="1643387"/>
            <a:ext cx="10076623" cy="4401205"/>
          </a:xfrm>
          <a:prstGeom prst="rect">
            <a:avLst/>
          </a:prstGeom>
          <a:noFill/>
        </p:spPr>
        <p:txBody>
          <a:bodyPr wrap="square">
            <a:spAutoFit/>
          </a:bodyPr>
          <a:lstStyle/>
          <a:p>
            <a:r>
              <a:rPr lang="es-ES" sz="2800" dirty="0"/>
              <a:t>Bienvenidos a la presentación sobre Redes de Petri. En esta charla, exploraremos un poderoso modelo matemático utilizado para representar y analizar sistemas dinámicos. </a:t>
            </a:r>
          </a:p>
          <a:p>
            <a:endParaRPr lang="es-BO" sz="2800" b="1" dirty="0"/>
          </a:p>
          <a:p>
            <a:r>
              <a:rPr lang="es-BO" sz="2800" b="1" dirty="0"/>
              <a:t>Introducción: </a:t>
            </a:r>
          </a:p>
          <a:p>
            <a:endParaRPr lang="es-ES" sz="2800" dirty="0"/>
          </a:p>
          <a:p>
            <a:r>
              <a:rPr lang="es-ES" sz="2800" dirty="0"/>
              <a:t>Las Redes de Petri son una herramienta esencial en el campo de la teoría de sistemas y la ingeniería de control. Nos permiten modelar y analizar sistemas dinámicos, desde procesos de producción hasta protocolos de comunicación.</a:t>
            </a:r>
            <a:endParaRPr lang="es-BO" sz="2800" dirty="0"/>
          </a:p>
        </p:txBody>
      </p:sp>
      <p:sp>
        <p:nvSpPr>
          <p:cNvPr id="7" name="Google Shape;286;p1">
            <a:extLst>
              <a:ext uri="{FF2B5EF4-FFF2-40B4-BE49-F238E27FC236}">
                <a16:creationId xmlns:a16="http://schemas.microsoft.com/office/drawing/2014/main" id="{CB40A06D-1422-E3FB-06D3-338CBDB1A539}"/>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9" name="Google Shape;287;p1">
            <a:extLst>
              <a:ext uri="{FF2B5EF4-FFF2-40B4-BE49-F238E27FC236}">
                <a16:creationId xmlns:a16="http://schemas.microsoft.com/office/drawing/2014/main" id="{333AF6FA-4A9A-93D2-38A2-127246604150}"/>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2</a:t>
            </a:fld>
            <a:endParaRPr lang="es-BO" sz="1800" dirty="0">
              <a:solidFill>
                <a:srgbClr val="FFFFFF"/>
              </a:solidFill>
            </a:endParaRPr>
          </a:p>
        </p:txBody>
      </p:sp>
    </p:spTree>
    <p:extLst>
      <p:ext uri="{BB962C8B-B14F-4D97-AF65-F5344CB8AC3E}">
        <p14:creationId xmlns:p14="http://schemas.microsoft.com/office/powerpoint/2010/main" val="1548923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AE2F85C-12ED-39C3-483B-D0E79CA392F3}"/>
              </a:ext>
            </a:extLst>
          </p:cNvPr>
          <p:cNvSpPr txBox="1"/>
          <p:nvPr/>
        </p:nvSpPr>
        <p:spPr>
          <a:xfrm>
            <a:off x="1196009" y="1859340"/>
            <a:ext cx="8955156" cy="3046988"/>
          </a:xfrm>
          <a:prstGeom prst="rect">
            <a:avLst/>
          </a:prstGeom>
          <a:noFill/>
        </p:spPr>
        <p:txBody>
          <a:bodyPr wrap="square">
            <a:spAutoFit/>
          </a:bodyPr>
          <a:lstStyle/>
          <a:p>
            <a:pPr algn="l">
              <a:buFont typeface="Arial" panose="020B0604020202020204" pitchFamily="34" charset="0"/>
              <a:buChar char="•"/>
            </a:pPr>
            <a:r>
              <a:rPr lang="es-ES" sz="2400" b="1" i="0" dirty="0">
                <a:effectLst/>
                <a:latin typeface="+mj-lt"/>
              </a:rPr>
              <a:t>Introducción:</a:t>
            </a:r>
          </a:p>
          <a:p>
            <a:pPr algn="l"/>
            <a:r>
              <a:rPr lang="es-ES" sz="2400" b="0" i="0" dirty="0">
                <a:effectLst/>
                <a:latin typeface="+mj-lt"/>
              </a:rPr>
              <a:t>Una Red de Petri es un modelo matemático gráfico utilizado para describir la dinámica de sistemas. </a:t>
            </a:r>
          </a:p>
          <a:p>
            <a:pPr algn="l"/>
            <a:endParaRPr lang="es-ES" sz="2400" dirty="0">
              <a:latin typeface="+mj-lt"/>
            </a:endParaRPr>
          </a:p>
          <a:p>
            <a:pPr algn="l"/>
            <a:r>
              <a:rPr lang="es-ES" sz="2400" b="0" i="0" dirty="0">
                <a:effectLst/>
                <a:latin typeface="+mj-lt"/>
              </a:rPr>
              <a:t>Está compuesta por:</a:t>
            </a:r>
          </a:p>
          <a:p>
            <a:pPr marL="342900" indent="-342900" algn="l">
              <a:buFont typeface="Arial" panose="020B0604020202020204" pitchFamily="34" charset="0"/>
              <a:buChar char="•"/>
            </a:pPr>
            <a:r>
              <a:rPr lang="es-ES" sz="2400" b="0" i="0" dirty="0">
                <a:effectLst/>
                <a:latin typeface="+mj-lt"/>
              </a:rPr>
              <a:t>plazas, que representan estados, </a:t>
            </a:r>
          </a:p>
          <a:p>
            <a:pPr marL="342900" indent="-342900" algn="l">
              <a:buFont typeface="Arial" panose="020B0604020202020204" pitchFamily="34" charset="0"/>
              <a:buChar char="•"/>
            </a:pPr>
            <a:r>
              <a:rPr lang="es-ES" sz="2400" b="0" i="0" dirty="0">
                <a:effectLst/>
                <a:latin typeface="+mj-lt"/>
              </a:rPr>
              <a:t>transiciones, que representan eventos, </a:t>
            </a:r>
          </a:p>
          <a:p>
            <a:pPr marL="342900" indent="-342900" algn="l">
              <a:buFont typeface="Arial" panose="020B0604020202020204" pitchFamily="34" charset="0"/>
              <a:buChar char="•"/>
            </a:pPr>
            <a:r>
              <a:rPr lang="es-ES" sz="2400" b="0" i="0" dirty="0">
                <a:effectLst/>
                <a:latin typeface="+mj-lt"/>
              </a:rPr>
              <a:t>y arcos, que indican cómo interactúan.</a:t>
            </a:r>
          </a:p>
        </p:txBody>
      </p:sp>
      <p:sp>
        <p:nvSpPr>
          <p:cNvPr id="8" name="CuadroTexto 7">
            <a:extLst>
              <a:ext uri="{FF2B5EF4-FFF2-40B4-BE49-F238E27FC236}">
                <a16:creationId xmlns:a16="http://schemas.microsoft.com/office/drawing/2014/main" id="{2440B2C2-EF3D-B93E-1E2E-5F344FE9D2BA}"/>
              </a:ext>
            </a:extLst>
          </p:cNvPr>
          <p:cNvSpPr txBox="1"/>
          <p:nvPr/>
        </p:nvSpPr>
        <p:spPr>
          <a:xfrm>
            <a:off x="1717813" y="884079"/>
            <a:ext cx="8984973" cy="646331"/>
          </a:xfrm>
          <a:prstGeom prst="rect">
            <a:avLst/>
          </a:prstGeom>
          <a:noFill/>
        </p:spPr>
        <p:txBody>
          <a:bodyPr wrap="square">
            <a:spAutoFit/>
          </a:bodyPr>
          <a:lstStyle/>
          <a:p>
            <a:pPr algn="ctr"/>
            <a:r>
              <a:rPr lang="es-ES" sz="3600" b="1" dirty="0">
                <a:solidFill>
                  <a:srgbClr val="FF0000"/>
                </a:solidFill>
              </a:rPr>
              <a:t>Definición de Redes de Petri</a:t>
            </a:r>
          </a:p>
        </p:txBody>
      </p:sp>
      <p:pic>
        <p:nvPicPr>
          <p:cNvPr id="9" name="Imagen 8">
            <a:extLst>
              <a:ext uri="{FF2B5EF4-FFF2-40B4-BE49-F238E27FC236}">
                <a16:creationId xmlns:a16="http://schemas.microsoft.com/office/drawing/2014/main" id="{8F9C20F6-CD53-F3F1-E1E7-F8A40AD307B2}"/>
              </a:ext>
            </a:extLst>
          </p:cNvPr>
          <p:cNvPicPr>
            <a:picLocks noChangeAspect="1"/>
          </p:cNvPicPr>
          <p:nvPr/>
        </p:nvPicPr>
        <p:blipFill rotWithShape="1">
          <a:blip r:embed="rId2">
            <a:extLst>
              <a:ext uri="{28A0092B-C50C-407E-A947-70E740481C1C}">
                <a14:useLocalDpi xmlns:a14="http://schemas.microsoft.com/office/drawing/2010/main" val="0"/>
              </a:ext>
            </a:extLst>
          </a:blip>
          <a:srcRect l="20326" t="8384" r="29130" b="11528"/>
          <a:stretch/>
        </p:blipFill>
        <p:spPr>
          <a:xfrm>
            <a:off x="6493565" y="2821886"/>
            <a:ext cx="4784035" cy="3539157"/>
          </a:xfrm>
          <a:prstGeom prst="rect">
            <a:avLst/>
          </a:prstGeom>
        </p:spPr>
      </p:pic>
      <p:sp>
        <p:nvSpPr>
          <p:cNvPr id="10" name="Google Shape;286;p1">
            <a:extLst>
              <a:ext uri="{FF2B5EF4-FFF2-40B4-BE49-F238E27FC236}">
                <a16:creationId xmlns:a16="http://schemas.microsoft.com/office/drawing/2014/main" id="{BC0B490D-8BFE-AC17-BD5A-801B0FB96ACE}"/>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2" name="Google Shape;287;p1">
            <a:extLst>
              <a:ext uri="{FF2B5EF4-FFF2-40B4-BE49-F238E27FC236}">
                <a16:creationId xmlns:a16="http://schemas.microsoft.com/office/drawing/2014/main" id="{3E8DE57F-8786-C22D-4B23-7E70B139AD7E}"/>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3</a:t>
            </a:fld>
            <a:endParaRPr lang="es-BO" sz="1800" dirty="0">
              <a:solidFill>
                <a:srgbClr val="FFFFFF"/>
              </a:solidFill>
            </a:endParaRPr>
          </a:p>
        </p:txBody>
      </p:sp>
    </p:spTree>
    <p:extLst>
      <p:ext uri="{BB962C8B-B14F-4D97-AF65-F5344CB8AC3E}">
        <p14:creationId xmlns:p14="http://schemas.microsoft.com/office/powerpoint/2010/main" val="2701723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40EBD94-5871-031F-3D08-5ACE00159292}"/>
              </a:ext>
            </a:extLst>
          </p:cNvPr>
          <p:cNvSpPr txBox="1"/>
          <p:nvPr/>
        </p:nvSpPr>
        <p:spPr>
          <a:xfrm>
            <a:off x="1237421" y="1530410"/>
            <a:ext cx="9236766" cy="1569660"/>
          </a:xfrm>
          <a:prstGeom prst="rect">
            <a:avLst/>
          </a:prstGeom>
          <a:noFill/>
        </p:spPr>
        <p:txBody>
          <a:bodyPr wrap="square">
            <a:spAutoFit/>
          </a:bodyPr>
          <a:lstStyle/>
          <a:p>
            <a:pPr algn="l"/>
            <a:r>
              <a:rPr lang="es-ES" sz="2400" b="1" i="0" dirty="0">
                <a:effectLst/>
              </a:rPr>
              <a:t>Introducción:</a:t>
            </a:r>
            <a:r>
              <a:rPr lang="es-ES" sz="2400" b="0" i="0" dirty="0">
                <a:effectLst/>
              </a:rPr>
              <a:t> "Para comprender una Red de Petri, es crucial familiarizarse con sus componentes básicos”. </a:t>
            </a:r>
          </a:p>
          <a:p>
            <a:pPr algn="l"/>
            <a:endParaRPr lang="es-ES" sz="2400" b="0" i="0" dirty="0">
              <a:effectLst/>
            </a:endParaRPr>
          </a:p>
          <a:p>
            <a:pPr algn="l">
              <a:buFont typeface="Arial" panose="020B0604020202020204" pitchFamily="34" charset="0"/>
              <a:buChar char="•"/>
            </a:pPr>
            <a:r>
              <a:rPr lang="es-ES" sz="2400" b="0" i="0" dirty="0">
                <a:effectLst/>
              </a:rPr>
              <a:t>Las plazas almacenan 'marcas’</a:t>
            </a:r>
          </a:p>
        </p:txBody>
      </p:sp>
      <p:sp>
        <p:nvSpPr>
          <p:cNvPr id="6" name="CuadroTexto 5">
            <a:extLst>
              <a:ext uri="{FF2B5EF4-FFF2-40B4-BE49-F238E27FC236}">
                <a16:creationId xmlns:a16="http://schemas.microsoft.com/office/drawing/2014/main" id="{F41F8B86-130B-ED2F-C5DE-6F53A838AC67}"/>
              </a:ext>
            </a:extLst>
          </p:cNvPr>
          <p:cNvSpPr txBox="1"/>
          <p:nvPr/>
        </p:nvSpPr>
        <p:spPr>
          <a:xfrm>
            <a:off x="1717813" y="884079"/>
            <a:ext cx="8984973" cy="646331"/>
          </a:xfrm>
          <a:prstGeom prst="rect">
            <a:avLst/>
          </a:prstGeom>
          <a:noFill/>
        </p:spPr>
        <p:txBody>
          <a:bodyPr wrap="square">
            <a:spAutoFit/>
          </a:bodyPr>
          <a:lstStyle/>
          <a:p>
            <a:pPr algn="ctr"/>
            <a:r>
              <a:rPr lang="es-ES" sz="3600" b="1" dirty="0">
                <a:solidFill>
                  <a:srgbClr val="FF0000"/>
                </a:solidFill>
              </a:rPr>
              <a:t>Elementos de una Red de Petri</a:t>
            </a:r>
          </a:p>
        </p:txBody>
      </p:sp>
      <p:pic>
        <p:nvPicPr>
          <p:cNvPr id="8" name="Imagen 7">
            <a:extLst>
              <a:ext uri="{FF2B5EF4-FFF2-40B4-BE49-F238E27FC236}">
                <a16:creationId xmlns:a16="http://schemas.microsoft.com/office/drawing/2014/main" id="{47BB3743-CD0F-31DF-0F90-4F0DE9F8F193}"/>
              </a:ext>
            </a:extLst>
          </p:cNvPr>
          <p:cNvPicPr>
            <a:picLocks noChangeAspect="1"/>
          </p:cNvPicPr>
          <p:nvPr/>
        </p:nvPicPr>
        <p:blipFill rotWithShape="1">
          <a:blip r:embed="rId2">
            <a:extLst>
              <a:ext uri="{28A0092B-C50C-407E-A947-70E740481C1C}">
                <a14:useLocalDpi xmlns:a14="http://schemas.microsoft.com/office/drawing/2010/main" val="0"/>
              </a:ext>
            </a:extLst>
          </a:blip>
          <a:srcRect l="24239" t="8151" r="29565" b="22237"/>
          <a:stretch/>
        </p:blipFill>
        <p:spPr>
          <a:xfrm>
            <a:off x="5822741" y="2453738"/>
            <a:ext cx="4880045" cy="3433253"/>
          </a:xfrm>
          <a:prstGeom prst="rect">
            <a:avLst/>
          </a:prstGeom>
        </p:spPr>
      </p:pic>
      <p:sp>
        <p:nvSpPr>
          <p:cNvPr id="9" name="Google Shape;286;p1">
            <a:extLst>
              <a:ext uri="{FF2B5EF4-FFF2-40B4-BE49-F238E27FC236}">
                <a16:creationId xmlns:a16="http://schemas.microsoft.com/office/drawing/2014/main" id="{DECBACC3-41DE-95CC-E2A5-ED90D1A56D0D}"/>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1" name="Google Shape;287;p1">
            <a:extLst>
              <a:ext uri="{FF2B5EF4-FFF2-40B4-BE49-F238E27FC236}">
                <a16:creationId xmlns:a16="http://schemas.microsoft.com/office/drawing/2014/main" id="{611CC636-843A-02D2-1B96-CFABF5A41626}"/>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4</a:t>
            </a:fld>
            <a:endParaRPr lang="es-BO" sz="1800" dirty="0">
              <a:solidFill>
                <a:srgbClr val="FFFFFF"/>
              </a:solidFill>
            </a:endParaRPr>
          </a:p>
        </p:txBody>
      </p:sp>
    </p:spTree>
    <p:extLst>
      <p:ext uri="{BB962C8B-B14F-4D97-AF65-F5344CB8AC3E}">
        <p14:creationId xmlns:p14="http://schemas.microsoft.com/office/powerpoint/2010/main" val="3062828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40EBD94-5871-031F-3D08-5ACE00159292}"/>
              </a:ext>
            </a:extLst>
          </p:cNvPr>
          <p:cNvSpPr txBox="1"/>
          <p:nvPr/>
        </p:nvSpPr>
        <p:spPr>
          <a:xfrm>
            <a:off x="1237421" y="1530410"/>
            <a:ext cx="9236766" cy="1569660"/>
          </a:xfrm>
          <a:prstGeom prst="rect">
            <a:avLst/>
          </a:prstGeom>
          <a:noFill/>
        </p:spPr>
        <p:txBody>
          <a:bodyPr wrap="square">
            <a:spAutoFit/>
          </a:bodyPr>
          <a:lstStyle/>
          <a:p>
            <a:pPr algn="l"/>
            <a:r>
              <a:rPr lang="es-ES" sz="2400" b="1" i="0" dirty="0">
                <a:effectLst/>
              </a:rPr>
              <a:t>Introducción:</a:t>
            </a:r>
            <a:r>
              <a:rPr lang="es-ES" sz="2400" b="0" i="0" dirty="0">
                <a:effectLst/>
              </a:rPr>
              <a:t> "Para comprender una Red de Petri, es crucial familiarizarse con sus componentes básicos”. </a:t>
            </a:r>
          </a:p>
          <a:p>
            <a:pPr algn="l"/>
            <a:endParaRPr lang="es-ES" sz="2400" b="0" i="0" dirty="0">
              <a:effectLst/>
            </a:endParaRPr>
          </a:p>
          <a:p>
            <a:pPr algn="l">
              <a:buFont typeface="Arial" panose="020B0604020202020204" pitchFamily="34" charset="0"/>
              <a:buChar char="•"/>
            </a:pPr>
            <a:r>
              <a:rPr lang="es-ES" sz="2400" b="0" i="0" dirty="0">
                <a:effectLst/>
              </a:rPr>
              <a:t>las transiciones representan 'eventos’, </a:t>
            </a:r>
          </a:p>
        </p:txBody>
      </p:sp>
      <p:sp>
        <p:nvSpPr>
          <p:cNvPr id="6" name="CuadroTexto 5">
            <a:extLst>
              <a:ext uri="{FF2B5EF4-FFF2-40B4-BE49-F238E27FC236}">
                <a16:creationId xmlns:a16="http://schemas.microsoft.com/office/drawing/2014/main" id="{F41F8B86-130B-ED2F-C5DE-6F53A838AC67}"/>
              </a:ext>
            </a:extLst>
          </p:cNvPr>
          <p:cNvSpPr txBox="1"/>
          <p:nvPr/>
        </p:nvSpPr>
        <p:spPr>
          <a:xfrm>
            <a:off x="1717813" y="884079"/>
            <a:ext cx="8984973" cy="646331"/>
          </a:xfrm>
          <a:prstGeom prst="rect">
            <a:avLst/>
          </a:prstGeom>
          <a:noFill/>
        </p:spPr>
        <p:txBody>
          <a:bodyPr wrap="square">
            <a:spAutoFit/>
          </a:bodyPr>
          <a:lstStyle/>
          <a:p>
            <a:pPr algn="ctr"/>
            <a:r>
              <a:rPr lang="es-ES" sz="3600" b="1" dirty="0">
                <a:solidFill>
                  <a:srgbClr val="FF0000"/>
                </a:solidFill>
              </a:rPr>
              <a:t>Elementos de una Red de Petri</a:t>
            </a:r>
          </a:p>
        </p:txBody>
      </p:sp>
      <p:pic>
        <p:nvPicPr>
          <p:cNvPr id="3" name="Imagen 2">
            <a:extLst>
              <a:ext uri="{FF2B5EF4-FFF2-40B4-BE49-F238E27FC236}">
                <a16:creationId xmlns:a16="http://schemas.microsoft.com/office/drawing/2014/main" id="{CEA6B40F-B492-48D4-F887-09E209709CCF}"/>
              </a:ext>
            </a:extLst>
          </p:cNvPr>
          <p:cNvPicPr>
            <a:picLocks noChangeAspect="1"/>
          </p:cNvPicPr>
          <p:nvPr/>
        </p:nvPicPr>
        <p:blipFill rotWithShape="1">
          <a:blip r:embed="rId2">
            <a:extLst>
              <a:ext uri="{28A0092B-C50C-407E-A947-70E740481C1C}">
                <a14:useLocalDpi xmlns:a14="http://schemas.microsoft.com/office/drawing/2010/main" val="0"/>
              </a:ext>
            </a:extLst>
          </a:blip>
          <a:srcRect l="24239" t="9315" r="33043" b="24100"/>
          <a:stretch/>
        </p:blipFill>
        <p:spPr>
          <a:xfrm>
            <a:off x="6210299" y="2315240"/>
            <a:ext cx="5208107" cy="3790122"/>
          </a:xfrm>
          <a:prstGeom prst="rect">
            <a:avLst/>
          </a:prstGeom>
        </p:spPr>
      </p:pic>
      <p:sp>
        <p:nvSpPr>
          <p:cNvPr id="10" name="CuadroTexto 9">
            <a:extLst>
              <a:ext uri="{FF2B5EF4-FFF2-40B4-BE49-F238E27FC236}">
                <a16:creationId xmlns:a16="http://schemas.microsoft.com/office/drawing/2014/main" id="{39EDC9AA-D6CA-040B-7A16-944A04DD00FF}"/>
              </a:ext>
            </a:extLst>
          </p:cNvPr>
          <p:cNvSpPr txBox="1"/>
          <p:nvPr/>
        </p:nvSpPr>
        <p:spPr>
          <a:xfrm>
            <a:off x="1341782" y="3244334"/>
            <a:ext cx="6102626" cy="369332"/>
          </a:xfrm>
          <a:prstGeom prst="rect">
            <a:avLst/>
          </a:prstGeom>
          <a:noFill/>
        </p:spPr>
        <p:txBody>
          <a:bodyPr wrap="square">
            <a:spAutoFit/>
          </a:bodyPr>
          <a:lstStyle/>
          <a:p>
            <a:r>
              <a:rPr lang="es-ES" dirty="0"/>
              <a:t>y los arcos indican las relaciones entre ellos.</a:t>
            </a:r>
            <a:endParaRPr lang="es-BO" dirty="0"/>
          </a:p>
        </p:txBody>
      </p:sp>
      <p:sp>
        <p:nvSpPr>
          <p:cNvPr id="11" name="Google Shape;286;p1">
            <a:extLst>
              <a:ext uri="{FF2B5EF4-FFF2-40B4-BE49-F238E27FC236}">
                <a16:creationId xmlns:a16="http://schemas.microsoft.com/office/drawing/2014/main" id="{96F69E48-7359-9A5B-EDA2-BB8452C6686C}"/>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3" name="Google Shape;287;p1">
            <a:extLst>
              <a:ext uri="{FF2B5EF4-FFF2-40B4-BE49-F238E27FC236}">
                <a16:creationId xmlns:a16="http://schemas.microsoft.com/office/drawing/2014/main" id="{3B55E614-5D3D-D6E4-D356-9C8B044306E8}"/>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5</a:t>
            </a:fld>
            <a:endParaRPr lang="es-BO" sz="1800" dirty="0">
              <a:solidFill>
                <a:srgbClr val="FFFFFF"/>
              </a:solidFill>
            </a:endParaRPr>
          </a:p>
        </p:txBody>
      </p:sp>
    </p:spTree>
    <p:extLst>
      <p:ext uri="{BB962C8B-B14F-4D97-AF65-F5344CB8AC3E}">
        <p14:creationId xmlns:p14="http://schemas.microsoft.com/office/powerpoint/2010/main" val="3703765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40EBD94-5871-031F-3D08-5ACE00159292}"/>
              </a:ext>
            </a:extLst>
          </p:cNvPr>
          <p:cNvSpPr txBox="1"/>
          <p:nvPr/>
        </p:nvSpPr>
        <p:spPr>
          <a:xfrm>
            <a:off x="972377" y="1530410"/>
            <a:ext cx="9236766" cy="1569660"/>
          </a:xfrm>
          <a:prstGeom prst="rect">
            <a:avLst/>
          </a:prstGeom>
          <a:noFill/>
        </p:spPr>
        <p:txBody>
          <a:bodyPr wrap="square">
            <a:spAutoFit/>
          </a:bodyPr>
          <a:lstStyle/>
          <a:p>
            <a:pPr algn="l"/>
            <a:r>
              <a:rPr lang="es-ES" sz="2400" b="1" i="0" dirty="0">
                <a:effectLst/>
              </a:rPr>
              <a:t>Introducción:</a:t>
            </a:r>
            <a:r>
              <a:rPr lang="es-ES" sz="2400" b="0" i="0" dirty="0">
                <a:effectLst/>
              </a:rPr>
              <a:t> "Para comprender una Red de Petri, es crucial familiarizarse con sus componentes básicos”. </a:t>
            </a:r>
          </a:p>
          <a:p>
            <a:pPr algn="l"/>
            <a:endParaRPr lang="es-ES" sz="2400" b="0" i="0" dirty="0">
              <a:effectLst/>
            </a:endParaRPr>
          </a:p>
          <a:p>
            <a:pPr algn="l">
              <a:buFont typeface="Arial" panose="020B0604020202020204" pitchFamily="34" charset="0"/>
              <a:buChar char="•"/>
            </a:pPr>
            <a:r>
              <a:rPr lang="es-ES" sz="2400" b="0" i="0" dirty="0">
                <a:effectLst/>
              </a:rPr>
              <a:t>y los arcos indican las relaciones entre ellos</a:t>
            </a:r>
          </a:p>
        </p:txBody>
      </p:sp>
      <p:sp>
        <p:nvSpPr>
          <p:cNvPr id="6" name="CuadroTexto 5">
            <a:extLst>
              <a:ext uri="{FF2B5EF4-FFF2-40B4-BE49-F238E27FC236}">
                <a16:creationId xmlns:a16="http://schemas.microsoft.com/office/drawing/2014/main" id="{F41F8B86-130B-ED2F-C5DE-6F53A838AC67}"/>
              </a:ext>
            </a:extLst>
          </p:cNvPr>
          <p:cNvSpPr txBox="1"/>
          <p:nvPr/>
        </p:nvSpPr>
        <p:spPr>
          <a:xfrm>
            <a:off x="1717813" y="884079"/>
            <a:ext cx="8984973" cy="646331"/>
          </a:xfrm>
          <a:prstGeom prst="rect">
            <a:avLst/>
          </a:prstGeom>
          <a:noFill/>
        </p:spPr>
        <p:txBody>
          <a:bodyPr wrap="square">
            <a:spAutoFit/>
          </a:bodyPr>
          <a:lstStyle/>
          <a:p>
            <a:pPr algn="ctr"/>
            <a:r>
              <a:rPr lang="es-ES" sz="3600" b="1" dirty="0">
                <a:solidFill>
                  <a:srgbClr val="FF0000"/>
                </a:solidFill>
              </a:rPr>
              <a:t>Elementos de una Red de Petri</a:t>
            </a:r>
          </a:p>
        </p:txBody>
      </p:sp>
      <p:pic>
        <p:nvPicPr>
          <p:cNvPr id="4" name="Imagen 3">
            <a:extLst>
              <a:ext uri="{FF2B5EF4-FFF2-40B4-BE49-F238E27FC236}">
                <a16:creationId xmlns:a16="http://schemas.microsoft.com/office/drawing/2014/main" id="{0AA6FB8F-63CB-AB3E-AABE-3397CC828761}"/>
              </a:ext>
            </a:extLst>
          </p:cNvPr>
          <p:cNvPicPr>
            <a:picLocks noChangeAspect="1"/>
          </p:cNvPicPr>
          <p:nvPr/>
        </p:nvPicPr>
        <p:blipFill rotWithShape="1">
          <a:blip r:embed="rId2">
            <a:extLst>
              <a:ext uri="{28A0092B-C50C-407E-A947-70E740481C1C}">
                <a14:useLocalDpi xmlns:a14="http://schemas.microsoft.com/office/drawing/2010/main" val="0"/>
              </a:ext>
            </a:extLst>
          </a:blip>
          <a:srcRect l="23466" t="6416" r="24138" b="25960"/>
          <a:stretch/>
        </p:blipFill>
        <p:spPr>
          <a:xfrm>
            <a:off x="3400838" y="2970590"/>
            <a:ext cx="5618922" cy="3385761"/>
          </a:xfrm>
          <a:prstGeom prst="rect">
            <a:avLst/>
          </a:prstGeom>
        </p:spPr>
      </p:pic>
      <p:sp>
        <p:nvSpPr>
          <p:cNvPr id="7" name="Google Shape;286;p1">
            <a:extLst>
              <a:ext uri="{FF2B5EF4-FFF2-40B4-BE49-F238E27FC236}">
                <a16:creationId xmlns:a16="http://schemas.microsoft.com/office/drawing/2014/main" id="{F2F7ED12-7E24-401A-C134-4DB0C8926248}"/>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9" name="Google Shape;287;p1">
            <a:extLst>
              <a:ext uri="{FF2B5EF4-FFF2-40B4-BE49-F238E27FC236}">
                <a16:creationId xmlns:a16="http://schemas.microsoft.com/office/drawing/2014/main" id="{85282933-527E-469D-60ED-8D274D9A48E7}"/>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6</a:t>
            </a:fld>
            <a:endParaRPr lang="es-BO" sz="1800" dirty="0">
              <a:solidFill>
                <a:srgbClr val="FFFFFF"/>
              </a:solidFill>
            </a:endParaRPr>
          </a:p>
        </p:txBody>
      </p:sp>
    </p:spTree>
    <p:extLst>
      <p:ext uri="{BB962C8B-B14F-4D97-AF65-F5344CB8AC3E}">
        <p14:creationId xmlns:p14="http://schemas.microsoft.com/office/powerpoint/2010/main" val="3335751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380F8DC-9BF3-E850-4CA9-A2BF739282E7}"/>
              </a:ext>
            </a:extLst>
          </p:cNvPr>
          <p:cNvSpPr txBox="1"/>
          <p:nvPr/>
        </p:nvSpPr>
        <p:spPr>
          <a:xfrm>
            <a:off x="1060173" y="1530410"/>
            <a:ext cx="10071653" cy="1569660"/>
          </a:xfrm>
          <a:prstGeom prst="rect">
            <a:avLst/>
          </a:prstGeom>
          <a:noFill/>
        </p:spPr>
        <p:txBody>
          <a:bodyPr wrap="square">
            <a:spAutoFit/>
          </a:bodyPr>
          <a:lstStyle/>
          <a:p>
            <a:pPr algn="l">
              <a:buFont typeface="Arial" panose="020B0604020202020204" pitchFamily="34" charset="0"/>
              <a:buChar char="•"/>
            </a:pPr>
            <a:r>
              <a:rPr lang="es-ES" sz="2400" b="1" i="0" dirty="0">
                <a:effectLst/>
                <a:latin typeface="+mj-lt"/>
              </a:rPr>
              <a:t>Introducción:</a:t>
            </a:r>
            <a:r>
              <a:rPr lang="es-ES" sz="2400" b="0" i="0" dirty="0">
                <a:effectLst/>
                <a:latin typeface="+mj-lt"/>
              </a:rPr>
              <a:t> "Un vistazo visual a una Red de Petri puede proporcionar una comprensión más clara. Veremos un ejemplo gráfico para ilustrar cómo estos elementos se representan en un diagrama, lo que facilita el análisis de la dinámica del sistema</a:t>
            </a:r>
          </a:p>
        </p:txBody>
      </p:sp>
      <p:sp>
        <p:nvSpPr>
          <p:cNvPr id="6" name="CuadroTexto 5">
            <a:extLst>
              <a:ext uri="{FF2B5EF4-FFF2-40B4-BE49-F238E27FC236}">
                <a16:creationId xmlns:a16="http://schemas.microsoft.com/office/drawing/2014/main" id="{BC9A76BC-45C4-8AB0-4D9E-1DCC6EB98F08}"/>
              </a:ext>
            </a:extLst>
          </p:cNvPr>
          <p:cNvSpPr txBox="1"/>
          <p:nvPr/>
        </p:nvSpPr>
        <p:spPr>
          <a:xfrm>
            <a:off x="1717813" y="884079"/>
            <a:ext cx="8984973" cy="646331"/>
          </a:xfrm>
          <a:prstGeom prst="rect">
            <a:avLst/>
          </a:prstGeom>
          <a:noFill/>
        </p:spPr>
        <p:txBody>
          <a:bodyPr wrap="square">
            <a:spAutoFit/>
          </a:bodyPr>
          <a:lstStyle/>
          <a:p>
            <a:pPr algn="ctr"/>
            <a:r>
              <a:rPr lang="es-ES" sz="3600" b="1" dirty="0">
                <a:solidFill>
                  <a:srgbClr val="FF0000"/>
                </a:solidFill>
              </a:rPr>
              <a:t>Representación Gráfica</a:t>
            </a:r>
          </a:p>
        </p:txBody>
      </p:sp>
      <p:pic>
        <p:nvPicPr>
          <p:cNvPr id="8" name="Imagen 7">
            <a:extLst>
              <a:ext uri="{FF2B5EF4-FFF2-40B4-BE49-F238E27FC236}">
                <a16:creationId xmlns:a16="http://schemas.microsoft.com/office/drawing/2014/main" id="{0BE2AF22-7F70-1BAD-CF3D-3171B192917D}"/>
              </a:ext>
            </a:extLst>
          </p:cNvPr>
          <p:cNvPicPr>
            <a:picLocks noChangeAspect="1"/>
          </p:cNvPicPr>
          <p:nvPr/>
        </p:nvPicPr>
        <p:blipFill rotWithShape="1">
          <a:blip r:embed="rId2">
            <a:extLst>
              <a:ext uri="{28A0092B-C50C-407E-A947-70E740481C1C}">
                <a14:useLocalDpi xmlns:a14="http://schemas.microsoft.com/office/drawing/2010/main" val="0"/>
              </a:ext>
            </a:extLst>
          </a:blip>
          <a:srcRect l="20326" t="8384" r="29130" b="11528"/>
          <a:stretch/>
        </p:blipFill>
        <p:spPr>
          <a:xfrm>
            <a:off x="4084983" y="2735253"/>
            <a:ext cx="4022033" cy="2975439"/>
          </a:xfrm>
          <a:prstGeom prst="rect">
            <a:avLst/>
          </a:prstGeom>
        </p:spPr>
      </p:pic>
      <p:sp>
        <p:nvSpPr>
          <p:cNvPr id="9" name="Google Shape;286;p1">
            <a:extLst>
              <a:ext uri="{FF2B5EF4-FFF2-40B4-BE49-F238E27FC236}">
                <a16:creationId xmlns:a16="http://schemas.microsoft.com/office/drawing/2014/main" id="{18503433-8FAC-385A-CE6F-B8633A416E0B}"/>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1" name="Google Shape;287;p1">
            <a:extLst>
              <a:ext uri="{FF2B5EF4-FFF2-40B4-BE49-F238E27FC236}">
                <a16:creationId xmlns:a16="http://schemas.microsoft.com/office/drawing/2014/main" id="{BD4D56CE-8D4D-A0FC-1769-C595E2B51330}"/>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7</a:t>
            </a:fld>
            <a:endParaRPr lang="es-BO" sz="1800" dirty="0">
              <a:solidFill>
                <a:srgbClr val="FFFFFF"/>
              </a:solidFill>
            </a:endParaRPr>
          </a:p>
        </p:txBody>
      </p:sp>
    </p:spTree>
    <p:extLst>
      <p:ext uri="{BB962C8B-B14F-4D97-AF65-F5344CB8AC3E}">
        <p14:creationId xmlns:p14="http://schemas.microsoft.com/office/powerpoint/2010/main" val="2498011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7757053-9F19-01B1-9451-627194AC34B9}"/>
              </a:ext>
            </a:extLst>
          </p:cNvPr>
          <p:cNvSpPr txBox="1"/>
          <p:nvPr/>
        </p:nvSpPr>
        <p:spPr>
          <a:xfrm>
            <a:off x="1074344" y="1056299"/>
            <a:ext cx="10639013" cy="2308324"/>
          </a:xfrm>
          <a:prstGeom prst="rect">
            <a:avLst/>
          </a:prstGeom>
          <a:noFill/>
        </p:spPr>
        <p:txBody>
          <a:bodyPr wrap="square">
            <a:spAutoFit/>
          </a:bodyPr>
          <a:lstStyle/>
          <a:p>
            <a:pPr algn="l"/>
            <a:r>
              <a:rPr lang="es-ES" sz="2400" b="1" i="0" dirty="0">
                <a:effectLst/>
              </a:rPr>
              <a:t>Introducción:</a:t>
            </a:r>
            <a:r>
              <a:rPr lang="es-ES" sz="2400" b="0" i="0" dirty="0">
                <a:effectLst/>
              </a:rPr>
              <a:t> </a:t>
            </a:r>
          </a:p>
          <a:p>
            <a:pPr algn="l"/>
            <a:r>
              <a:rPr lang="es-ES" sz="2400" b="0" i="0" dirty="0">
                <a:effectLst/>
              </a:rPr>
              <a:t>"Las transiciones no se activan de manera arbitraria. Se basan en condiciones lógicas, determinadas por el número de marcas en las plazas de entrada.”</a:t>
            </a:r>
          </a:p>
          <a:p>
            <a:pPr algn="l"/>
            <a:endParaRPr lang="es-ES" sz="2400" b="0" i="0" dirty="0">
              <a:effectLst/>
            </a:endParaRPr>
          </a:p>
          <a:p>
            <a:pPr algn="l"/>
            <a:r>
              <a:rPr lang="es-ES" sz="2400" b="0" i="0" dirty="0">
                <a:effectLst/>
              </a:rPr>
              <a:t>Entender estas funciones de transición es esencial para comprender el comportamiento del sistema.</a:t>
            </a:r>
          </a:p>
        </p:txBody>
      </p:sp>
      <p:sp>
        <p:nvSpPr>
          <p:cNvPr id="6" name="CuadroTexto 5">
            <a:extLst>
              <a:ext uri="{FF2B5EF4-FFF2-40B4-BE49-F238E27FC236}">
                <a16:creationId xmlns:a16="http://schemas.microsoft.com/office/drawing/2014/main" id="{5ED671C9-4C28-E7F4-7C89-47453D6A64D5}"/>
              </a:ext>
            </a:extLst>
          </p:cNvPr>
          <p:cNvSpPr txBox="1"/>
          <p:nvPr/>
        </p:nvSpPr>
        <p:spPr>
          <a:xfrm>
            <a:off x="1603512" y="566026"/>
            <a:ext cx="8984973" cy="646331"/>
          </a:xfrm>
          <a:prstGeom prst="rect">
            <a:avLst/>
          </a:prstGeom>
          <a:noFill/>
        </p:spPr>
        <p:txBody>
          <a:bodyPr wrap="square">
            <a:spAutoFit/>
          </a:bodyPr>
          <a:lstStyle/>
          <a:p>
            <a:pPr algn="ctr"/>
            <a:r>
              <a:rPr lang="es-ES" sz="3600" b="1" dirty="0">
                <a:solidFill>
                  <a:srgbClr val="FF0000"/>
                </a:solidFill>
              </a:rPr>
              <a:t>Funciones de Transición</a:t>
            </a:r>
          </a:p>
        </p:txBody>
      </p:sp>
      <p:pic>
        <p:nvPicPr>
          <p:cNvPr id="7" name="Imagen 6">
            <a:extLst>
              <a:ext uri="{FF2B5EF4-FFF2-40B4-BE49-F238E27FC236}">
                <a16:creationId xmlns:a16="http://schemas.microsoft.com/office/drawing/2014/main" id="{DC2CF792-7D96-4824-DC75-8ADD7416004D}"/>
              </a:ext>
            </a:extLst>
          </p:cNvPr>
          <p:cNvPicPr>
            <a:picLocks noChangeAspect="1"/>
          </p:cNvPicPr>
          <p:nvPr/>
        </p:nvPicPr>
        <p:blipFill rotWithShape="1">
          <a:blip r:embed="rId2">
            <a:extLst>
              <a:ext uri="{28A0092B-C50C-407E-A947-70E740481C1C}">
                <a14:useLocalDpi xmlns:a14="http://schemas.microsoft.com/office/drawing/2010/main" val="0"/>
              </a:ext>
            </a:extLst>
          </a:blip>
          <a:srcRect l="22964" t="27380" r="22876" b="12528"/>
          <a:stretch/>
        </p:blipFill>
        <p:spPr>
          <a:xfrm>
            <a:off x="3770245" y="4345577"/>
            <a:ext cx="3220278" cy="1668104"/>
          </a:xfrm>
          <a:prstGeom prst="rect">
            <a:avLst/>
          </a:prstGeom>
        </p:spPr>
      </p:pic>
      <p:pic>
        <p:nvPicPr>
          <p:cNvPr id="8" name="Imagen 7">
            <a:extLst>
              <a:ext uri="{FF2B5EF4-FFF2-40B4-BE49-F238E27FC236}">
                <a16:creationId xmlns:a16="http://schemas.microsoft.com/office/drawing/2014/main" id="{845BA8B6-10DE-36C3-6D34-95A484D558F6}"/>
              </a:ext>
            </a:extLst>
          </p:cNvPr>
          <p:cNvPicPr>
            <a:picLocks noChangeAspect="1"/>
          </p:cNvPicPr>
          <p:nvPr/>
        </p:nvPicPr>
        <p:blipFill rotWithShape="1">
          <a:blip r:embed="rId3">
            <a:extLst>
              <a:ext uri="{28A0092B-C50C-407E-A947-70E740481C1C}">
                <a14:useLocalDpi xmlns:a14="http://schemas.microsoft.com/office/drawing/2010/main" val="0"/>
              </a:ext>
            </a:extLst>
          </a:blip>
          <a:srcRect l="23696" t="11177" r="23914" b="32481"/>
          <a:stretch/>
        </p:blipFill>
        <p:spPr>
          <a:xfrm>
            <a:off x="371061" y="3822905"/>
            <a:ext cx="3220279" cy="1616821"/>
          </a:xfrm>
          <a:prstGeom prst="rect">
            <a:avLst/>
          </a:prstGeom>
        </p:spPr>
      </p:pic>
      <p:pic>
        <p:nvPicPr>
          <p:cNvPr id="10" name="Imagen 9">
            <a:extLst>
              <a:ext uri="{FF2B5EF4-FFF2-40B4-BE49-F238E27FC236}">
                <a16:creationId xmlns:a16="http://schemas.microsoft.com/office/drawing/2014/main" id="{5C2DFB08-4BF2-E1F0-C6E8-8863B9027602}"/>
              </a:ext>
            </a:extLst>
          </p:cNvPr>
          <p:cNvPicPr>
            <a:picLocks noChangeAspect="1"/>
          </p:cNvPicPr>
          <p:nvPr/>
        </p:nvPicPr>
        <p:blipFill rotWithShape="1">
          <a:blip r:embed="rId4">
            <a:extLst>
              <a:ext uri="{28A0092B-C50C-407E-A947-70E740481C1C}">
                <a14:useLocalDpi xmlns:a14="http://schemas.microsoft.com/office/drawing/2010/main" val="0"/>
              </a:ext>
            </a:extLst>
          </a:blip>
          <a:srcRect l="20543" t="7220" r="20870" b="8268"/>
          <a:stretch/>
        </p:blipFill>
        <p:spPr>
          <a:xfrm>
            <a:off x="7195930" y="3150707"/>
            <a:ext cx="4625009" cy="3114802"/>
          </a:xfrm>
          <a:prstGeom prst="rect">
            <a:avLst/>
          </a:prstGeom>
        </p:spPr>
      </p:pic>
      <p:sp>
        <p:nvSpPr>
          <p:cNvPr id="11" name="Google Shape;286;p1">
            <a:extLst>
              <a:ext uri="{FF2B5EF4-FFF2-40B4-BE49-F238E27FC236}">
                <a16:creationId xmlns:a16="http://schemas.microsoft.com/office/drawing/2014/main" id="{F6D5B457-FEE4-0944-FC79-30E941821214}"/>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3" name="Google Shape;287;p1">
            <a:extLst>
              <a:ext uri="{FF2B5EF4-FFF2-40B4-BE49-F238E27FC236}">
                <a16:creationId xmlns:a16="http://schemas.microsoft.com/office/drawing/2014/main" id="{18B8DAA0-5DBA-A3DE-615D-9AC2BDF691AF}"/>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8</a:t>
            </a:fld>
            <a:endParaRPr lang="es-BO" sz="1800" dirty="0">
              <a:solidFill>
                <a:srgbClr val="FFFFFF"/>
              </a:solidFill>
            </a:endParaRPr>
          </a:p>
        </p:txBody>
      </p:sp>
    </p:spTree>
    <p:extLst>
      <p:ext uri="{BB962C8B-B14F-4D97-AF65-F5344CB8AC3E}">
        <p14:creationId xmlns:p14="http://schemas.microsoft.com/office/powerpoint/2010/main" val="419355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2487478-8433-3DD1-27BE-A47238F83BB8}"/>
              </a:ext>
            </a:extLst>
          </p:cNvPr>
          <p:cNvPicPr>
            <a:picLocks noChangeAspect="1"/>
          </p:cNvPicPr>
          <p:nvPr/>
        </p:nvPicPr>
        <p:blipFill rotWithShape="1">
          <a:blip r:embed="rId2">
            <a:extLst>
              <a:ext uri="{28A0092B-C50C-407E-A947-70E740481C1C}">
                <a14:useLocalDpi xmlns:a14="http://schemas.microsoft.com/office/drawing/2010/main" val="0"/>
              </a:ext>
            </a:extLst>
          </a:blip>
          <a:srcRect l="23152" t="6987" r="23913" b="14554"/>
          <a:stretch/>
        </p:blipFill>
        <p:spPr>
          <a:xfrm>
            <a:off x="6762759" y="1934817"/>
            <a:ext cx="5429241" cy="3756992"/>
          </a:xfrm>
          <a:prstGeom prst="rect">
            <a:avLst/>
          </a:prstGeom>
        </p:spPr>
      </p:pic>
      <p:pic>
        <p:nvPicPr>
          <p:cNvPr id="9" name="Imagen 8">
            <a:extLst>
              <a:ext uri="{FF2B5EF4-FFF2-40B4-BE49-F238E27FC236}">
                <a16:creationId xmlns:a16="http://schemas.microsoft.com/office/drawing/2014/main" id="{63433CBF-7A69-4137-516B-DF60A2B3FD36}"/>
              </a:ext>
            </a:extLst>
          </p:cNvPr>
          <p:cNvPicPr>
            <a:picLocks noChangeAspect="1"/>
          </p:cNvPicPr>
          <p:nvPr/>
        </p:nvPicPr>
        <p:blipFill rotWithShape="1">
          <a:blip r:embed="rId3">
            <a:extLst>
              <a:ext uri="{28A0092B-C50C-407E-A947-70E740481C1C}">
                <a14:useLocalDpi xmlns:a14="http://schemas.microsoft.com/office/drawing/2010/main" val="0"/>
              </a:ext>
            </a:extLst>
          </a:blip>
          <a:srcRect l="23478" t="7919" r="24239" b="13855"/>
          <a:stretch/>
        </p:blipFill>
        <p:spPr>
          <a:xfrm>
            <a:off x="717689" y="1934818"/>
            <a:ext cx="5378311" cy="3756991"/>
          </a:xfrm>
          <a:prstGeom prst="rect">
            <a:avLst/>
          </a:prstGeom>
        </p:spPr>
      </p:pic>
      <p:sp>
        <p:nvSpPr>
          <p:cNvPr id="10" name="CuadroTexto 9">
            <a:extLst>
              <a:ext uri="{FF2B5EF4-FFF2-40B4-BE49-F238E27FC236}">
                <a16:creationId xmlns:a16="http://schemas.microsoft.com/office/drawing/2014/main" id="{87927A9F-8E3A-2FFC-93F4-92D1BC3AB561}"/>
              </a:ext>
            </a:extLst>
          </p:cNvPr>
          <p:cNvSpPr txBox="1"/>
          <p:nvPr/>
        </p:nvSpPr>
        <p:spPr>
          <a:xfrm>
            <a:off x="1603512" y="566026"/>
            <a:ext cx="8984973" cy="646331"/>
          </a:xfrm>
          <a:prstGeom prst="rect">
            <a:avLst/>
          </a:prstGeom>
          <a:noFill/>
        </p:spPr>
        <p:txBody>
          <a:bodyPr wrap="square">
            <a:spAutoFit/>
          </a:bodyPr>
          <a:lstStyle/>
          <a:p>
            <a:pPr algn="ctr"/>
            <a:r>
              <a:rPr lang="es-ES" sz="3600" b="1" dirty="0">
                <a:solidFill>
                  <a:srgbClr val="FF0000"/>
                </a:solidFill>
              </a:rPr>
              <a:t>Funciones de Transición</a:t>
            </a:r>
          </a:p>
        </p:txBody>
      </p:sp>
      <p:sp>
        <p:nvSpPr>
          <p:cNvPr id="11" name="Google Shape;286;p1">
            <a:extLst>
              <a:ext uri="{FF2B5EF4-FFF2-40B4-BE49-F238E27FC236}">
                <a16:creationId xmlns:a16="http://schemas.microsoft.com/office/drawing/2014/main" id="{A51F3D71-B347-C869-14EB-182139DC198A}"/>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2" name="Google Shape;287;p1">
            <a:extLst>
              <a:ext uri="{FF2B5EF4-FFF2-40B4-BE49-F238E27FC236}">
                <a16:creationId xmlns:a16="http://schemas.microsoft.com/office/drawing/2014/main" id="{947CEB3D-A24A-EDA4-5F3C-80BA61B49FA5}"/>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9</a:t>
            </a:fld>
            <a:endParaRPr lang="es-BO" sz="1800" dirty="0">
              <a:solidFill>
                <a:srgbClr val="FFFFFF"/>
              </a:solidFill>
            </a:endParaRPr>
          </a:p>
        </p:txBody>
      </p:sp>
    </p:spTree>
    <p:extLst>
      <p:ext uri="{BB962C8B-B14F-4D97-AF65-F5344CB8AC3E}">
        <p14:creationId xmlns:p14="http://schemas.microsoft.com/office/powerpoint/2010/main" val="1013557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B28985B-0A00-2D58-1C22-CCFF4CF9D9D7}"/>
              </a:ext>
            </a:extLst>
          </p:cNvPr>
          <p:cNvPicPr>
            <a:picLocks noChangeAspect="1"/>
          </p:cNvPicPr>
          <p:nvPr/>
        </p:nvPicPr>
        <p:blipFill rotWithShape="1">
          <a:blip r:embed="rId2">
            <a:extLst>
              <a:ext uri="{28A0092B-C50C-407E-A947-70E740481C1C}">
                <a14:useLocalDpi xmlns:a14="http://schemas.microsoft.com/office/drawing/2010/main" val="0"/>
              </a:ext>
            </a:extLst>
          </a:blip>
          <a:srcRect l="22392" t="7453" r="24674" b="14088"/>
          <a:stretch/>
        </p:blipFill>
        <p:spPr>
          <a:xfrm>
            <a:off x="202933" y="1934817"/>
            <a:ext cx="5429241" cy="3756991"/>
          </a:xfrm>
          <a:prstGeom prst="rect">
            <a:avLst/>
          </a:prstGeom>
        </p:spPr>
      </p:pic>
      <p:pic>
        <p:nvPicPr>
          <p:cNvPr id="6" name="Imagen 5">
            <a:extLst>
              <a:ext uri="{FF2B5EF4-FFF2-40B4-BE49-F238E27FC236}">
                <a16:creationId xmlns:a16="http://schemas.microsoft.com/office/drawing/2014/main" id="{7BD4A1E9-0E71-9099-A16E-24A989F86A01}"/>
              </a:ext>
            </a:extLst>
          </p:cNvPr>
          <p:cNvPicPr>
            <a:picLocks noChangeAspect="1"/>
          </p:cNvPicPr>
          <p:nvPr/>
        </p:nvPicPr>
        <p:blipFill rotWithShape="1">
          <a:blip r:embed="rId3">
            <a:extLst>
              <a:ext uri="{28A0092B-C50C-407E-A947-70E740481C1C}">
                <a14:useLocalDpi xmlns:a14="http://schemas.microsoft.com/office/drawing/2010/main" val="0"/>
              </a:ext>
            </a:extLst>
          </a:blip>
          <a:srcRect l="23696" t="8151" r="24565" b="14787"/>
          <a:stretch/>
        </p:blipFill>
        <p:spPr>
          <a:xfrm>
            <a:off x="6255029" y="1934817"/>
            <a:ext cx="5402804" cy="3756991"/>
          </a:xfrm>
          <a:prstGeom prst="rect">
            <a:avLst/>
          </a:prstGeom>
        </p:spPr>
      </p:pic>
      <p:sp>
        <p:nvSpPr>
          <p:cNvPr id="7" name="CuadroTexto 6">
            <a:extLst>
              <a:ext uri="{FF2B5EF4-FFF2-40B4-BE49-F238E27FC236}">
                <a16:creationId xmlns:a16="http://schemas.microsoft.com/office/drawing/2014/main" id="{BBCD6A9D-56F1-941A-873B-BC3DFCCEC7F6}"/>
              </a:ext>
            </a:extLst>
          </p:cNvPr>
          <p:cNvSpPr txBox="1"/>
          <p:nvPr/>
        </p:nvSpPr>
        <p:spPr>
          <a:xfrm>
            <a:off x="1603512" y="566026"/>
            <a:ext cx="8984973" cy="646331"/>
          </a:xfrm>
          <a:prstGeom prst="rect">
            <a:avLst/>
          </a:prstGeom>
          <a:noFill/>
        </p:spPr>
        <p:txBody>
          <a:bodyPr wrap="square">
            <a:spAutoFit/>
          </a:bodyPr>
          <a:lstStyle/>
          <a:p>
            <a:pPr algn="ctr"/>
            <a:r>
              <a:rPr lang="es-ES" sz="3600" b="1" dirty="0">
                <a:solidFill>
                  <a:srgbClr val="FF0000"/>
                </a:solidFill>
              </a:rPr>
              <a:t>Funciones de Transición</a:t>
            </a:r>
          </a:p>
        </p:txBody>
      </p:sp>
      <p:sp>
        <p:nvSpPr>
          <p:cNvPr id="8" name="Google Shape;286;p1">
            <a:extLst>
              <a:ext uri="{FF2B5EF4-FFF2-40B4-BE49-F238E27FC236}">
                <a16:creationId xmlns:a16="http://schemas.microsoft.com/office/drawing/2014/main" id="{C1B391BE-07C3-404B-25D2-A0A149BFC8A2}"/>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9" name="Google Shape;287;p1">
            <a:extLst>
              <a:ext uri="{FF2B5EF4-FFF2-40B4-BE49-F238E27FC236}">
                <a16:creationId xmlns:a16="http://schemas.microsoft.com/office/drawing/2014/main" id="{08E6CED4-8267-1834-5DB7-AC7B65B2B865}"/>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10</a:t>
            </a:fld>
            <a:endParaRPr lang="es-BO" sz="1800" dirty="0">
              <a:solidFill>
                <a:srgbClr val="FFFFFF"/>
              </a:solidFill>
            </a:endParaRPr>
          </a:p>
        </p:txBody>
      </p:sp>
    </p:spTree>
    <p:extLst>
      <p:ext uri="{BB962C8B-B14F-4D97-AF65-F5344CB8AC3E}">
        <p14:creationId xmlns:p14="http://schemas.microsoft.com/office/powerpoint/2010/main" val="3157657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01C09E4-BC87-450A-A9AD-7CD9A08BC2E9}"/>
              </a:ext>
            </a:extLst>
          </p:cNvPr>
          <p:cNvPicPr>
            <a:picLocks noChangeAspect="1"/>
          </p:cNvPicPr>
          <p:nvPr/>
        </p:nvPicPr>
        <p:blipFill rotWithShape="1">
          <a:blip r:embed="rId2">
            <a:extLst>
              <a:ext uri="{28A0092B-C50C-407E-A947-70E740481C1C}">
                <a14:useLocalDpi xmlns:a14="http://schemas.microsoft.com/office/drawing/2010/main" val="0"/>
              </a:ext>
            </a:extLst>
          </a:blip>
          <a:srcRect l="22935" t="9082" r="24565" b="14089"/>
          <a:stretch/>
        </p:blipFill>
        <p:spPr>
          <a:xfrm>
            <a:off x="342149" y="2146852"/>
            <a:ext cx="5237018" cy="3578086"/>
          </a:xfrm>
          <a:prstGeom prst="rect">
            <a:avLst/>
          </a:prstGeom>
        </p:spPr>
      </p:pic>
      <p:pic>
        <p:nvPicPr>
          <p:cNvPr id="7" name="Imagen 6">
            <a:extLst>
              <a:ext uri="{FF2B5EF4-FFF2-40B4-BE49-F238E27FC236}">
                <a16:creationId xmlns:a16="http://schemas.microsoft.com/office/drawing/2014/main" id="{DFC63712-1111-2C40-92EF-18FD9ABAC81C}"/>
              </a:ext>
            </a:extLst>
          </p:cNvPr>
          <p:cNvPicPr>
            <a:picLocks noChangeAspect="1"/>
          </p:cNvPicPr>
          <p:nvPr/>
        </p:nvPicPr>
        <p:blipFill rotWithShape="1">
          <a:blip r:embed="rId3">
            <a:extLst>
              <a:ext uri="{28A0092B-C50C-407E-A947-70E740481C1C}">
                <a14:useLocalDpi xmlns:a14="http://schemas.microsoft.com/office/drawing/2010/main" val="0"/>
              </a:ext>
            </a:extLst>
          </a:blip>
          <a:srcRect l="22935" t="9315" r="24565" b="13856"/>
          <a:stretch/>
        </p:blipFill>
        <p:spPr>
          <a:xfrm>
            <a:off x="6742951" y="2146852"/>
            <a:ext cx="5237017" cy="3578086"/>
          </a:xfrm>
          <a:prstGeom prst="rect">
            <a:avLst/>
          </a:prstGeom>
        </p:spPr>
      </p:pic>
      <p:sp>
        <p:nvSpPr>
          <p:cNvPr id="8" name="CuadroTexto 7">
            <a:extLst>
              <a:ext uri="{FF2B5EF4-FFF2-40B4-BE49-F238E27FC236}">
                <a16:creationId xmlns:a16="http://schemas.microsoft.com/office/drawing/2014/main" id="{5F85D165-41FD-B000-24FD-F9BBAC0234F9}"/>
              </a:ext>
            </a:extLst>
          </p:cNvPr>
          <p:cNvSpPr txBox="1"/>
          <p:nvPr/>
        </p:nvSpPr>
        <p:spPr>
          <a:xfrm>
            <a:off x="1603512" y="566026"/>
            <a:ext cx="8984973" cy="646331"/>
          </a:xfrm>
          <a:prstGeom prst="rect">
            <a:avLst/>
          </a:prstGeom>
          <a:noFill/>
        </p:spPr>
        <p:txBody>
          <a:bodyPr wrap="square">
            <a:spAutoFit/>
          </a:bodyPr>
          <a:lstStyle/>
          <a:p>
            <a:pPr algn="ctr"/>
            <a:r>
              <a:rPr lang="es-ES" sz="3600" b="1" dirty="0">
                <a:solidFill>
                  <a:srgbClr val="FF0000"/>
                </a:solidFill>
              </a:rPr>
              <a:t>Funciones de Transición</a:t>
            </a:r>
          </a:p>
        </p:txBody>
      </p:sp>
      <p:sp>
        <p:nvSpPr>
          <p:cNvPr id="9" name="Google Shape;286;p1">
            <a:extLst>
              <a:ext uri="{FF2B5EF4-FFF2-40B4-BE49-F238E27FC236}">
                <a16:creationId xmlns:a16="http://schemas.microsoft.com/office/drawing/2014/main" id="{9590A593-A433-28A1-3983-50B099D76984}"/>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0" name="Google Shape;287;p1">
            <a:extLst>
              <a:ext uri="{FF2B5EF4-FFF2-40B4-BE49-F238E27FC236}">
                <a16:creationId xmlns:a16="http://schemas.microsoft.com/office/drawing/2014/main" id="{91A1A5D5-14AB-0364-59E1-912EB8DEF77D}"/>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11</a:t>
            </a:fld>
            <a:endParaRPr lang="es-BO" sz="1800" dirty="0">
              <a:solidFill>
                <a:srgbClr val="FFFFFF"/>
              </a:solidFill>
            </a:endParaRPr>
          </a:p>
        </p:txBody>
      </p:sp>
    </p:spTree>
    <p:extLst>
      <p:ext uri="{BB962C8B-B14F-4D97-AF65-F5344CB8AC3E}">
        <p14:creationId xmlns:p14="http://schemas.microsoft.com/office/powerpoint/2010/main" val="2866693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2AD71CFE-EB01-2332-64AF-192002F9EB49}"/>
              </a:ext>
            </a:extLst>
          </p:cNvPr>
          <p:cNvPicPr>
            <a:picLocks noChangeAspect="1"/>
          </p:cNvPicPr>
          <p:nvPr/>
        </p:nvPicPr>
        <p:blipFill rotWithShape="1">
          <a:blip r:embed="rId2">
            <a:extLst>
              <a:ext uri="{28A0092B-C50C-407E-A947-70E740481C1C}">
                <a14:useLocalDpi xmlns:a14="http://schemas.microsoft.com/office/drawing/2010/main" val="0"/>
              </a:ext>
            </a:extLst>
          </a:blip>
          <a:srcRect l="20978" t="3495" r="21630" b="4310"/>
          <a:stretch/>
        </p:blipFill>
        <p:spPr>
          <a:xfrm>
            <a:off x="3299701" y="2925385"/>
            <a:ext cx="4656374" cy="3492281"/>
          </a:xfrm>
          <a:prstGeom prst="rect">
            <a:avLst/>
          </a:prstGeom>
        </p:spPr>
      </p:pic>
      <p:sp>
        <p:nvSpPr>
          <p:cNvPr id="16" name="Google Shape;286;p1">
            <a:extLst>
              <a:ext uri="{FF2B5EF4-FFF2-40B4-BE49-F238E27FC236}">
                <a16:creationId xmlns:a16="http://schemas.microsoft.com/office/drawing/2014/main" id="{34FCB629-659E-BB02-686A-62E34ED1F711}"/>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7" name="Google Shape;287;p1">
            <a:extLst>
              <a:ext uri="{FF2B5EF4-FFF2-40B4-BE49-F238E27FC236}">
                <a16:creationId xmlns:a16="http://schemas.microsoft.com/office/drawing/2014/main" id="{485BFCC4-8C82-B4B6-BCB1-D32F65575EDB}"/>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12</a:t>
            </a:fld>
            <a:endParaRPr lang="es-BO" sz="1800" dirty="0">
              <a:solidFill>
                <a:srgbClr val="FFFFFF"/>
              </a:solidFill>
            </a:endParaRPr>
          </a:p>
        </p:txBody>
      </p:sp>
      <p:sp>
        <p:nvSpPr>
          <p:cNvPr id="19" name="CuadroTexto 18">
            <a:extLst>
              <a:ext uri="{FF2B5EF4-FFF2-40B4-BE49-F238E27FC236}">
                <a16:creationId xmlns:a16="http://schemas.microsoft.com/office/drawing/2014/main" id="{86C33429-638C-6DEB-AE78-31BD2F3DAF0C}"/>
              </a:ext>
            </a:extLst>
          </p:cNvPr>
          <p:cNvSpPr txBox="1"/>
          <p:nvPr/>
        </p:nvSpPr>
        <p:spPr>
          <a:xfrm>
            <a:off x="946756" y="1355725"/>
            <a:ext cx="10298483" cy="1569660"/>
          </a:xfrm>
          <a:prstGeom prst="rect">
            <a:avLst/>
          </a:prstGeom>
          <a:noFill/>
        </p:spPr>
        <p:txBody>
          <a:bodyPr wrap="square">
            <a:spAutoFit/>
          </a:bodyPr>
          <a:lstStyle/>
          <a:p>
            <a:pPr algn="l"/>
            <a:r>
              <a:rPr lang="es-ES" sz="2400" b="0" i="0" dirty="0">
                <a:effectLst/>
                <a:latin typeface="+mj-lt"/>
              </a:rPr>
              <a:t>La simulación nos permite observar cómo evoluciona un sistema representado por una Red de Petri. </a:t>
            </a:r>
          </a:p>
          <a:p>
            <a:pPr algn="l"/>
            <a:r>
              <a:rPr lang="es-ES" sz="2400" b="0" i="0" dirty="0">
                <a:effectLst/>
                <a:latin typeface="+mj-lt"/>
              </a:rPr>
              <a:t>A través del análisis de los resultados, podemos extraer valiosa información sobre el comportamiento y las posibles mejoras del sistema.</a:t>
            </a:r>
          </a:p>
        </p:txBody>
      </p:sp>
      <p:sp>
        <p:nvSpPr>
          <p:cNvPr id="20" name="CuadroTexto 19">
            <a:extLst>
              <a:ext uri="{FF2B5EF4-FFF2-40B4-BE49-F238E27FC236}">
                <a16:creationId xmlns:a16="http://schemas.microsoft.com/office/drawing/2014/main" id="{6C62A06C-0E9A-22AD-DECD-1DCDA090268D}"/>
              </a:ext>
            </a:extLst>
          </p:cNvPr>
          <p:cNvSpPr txBox="1"/>
          <p:nvPr/>
        </p:nvSpPr>
        <p:spPr>
          <a:xfrm>
            <a:off x="1603512" y="566026"/>
            <a:ext cx="8984973" cy="646331"/>
          </a:xfrm>
          <a:prstGeom prst="rect">
            <a:avLst/>
          </a:prstGeom>
          <a:noFill/>
        </p:spPr>
        <p:txBody>
          <a:bodyPr wrap="square">
            <a:spAutoFit/>
          </a:bodyPr>
          <a:lstStyle/>
          <a:p>
            <a:pPr algn="ctr"/>
            <a:r>
              <a:rPr lang="es-ES" sz="3600" b="1" dirty="0">
                <a:solidFill>
                  <a:srgbClr val="FF0000"/>
                </a:solidFill>
              </a:rPr>
              <a:t>Simulación y Análisis</a:t>
            </a:r>
          </a:p>
        </p:txBody>
      </p:sp>
    </p:spTree>
    <p:extLst>
      <p:ext uri="{BB962C8B-B14F-4D97-AF65-F5344CB8AC3E}">
        <p14:creationId xmlns:p14="http://schemas.microsoft.com/office/powerpoint/2010/main" val="2462549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5AAB70F7-1055-DB09-88A8-86DEA014E26C}"/>
              </a:ext>
            </a:extLst>
          </p:cNvPr>
          <p:cNvPicPr>
            <a:picLocks noChangeAspect="1"/>
          </p:cNvPicPr>
          <p:nvPr/>
        </p:nvPicPr>
        <p:blipFill rotWithShape="1">
          <a:blip r:embed="rId2">
            <a:extLst>
              <a:ext uri="{28A0092B-C50C-407E-A947-70E740481C1C}">
                <a14:useLocalDpi xmlns:a14="http://schemas.microsoft.com/office/drawing/2010/main" val="0"/>
              </a:ext>
            </a:extLst>
          </a:blip>
          <a:srcRect l="24457" t="2912" r="23695" b="5242"/>
          <a:stretch/>
        </p:blipFill>
        <p:spPr>
          <a:xfrm>
            <a:off x="6399483" y="1534393"/>
            <a:ext cx="5163039" cy="4270060"/>
          </a:xfrm>
          <a:prstGeom prst="rect">
            <a:avLst/>
          </a:prstGeom>
        </p:spPr>
      </p:pic>
      <p:pic>
        <p:nvPicPr>
          <p:cNvPr id="13" name="Imagen 12">
            <a:extLst>
              <a:ext uri="{FF2B5EF4-FFF2-40B4-BE49-F238E27FC236}">
                <a16:creationId xmlns:a16="http://schemas.microsoft.com/office/drawing/2014/main" id="{304AE65B-DB3A-70A8-47A0-8DF43414F910}"/>
              </a:ext>
            </a:extLst>
          </p:cNvPr>
          <p:cNvPicPr>
            <a:picLocks noChangeAspect="1"/>
          </p:cNvPicPr>
          <p:nvPr/>
        </p:nvPicPr>
        <p:blipFill rotWithShape="1">
          <a:blip r:embed="rId3">
            <a:extLst>
              <a:ext uri="{28A0092B-C50C-407E-A947-70E740481C1C}">
                <a14:useLocalDpi xmlns:a14="http://schemas.microsoft.com/office/drawing/2010/main" val="0"/>
              </a:ext>
            </a:extLst>
          </a:blip>
          <a:srcRect l="23478" t="10480" r="23369" b="14554"/>
          <a:stretch/>
        </p:blipFill>
        <p:spPr>
          <a:xfrm>
            <a:off x="447920" y="1772932"/>
            <a:ext cx="5292927" cy="3485322"/>
          </a:xfrm>
          <a:prstGeom prst="rect">
            <a:avLst/>
          </a:prstGeom>
        </p:spPr>
      </p:pic>
      <p:sp>
        <p:nvSpPr>
          <p:cNvPr id="14" name="Google Shape;286;p1">
            <a:extLst>
              <a:ext uri="{FF2B5EF4-FFF2-40B4-BE49-F238E27FC236}">
                <a16:creationId xmlns:a16="http://schemas.microsoft.com/office/drawing/2014/main" id="{578EE9F7-53D9-7D76-E6FC-FD5E73BEF0A7}"/>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5" name="Google Shape;287;p1">
            <a:extLst>
              <a:ext uri="{FF2B5EF4-FFF2-40B4-BE49-F238E27FC236}">
                <a16:creationId xmlns:a16="http://schemas.microsoft.com/office/drawing/2014/main" id="{1874ECBC-9ECE-6E18-CD38-7399C27A5A31}"/>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13</a:t>
            </a:fld>
            <a:endParaRPr lang="es-BO" sz="1800" dirty="0">
              <a:solidFill>
                <a:srgbClr val="FFFFFF"/>
              </a:solidFill>
            </a:endParaRPr>
          </a:p>
        </p:txBody>
      </p:sp>
      <p:sp>
        <p:nvSpPr>
          <p:cNvPr id="18" name="CuadroTexto 17">
            <a:extLst>
              <a:ext uri="{FF2B5EF4-FFF2-40B4-BE49-F238E27FC236}">
                <a16:creationId xmlns:a16="http://schemas.microsoft.com/office/drawing/2014/main" id="{2098DBBA-05D2-76E4-07D5-47175C871B4E}"/>
              </a:ext>
            </a:extLst>
          </p:cNvPr>
          <p:cNvSpPr txBox="1"/>
          <p:nvPr/>
        </p:nvSpPr>
        <p:spPr>
          <a:xfrm>
            <a:off x="1603513" y="178864"/>
            <a:ext cx="8984973" cy="646331"/>
          </a:xfrm>
          <a:prstGeom prst="rect">
            <a:avLst/>
          </a:prstGeom>
          <a:noFill/>
        </p:spPr>
        <p:txBody>
          <a:bodyPr wrap="square">
            <a:spAutoFit/>
          </a:bodyPr>
          <a:lstStyle/>
          <a:p>
            <a:pPr algn="ctr"/>
            <a:r>
              <a:rPr lang="es-ES" sz="3600" b="1" dirty="0">
                <a:solidFill>
                  <a:srgbClr val="FF0000"/>
                </a:solidFill>
              </a:rPr>
              <a:t>Simulación y Análisis</a:t>
            </a:r>
          </a:p>
        </p:txBody>
      </p:sp>
    </p:spTree>
    <p:extLst>
      <p:ext uri="{BB962C8B-B14F-4D97-AF65-F5344CB8AC3E}">
        <p14:creationId xmlns:p14="http://schemas.microsoft.com/office/powerpoint/2010/main" val="2394649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21FF959-F86E-EDFB-751B-4527DB669553}"/>
              </a:ext>
            </a:extLst>
          </p:cNvPr>
          <p:cNvPicPr>
            <a:picLocks noChangeAspect="1"/>
          </p:cNvPicPr>
          <p:nvPr/>
        </p:nvPicPr>
        <p:blipFill rotWithShape="1">
          <a:blip r:embed="rId2">
            <a:extLst>
              <a:ext uri="{28A0092B-C50C-407E-A947-70E740481C1C}">
                <a14:useLocalDpi xmlns:a14="http://schemas.microsoft.com/office/drawing/2010/main" val="0"/>
              </a:ext>
            </a:extLst>
          </a:blip>
          <a:srcRect l="24022" t="4776" r="23260" b="4892"/>
          <a:stretch/>
        </p:blipFill>
        <p:spPr>
          <a:xfrm>
            <a:off x="8176590" y="1891748"/>
            <a:ext cx="3843130" cy="3074504"/>
          </a:xfrm>
          <a:prstGeom prst="rect">
            <a:avLst/>
          </a:prstGeom>
        </p:spPr>
      </p:pic>
      <p:pic>
        <p:nvPicPr>
          <p:cNvPr id="7" name="Imagen 6">
            <a:extLst>
              <a:ext uri="{FF2B5EF4-FFF2-40B4-BE49-F238E27FC236}">
                <a16:creationId xmlns:a16="http://schemas.microsoft.com/office/drawing/2014/main" id="{56D8990C-B97A-FE25-0F1B-31EC135D2178}"/>
              </a:ext>
            </a:extLst>
          </p:cNvPr>
          <p:cNvPicPr>
            <a:picLocks noChangeAspect="1"/>
          </p:cNvPicPr>
          <p:nvPr/>
        </p:nvPicPr>
        <p:blipFill rotWithShape="1">
          <a:blip r:embed="rId3">
            <a:extLst>
              <a:ext uri="{28A0092B-C50C-407E-A947-70E740481C1C}">
                <a14:useLocalDpi xmlns:a14="http://schemas.microsoft.com/office/drawing/2010/main" val="0"/>
              </a:ext>
            </a:extLst>
          </a:blip>
          <a:srcRect l="24022" t="4893" r="23260" b="4775"/>
          <a:stretch/>
        </p:blipFill>
        <p:spPr>
          <a:xfrm>
            <a:off x="172280" y="1891748"/>
            <a:ext cx="3843130" cy="3074504"/>
          </a:xfrm>
          <a:prstGeom prst="rect">
            <a:avLst/>
          </a:prstGeom>
        </p:spPr>
      </p:pic>
      <p:pic>
        <p:nvPicPr>
          <p:cNvPr id="9" name="Imagen 8">
            <a:extLst>
              <a:ext uri="{FF2B5EF4-FFF2-40B4-BE49-F238E27FC236}">
                <a16:creationId xmlns:a16="http://schemas.microsoft.com/office/drawing/2014/main" id="{EB4C38C6-11EF-3E0F-84ED-59131947A863}"/>
              </a:ext>
            </a:extLst>
          </p:cNvPr>
          <p:cNvPicPr>
            <a:picLocks noChangeAspect="1"/>
          </p:cNvPicPr>
          <p:nvPr/>
        </p:nvPicPr>
        <p:blipFill rotWithShape="1">
          <a:blip r:embed="rId4">
            <a:extLst>
              <a:ext uri="{28A0092B-C50C-407E-A947-70E740481C1C}">
                <a14:useLocalDpi xmlns:a14="http://schemas.microsoft.com/office/drawing/2010/main" val="0"/>
              </a:ext>
            </a:extLst>
          </a:blip>
          <a:srcRect l="24348" t="4195" r="22935" b="5474"/>
          <a:stretch/>
        </p:blipFill>
        <p:spPr>
          <a:xfrm>
            <a:off x="4174435" y="1891748"/>
            <a:ext cx="3843129" cy="3074503"/>
          </a:xfrm>
          <a:prstGeom prst="rect">
            <a:avLst/>
          </a:prstGeom>
        </p:spPr>
      </p:pic>
      <p:sp>
        <p:nvSpPr>
          <p:cNvPr id="10" name="Google Shape;286;p1">
            <a:extLst>
              <a:ext uri="{FF2B5EF4-FFF2-40B4-BE49-F238E27FC236}">
                <a16:creationId xmlns:a16="http://schemas.microsoft.com/office/drawing/2014/main" id="{9C6BDC8D-761A-4B39-A572-7DAF7BAE7BE5}"/>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1" name="Google Shape;287;p1">
            <a:extLst>
              <a:ext uri="{FF2B5EF4-FFF2-40B4-BE49-F238E27FC236}">
                <a16:creationId xmlns:a16="http://schemas.microsoft.com/office/drawing/2014/main" id="{22EF5BB8-795D-92B6-F4B1-B81E65CD5AD4}"/>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14</a:t>
            </a:fld>
            <a:endParaRPr lang="es-BO" sz="1800" dirty="0">
              <a:solidFill>
                <a:srgbClr val="FFFFFF"/>
              </a:solidFill>
            </a:endParaRPr>
          </a:p>
        </p:txBody>
      </p:sp>
      <p:sp>
        <p:nvSpPr>
          <p:cNvPr id="12" name="CuadroTexto 11">
            <a:extLst>
              <a:ext uri="{FF2B5EF4-FFF2-40B4-BE49-F238E27FC236}">
                <a16:creationId xmlns:a16="http://schemas.microsoft.com/office/drawing/2014/main" id="{80B93CE9-FB21-DD2D-F5E6-3F3B5DE24A8D}"/>
              </a:ext>
            </a:extLst>
          </p:cNvPr>
          <p:cNvSpPr txBox="1"/>
          <p:nvPr/>
        </p:nvSpPr>
        <p:spPr>
          <a:xfrm>
            <a:off x="1603513" y="152360"/>
            <a:ext cx="8984973" cy="646331"/>
          </a:xfrm>
          <a:prstGeom prst="rect">
            <a:avLst/>
          </a:prstGeom>
          <a:noFill/>
        </p:spPr>
        <p:txBody>
          <a:bodyPr wrap="square">
            <a:spAutoFit/>
          </a:bodyPr>
          <a:lstStyle/>
          <a:p>
            <a:pPr algn="ctr"/>
            <a:r>
              <a:rPr lang="es-ES" sz="3600" b="1" dirty="0">
                <a:solidFill>
                  <a:srgbClr val="FF0000"/>
                </a:solidFill>
              </a:rPr>
              <a:t>Simulación y Análisis</a:t>
            </a:r>
          </a:p>
        </p:txBody>
      </p:sp>
    </p:spTree>
    <p:extLst>
      <p:ext uri="{BB962C8B-B14F-4D97-AF65-F5344CB8AC3E}">
        <p14:creationId xmlns:p14="http://schemas.microsoft.com/office/powerpoint/2010/main" val="4066095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8176147-1903-7F6F-A875-5FF6CAE7496D}"/>
              </a:ext>
            </a:extLst>
          </p:cNvPr>
          <p:cNvPicPr>
            <a:picLocks noChangeAspect="1"/>
          </p:cNvPicPr>
          <p:nvPr/>
        </p:nvPicPr>
        <p:blipFill rotWithShape="1">
          <a:blip r:embed="rId2">
            <a:extLst>
              <a:ext uri="{28A0092B-C50C-407E-A947-70E740481C1C}">
                <a14:useLocalDpi xmlns:a14="http://schemas.microsoft.com/office/drawing/2010/main" val="0"/>
              </a:ext>
            </a:extLst>
          </a:blip>
          <a:srcRect l="19348" r="19891"/>
          <a:stretch/>
        </p:blipFill>
        <p:spPr>
          <a:xfrm>
            <a:off x="5400737" y="1993983"/>
            <a:ext cx="5579365" cy="4287078"/>
          </a:xfrm>
          <a:prstGeom prst="rect">
            <a:avLst/>
          </a:prstGeom>
        </p:spPr>
      </p:pic>
      <p:sp>
        <p:nvSpPr>
          <p:cNvPr id="6" name="Google Shape;286;p1">
            <a:extLst>
              <a:ext uri="{FF2B5EF4-FFF2-40B4-BE49-F238E27FC236}">
                <a16:creationId xmlns:a16="http://schemas.microsoft.com/office/drawing/2014/main" id="{8CF3D0A9-3BBA-0989-1023-66598F54FFA6}"/>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7" name="Google Shape;287;p1">
            <a:extLst>
              <a:ext uri="{FF2B5EF4-FFF2-40B4-BE49-F238E27FC236}">
                <a16:creationId xmlns:a16="http://schemas.microsoft.com/office/drawing/2014/main" id="{2A8BBCC4-E509-7C09-60BF-0057B60F9AF4}"/>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15</a:t>
            </a:fld>
            <a:endParaRPr lang="es-BO" sz="1800" dirty="0">
              <a:solidFill>
                <a:srgbClr val="FFFFFF"/>
              </a:solidFill>
            </a:endParaRPr>
          </a:p>
        </p:txBody>
      </p:sp>
      <p:pic>
        <p:nvPicPr>
          <p:cNvPr id="8" name="Imagen 7">
            <a:extLst>
              <a:ext uri="{FF2B5EF4-FFF2-40B4-BE49-F238E27FC236}">
                <a16:creationId xmlns:a16="http://schemas.microsoft.com/office/drawing/2014/main" id="{3D8DB832-05CE-1ACE-DF2B-B40B89209C3F}"/>
              </a:ext>
            </a:extLst>
          </p:cNvPr>
          <p:cNvPicPr>
            <a:picLocks noChangeAspect="1"/>
          </p:cNvPicPr>
          <p:nvPr/>
        </p:nvPicPr>
        <p:blipFill rotWithShape="1">
          <a:blip r:embed="rId3">
            <a:extLst>
              <a:ext uri="{28A0092B-C50C-407E-A947-70E740481C1C}">
                <a14:useLocalDpi xmlns:a14="http://schemas.microsoft.com/office/drawing/2010/main" val="0"/>
              </a:ext>
            </a:extLst>
          </a:blip>
          <a:srcRect l="34891" t="14438" r="34348" b="21538"/>
          <a:stretch/>
        </p:blipFill>
        <p:spPr>
          <a:xfrm>
            <a:off x="1211898" y="2652077"/>
            <a:ext cx="3057316" cy="2970890"/>
          </a:xfrm>
          <a:prstGeom prst="rect">
            <a:avLst/>
          </a:prstGeom>
        </p:spPr>
      </p:pic>
      <p:sp>
        <p:nvSpPr>
          <p:cNvPr id="9" name="CuadroTexto 8">
            <a:extLst>
              <a:ext uri="{FF2B5EF4-FFF2-40B4-BE49-F238E27FC236}">
                <a16:creationId xmlns:a16="http://schemas.microsoft.com/office/drawing/2014/main" id="{8A579B4A-2B78-5956-1368-C5B9C8F8B7EC}"/>
              </a:ext>
            </a:extLst>
          </p:cNvPr>
          <p:cNvSpPr txBox="1"/>
          <p:nvPr/>
        </p:nvSpPr>
        <p:spPr>
          <a:xfrm>
            <a:off x="1603513" y="152360"/>
            <a:ext cx="8984973" cy="646331"/>
          </a:xfrm>
          <a:prstGeom prst="rect">
            <a:avLst/>
          </a:prstGeom>
          <a:noFill/>
        </p:spPr>
        <p:txBody>
          <a:bodyPr wrap="square">
            <a:spAutoFit/>
          </a:bodyPr>
          <a:lstStyle/>
          <a:p>
            <a:pPr algn="ctr"/>
            <a:r>
              <a:rPr lang="es-ES" sz="3600" b="1" dirty="0">
                <a:solidFill>
                  <a:srgbClr val="FF0000"/>
                </a:solidFill>
              </a:rPr>
              <a:t>Simulación y Análisis</a:t>
            </a:r>
          </a:p>
        </p:txBody>
      </p:sp>
    </p:spTree>
    <p:extLst>
      <p:ext uri="{BB962C8B-B14F-4D97-AF65-F5344CB8AC3E}">
        <p14:creationId xmlns:p14="http://schemas.microsoft.com/office/powerpoint/2010/main" val="4072621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6B38CD2-74BA-1FB8-77EA-2DF0447C8565}"/>
              </a:ext>
            </a:extLst>
          </p:cNvPr>
          <p:cNvPicPr>
            <a:picLocks noChangeAspect="1"/>
          </p:cNvPicPr>
          <p:nvPr/>
        </p:nvPicPr>
        <p:blipFill rotWithShape="1">
          <a:blip r:embed="rId2">
            <a:extLst>
              <a:ext uri="{28A0092B-C50C-407E-A947-70E740481C1C}">
                <a14:useLocalDpi xmlns:a14="http://schemas.microsoft.com/office/drawing/2010/main" val="0"/>
              </a:ext>
            </a:extLst>
          </a:blip>
          <a:srcRect l="19456" t="14263" r="33696" b="5940"/>
          <a:stretch/>
        </p:blipFill>
        <p:spPr>
          <a:xfrm>
            <a:off x="1070592" y="3040501"/>
            <a:ext cx="3832711" cy="3047939"/>
          </a:xfrm>
          <a:prstGeom prst="rect">
            <a:avLst/>
          </a:prstGeom>
        </p:spPr>
      </p:pic>
      <p:pic>
        <p:nvPicPr>
          <p:cNvPr id="11" name="Imagen 10">
            <a:extLst>
              <a:ext uri="{FF2B5EF4-FFF2-40B4-BE49-F238E27FC236}">
                <a16:creationId xmlns:a16="http://schemas.microsoft.com/office/drawing/2014/main" id="{AF2010B4-3ABB-1BC2-645E-DD7BBF869374}"/>
              </a:ext>
            </a:extLst>
          </p:cNvPr>
          <p:cNvPicPr>
            <a:picLocks noChangeAspect="1"/>
          </p:cNvPicPr>
          <p:nvPr/>
        </p:nvPicPr>
        <p:blipFill rotWithShape="1">
          <a:blip r:embed="rId3">
            <a:extLst>
              <a:ext uri="{28A0092B-C50C-407E-A947-70E740481C1C}">
                <a14:useLocalDpi xmlns:a14="http://schemas.microsoft.com/office/drawing/2010/main" val="0"/>
              </a:ext>
            </a:extLst>
          </a:blip>
          <a:srcRect l="19456" t="16300" r="20109" b="5939"/>
          <a:stretch/>
        </p:blipFill>
        <p:spPr>
          <a:xfrm>
            <a:off x="5868428" y="2932874"/>
            <a:ext cx="5252980" cy="3155566"/>
          </a:xfrm>
          <a:prstGeom prst="rect">
            <a:avLst/>
          </a:prstGeom>
        </p:spPr>
      </p:pic>
      <p:sp>
        <p:nvSpPr>
          <p:cNvPr id="2" name="Google Shape;286;p1">
            <a:extLst>
              <a:ext uri="{FF2B5EF4-FFF2-40B4-BE49-F238E27FC236}">
                <a16:creationId xmlns:a16="http://schemas.microsoft.com/office/drawing/2014/main" id="{54AE16BB-87EA-723C-ED06-14B90249F385}"/>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3" name="Google Shape;287;p1">
            <a:extLst>
              <a:ext uri="{FF2B5EF4-FFF2-40B4-BE49-F238E27FC236}">
                <a16:creationId xmlns:a16="http://schemas.microsoft.com/office/drawing/2014/main" id="{9D786AB9-7B0B-259A-4870-15414E62DD84}"/>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16</a:t>
            </a:fld>
            <a:endParaRPr lang="es-BO" sz="1800" dirty="0">
              <a:solidFill>
                <a:srgbClr val="FFFFFF"/>
              </a:solidFill>
            </a:endParaRPr>
          </a:p>
        </p:txBody>
      </p:sp>
      <p:sp>
        <p:nvSpPr>
          <p:cNvPr id="6" name="CuadroTexto 5">
            <a:extLst>
              <a:ext uri="{FF2B5EF4-FFF2-40B4-BE49-F238E27FC236}">
                <a16:creationId xmlns:a16="http://schemas.microsoft.com/office/drawing/2014/main" id="{B47F78E1-6090-9D03-EDF5-62931A8231E9}"/>
              </a:ext>
            </a:extLst>
          </p:cNvPr>
          <p:cNvSpPr txBox="1"/>
          <p:nvPr/>
        </p:nvSpPr>
        <p:spPr>
          <a:xfrm>
            <a:off x="1070592" y="1212357"/>
            <a:ext cx="10298484" cy="1569660"/>
          </a:xfrm>
          <a:prstGeom prst="rect">
            <a:avLst/>
          </a:prstGeom>
          <a:noFill/>
        </p:spPr>
        <p:txBody>
          <a:bodyPr wrap="square">
            <a:spAutoFit/>
          </a:bodyPr>
          <a:lstStyle/>
          <a:p>
            <a:pPr algn="l"/>
            <a:r>
              <a:rPr lang="es-ES" sz="2400" b="1" i="0" dirty="0">
                <a:effectLst/>
                <a:latin typeface="+mj-lt"/>
              </a:rPr>
              <a:t>Casos de Estudio</a:t>
            </a:r>
          </a:p>
          <a:p>
            <a:pPr algn="l">
              <a:buFont typeface="Arial" panose="020B0604020202020204" pitchFamily="34" charset="0"/>
              <a:buChar char="•"/>
            </a:pPr>
            <a:r>
              <a:rPr lang="es-ES" sz="2400" b="0" i="0" dirty="0">
                <a:effectLst/>
                <a:latin typeface="+mj-lt"/>
              </a:rPr>
              <a:t>Para ilustrar aún más la versatilidad y utilidad de las Redes de Petri, examinaremos casos reales donde se han aplicado con éxito. Este ejemplo práctico destaca cómo esta herramienta puede ser crucial en la resolución de problemas</a:t>
            </a:r>
          </a:p>
        </p:txBody>
      </p:sp>
      <p:sp>
        <p:nvSpPr>
          <p:cNvPr id="8" name="CuadroTexto 7">
            <a:extLst>
              <a:ext uri="{FF2B5EF4-FFF2-40B4-BE49-F238E27FC236}">
                <a16:creationId xmlns:a16="http://schemas.microsoft.com/office/drawing/2014/main" id="{3BD413A5-52D9-EA6C-24DC-19EA862F27C2}"/>
              </a:ext>
            </a:extLst>
          </p:cNvPr>
          <p:cNvSpPr txBox="1"/>
          <p:nvPr/>
        </p:nvSpPr>
        <p:spPr>
          <a:xfrm>
            <a:off x="1603512" y="566026"/>
            <a:ext cx="8984973" cy="646331"/>
          </a:xfrm>
          <a:prstGeom prst="rect">
            <a:avLst/>
          </a:prstGeom>
          <a:noFill/>
        </p:spPr>
        <p:txBody>
          <a:bodyPr wrap="square">
            <a:spAutoFit/>
          </a:bodyPr>
          <a:lstStyle/>
          <a:p>
            <a:pPr algn="ctr"/>
            <a:r>
              <a:rPr lang="es-ES" sz="3600" b="1" dirty="0">
                <a:solidFill>
                  <a:srgbClr val="FF0000"/>
                </a:solidFill>
              </a:rPr>
              <a:t>Simulación y Análisis</a:t>
            </a:r>
          </a:p>
        </p:txBody>
      </p:sp>
    </p:spTree>
    <p:extLst>
      <p:ext uri="{BB962C8B-B14F-4D97-AF65-F5344CB8AC3E}">
        <p14:creationId xmlns:p14="http://schemas.microsoft.com/office/powerpoint/2010/main" val="3789487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3AAFBC9-9BF0-333E-C731-CE24CCBCD887}"/>
              </a:ext>
            </a:extLst>
          </p:cNvPr>
          <p:cNvPicPr>
            <a:picLocks noChangeAspect="1"/>
          </p:cNvPicPr>
          <p:nvPr/>
        </p:nvPicPr>
        <p:blipFill rotWithShape="1">
          <a:blip r:embed="rId2">
            <a:extLst>
              <a:ext uri="{28A0092B-C50C-407E-A947-70E740481C1C}">
                <a14:useLocalDpi xmlns:a14="http://schemas.microsoft.com/office/drawing/2010/main" val="0"/>
              </a:ext>
            </a:extLst>
          </a:blip>
          <a:srcRect l="19456" t="14263" r="20109" b="5940"/>
          <a:stretch/>
        </p:blipFill>
        <p:spPr>
          <a:xfrm>
            <a:off x="238539" y="582005"/>
            <a:ext cx="4420559" cy="2725084"/>
          </a:xfrm>
          <a:prstGeom prst="rect">
            <a:avLst/>
          </a:prstGeom>
        </p:spPr>
      </p:pic>
      <p:pic>
        <p:nvPicPr>
          <p:cNvPr id="3" name="Imagen 2">
            <a:extLst>
              <a:ext uri="{FF2B5EF4-FFF2-40B4-BE49-F238E27FC236}">
                <a16:creationId xmlns:a16="http://schemas.microsoft.com/office/drawing/2014/main" id="{B006859D-8C8A-3F06-DBE2-602215F6123F}"/>
              </a:ext>
            </a:extLst>
          </p:cNvPr>
          <p:cNvPicPr>
            <a:picLocks noChangeAspect="1"/>
          </p:cNvPicPr>
          <p:nvPr/>
        </p:nvPicPr>
        <p:blipFill rotWithShape="1">
          <a:blip r:embed="rId3">
            <a:extLst>
              <a:ext uri="{28A0092B-C50C-407E-A947-70E740481C1C}">
                <a14:useLocalDpi xmlns:a14="http://schemas.microsoft.com/office/drawing/2010/main" val="0"/>
              </a:ext>
            </a:extLst>
          </a:blip>
          <a:srcRect l="19348" t="15369" r="20217" b="6638"/>
          <a:stretch/>
        </p:blipFill>
        <p:spPr>
          <a:xfrm>
            <a:off x="7051574" y="3378636"/>
            <a:ext cx="4901887" cy="2953474"/>
          </a:xfrm>
          <a:prstGeom prst="rect">
            <a:avLst/>
          </a:prstGeom>
        </p:spPr>
      </p:pic>
      <p:pic>
        <p:nvPicPr>
          <p:cNvPr id="6" name="Imagen 5">
            <a:extLst>
              <a:ext uri="{FF2B5EF4-FFF2-40B4-BE49-F238E27FC236}">
                <a16:creationId xmlns:a16="http://schemas.microsoft.com/office/drawing/2014/main" id="{FB72E7F8-E6F7-E430-F17F-C980DEECF953}"/>
              </a:ext>
            </a:extLst>
          </p:cNvPr>
          <p:cNvPicPr>
            <a:picLocks noChangeAspect="1"/>
          </p:cNvPicPr>
          <p:nvPr/>
        </p:nvPicPr>
        <p:blipFill rotWithShape="1">
          <a:blip r:embed="rId4">
            <a:extLst>
              <a:ext uri="{28A0092B-C50C-407E-A947-70E740481C1C}">
                <a14:useLocalDpi xmlns:a14="http://schemas.microsoft.com/office/drawing/2010/main" val="0"/>
              </a:ext>
            </a:extLst>
          </a:blip>
          <a:srcRect l="19348" t="15369" r="20217" b="6638"/>
          <a:stretch/>
        </p:blipFill>
        <p:spPr>
          <a:xfrm>
            <a:off x="238539" y="3378636"/>
            <a:ext cx="4901886" cy="2953474"/>
          </a:xfrm>
          <a:prstGeom prst="rect">
            <a:avLst/>
          </a:prstGeom>
        </p:spPr>
      </p:pic>
      <p:pic>
        <p:nvPicPr>
          <p:cNvPr id="10" name="Imagen 9">
            <a:extLst>
              <a:ext uri="{FF2B5EF4-FFF2-40B4-BE49-F238E27FC236}">
                <a16:creationId xmlns:a16="http://schemas.microsoft.com/office/drawing/2014/main" id="{F9A2D571-BB68-02BA-7D6B-33AE0282360A}"/>
              </a:ext>
            </a:extLst>
          </p:cNvPr>
          <p:cNvPicPr>
            <a:picLocks noChangeAspect="1"/>
          </p:cNvPicPr>
          <p:nvPr/>
        </p:nvPicPr>
        <p:blipFill rotWithShape="1">
          <a:blip r:embed="rId5">
            <a:extLst>
              <a:ext uri="{28A0092B-C50C-407E-A947-70E740481C1C}">
                <a14:useLocalDpi xmlns:a14="http://schemas.microsoft.com/office/drawing/2010/main" val="0"/>
              </a:ext>
            </a:extLst>
          </a:blip>
          <a:srcRect l="19348" t="15369" r="20217" b="6638"/>
          <a:stretch/>
        </p:blipFill>
        <p:spPr>
          <a:xfrm>
            <a:off x="7051577" y="353615"/>
            <a:ext cx="4901885" cy="2953474"/>
          </a:xfrm>
          <a:prstGeom prst="rect">
            <a:avLst/>
          </a:prstGeom>
        </p:spPr>
      </p:pic>
      <p:sp>
        <p:nvSpPr>
          <p:cNvPr id="12" name="Google Shape;286;p1">
            <a:extLst>
              <a:ext uri="{FF2B5EF4-FFF2-40B4-BE49-F238E27FC236}">
                <a16:creationId xmlns:a16="http://schemas.microsoft.com/office/drawing/2014/main" id="{AA3FFF51-C1CA-ED88-4E18-7849F33A98BC}"/>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13" name="Google Shape;287;p1">
            <a:extLst>
              <a:ext uri="{FF2B5EF4-FFF2-40B4-BE49-F238E27FC236}">
                <a16:creationId xmlns:a16="http://schemas.microsoft.com/office/drawing/2014/main" id="{78FF3066-CFAB-8F7D-D744-A1666497315D}"/>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17</a:t>
            </a:fld>
            <a:endParaRPr lang="es-BO" sz="1800" dirty="0">
              <a:solidFill>
                <a:srgbClr val="FFFFFF"/>
              </a:solidFill>
            </a:endParaRPr>
          </a:p>
        </p:txBody>
      </p:sp>
      <p:sp>
        <p:nvSpPr>
          <p:cNvPr id="14" name="CuadroTexto 13">
            <a:extLst>
              <a:ext uri="{FF2B5EF4-FFF2-40B4-BE49-F238E27FC236}">
                <a16:creationId xmlns:a16="http://schemas.microsoft.com/office/drawing/2014/main" id="{3A5BDF75-F9C1-F645-F8B7-1B4A8E1F72B2}"/>
              </a:ext>
            </a:extLst>
          </p:cNvPr>
          <p:cNvSpPr txBox="1"/>
          <p:nvPr/>
        </p:nvSpPr>
        <p:spPr>
          <a:xfrm>
            <a:off x="1603513" y="152360"/>
            <a:ext cx="8984973" cy="646331"/>
          </a:xfrm>
          <a:prstGeom prst="rect">
            <a:avLst/>
          </a:prstGeom>
          <a:noFill/>
        </p:spPr>
        <p:txBody>
          <a:bodyPr wrap="square">
            <a:spAutoFit/>
          </a:bodyPr>
          <a:lstStyle/>
          <a:p>
            <a:pPr algn="ctr"/>
            <a:r>
              <a:rPr lang="es-ES" sz="3600" b="1" dirty="0">
                <a:solidFill>
                  <a:srgbClr val="FF0000"/>
                </a:solidFill>
              </a:rPr>
              <a:t>Simulación y Análisis</a:t>
            </a:r>
          </a:p>
        </p:txBody>
      </p:sp>
    </p:spTree>
    <p:extLst>
      <p:ext uri="{BB962C8B-B14F-4D97-AF65-F5344CB8AC3E}">
        <p14:creationId xmlns:p14="http://schemas.microsoft.com/office/powerpoint/2010/main" val="2435149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0BC163C-846A-6798-02EC-A1C571486ED6}"/>
              </a:ext>
            </a:extLst>
          </p:cNvPr>
          <p:cNvSpPr txBox="1"/>
          <p:nvPr/>
        </p:nvSpPr>
        <p:spPr>
          <a:xfrm>
            <a:off x="970721" y="1328675"/>
            <a:ext cx="10386391" cy="1015663"/>
          </a:xfrm>
          <a:prstGeom prst="rect">
            <a:avLst/>
          </a:prstGeom>
          <a:noFill/>
        </p:spPr>
        <p:txBody>
          <a:bodyPr wrap="square">
            <a:spAutoFit/>
          </a:bodyPr>
          <a:lstStyle/>
          <a:p>
            <a:pPr algn="l">
              <a:buFont typeface="Arial" panose="020B0604020202020204" pitchFamily="34" charset="0"/>
              <a:buChar char="•"/>
            </a:pPr>
            <a:r>
              <a:rPr lang="es-ES" sz="2000" b="0" i="0" dirty="0">
                <a:effectLst/>
                <a:latin typeface="+mj-lt"/>
              </a:rPr>
              <a:t>Si estás interesado en explorar y aplicar Redes de Petri en tus propios proyectos, hay una variedad de herramientas y software disponibles que facilitan el modelado y la simulación. </a:t>
            </a:r>
          </a:p>
          <a:p>
            <a:pPr algn="l">
              <a:buFont typeface="Arial" panose="020B0604020202020204" pitchFamily="34" charset="0"/>
              <a:buChar char="•"/>
            </a:pPr>
            <a:r>
              <a:rPr lang="es-ES" sz="2000" b="0" i="0" dirty="0">
                <a:effectLst/>
                <a:latin typeface="+mj-lt"/>
              </a:rPr>
              <a:t>Te proporcionaremos algunas recomendaciones</a:t>
            </a:r>
          </a:p>
        </p:txBody>
      </p:sp>
      <p:sp>
        <p:nvSpPr>
          <p:cNvPr id="6" name="CuadroTexto 5">
            <a:extLst>
              <a:ext uri="{FF2B5EF4-FFF2-40B4-BE49-F238E27FC236}">
                <a16:creationId xmlns:a16="http://schemas.microsoft.com/office/drawing/2014/main" id="{BBE4024B-9E5A-C5CF-F568-C195520A5085}"/>
              </a:ext>
            </a:extLst>
          </p:cNvPr>
          <p:cNvSpPr txBox="1"/>
          <p:nvPr/>
        </p:nvSpPr>
        <p:spPr>
          <a:xfrm>
            <a:off x="1603512" y="566026"/>
            <a:ext cx="8984973" cy="646331"/>
          </a:xfrm>
          <a:prstGeom prst="rect">
            <a:avLst/>
          </a:prstGeom>
          <a:noFill/>
        </p:spPr>
        <p:txBody>
          <a:bodyPr wrap="square">
            <a:spAutoFit/>
          </a:bodyPr>
          <a:lstStyle/>
          <a:p>
            <a:pPr algn="ctr"/>
            <a:r>
              <a:rPr lang="es-ES" sz="3600" b="1" dirty="0">
                <a:solidFill>
                  <a:srgbClr val="FF0000"/>
                </a:solidFill>
              </a:rPr>
              <a:t>Herramientas y Software</a:t>
            </a:r>
          </a:p>
        </p:txBody>
      </p:sp>
      <p:sp>
        <p:nvSpPr>
          <p:cNvPr id="8" name="CuadroTexto 7">
            <a:extLst>
              <a:ext uri="{FF2B5EF4-FFF2-40B4-BE49-F238E27FC236}">
                <a16:creationId xmlns:a16="http://schemas.microsoft.com/office/drawing/2014/main" id="{2E363F5A-A0BD-15E4-7A15-E02D6E3807AB}"/>
              </a:ext>
            </a:extLst>
          </p:cNvPr>
          <p:cNvSpPr txBox="1"/>
          <p:nvPr/>
        </p:nvSpPr>
        <p:spPr>
          <a:xfrm>
            <a:off x="745432" y="5807174"/>
            <a:ext cx="6102626" cy="646331"/>
          </a:xfrm>
          <a:prstGeom prst="rect">
            <a:avLst/>
          </a:prstGeom>
          <a:noFill/>
        </p:spPr>
        <p:txBody>
          <a:bodyPr wrap="square">
            <a:spAutoFit/>
          </a:bodyPr>
          <a:lstStyle/>
          <a:p>
            <a:r>
              <a:rPr lang="es-ES" b="1" dirty="0"/>
              <a:t>Pagina Software: </a:t>
            </a:r>
            <a:r>
              <a:rPr lang="es-BO" dirty="0">
                <a:solidFill>
                  <a:srgbClr val="002060"/>
                </a:solidFill>
                <a:hlinkClick r:id="rId2">
                  <a:extLst>
                    <a:ext uri="{A12FA001-AC4F-418D-AE19-62706E023703}">
                      <ahyp:hlinkClr xmlns:ahyp="http://schemas.microsoft.com/office/drawing/2018/hyperlinkcolor" val="tx"/>
                    </a:ext>
                  </a:extLst>
                </a:hlinkClick>
              </a:rPr>
              <a:t>https://sourceforge.net/projects/pipe2/</a:t>
            </a:r>
            <a:endParaRPr lang="es-BO" dirty="0">
              <a:solidFill>
                <a:srgbClr val="002060"/>
              </a:solidFill>
            </a:endParaRPr>
          </a:p>
          <a:p>
            <a:endParaRPr lang="es-BO" dirty="0">
              <a:solidFill>
                <a:srgbClr val="002060"/>
              </a:solidFill>
            </a:endParaRPr>
          </a:p>
        </p:txBody>
      </p:sp>
      <p:pic>
        <p:nvPicPr>
          <p:cNvPr id="14" name="Imagen 13">
            <a:extLst>
              <a:ext uri="{FF2B5EF4-FFF2-40B4-BE49-F238E27FC236}">
                <a16:creationId xmlns:a16="http://schemas.microsoft.com/office/drawing/2014/main" id="{45C05CC3-5690-93AE-4B6E-4024D8A48A6F}"/>
              </a:ext>
            </a:extLst>
          </p:cNvPr>
          <p:cNvPicPr>
            <a:picLocks noChangeAspect="1"/>
          </p:cNvPicPr>
          <p:nvPr/>
        </p:nvPicPr>
        <p:blipFill>
          <a:blip r:embed="rId3"/>
          <a:stretch>
            <a:fillRect/>
          </a:stretch>
        </p:blipFill>
        <p:spPr>
          <a:xfrm>
            <a:off x="771937" y="3214522"/>
            <a:ext cx="4628525" cy="2466740"/>
          </a:xfrm>
          <a:prstGeom prst="rect">
            <a:avLst/>
          </a:prstGeom>
        </p:spPr>
      </p:pic>
      <p:sp>
        <p:nvSpPr>
          <p:cNvPr id="16" name="CuadroTexto 15">
            <a:extLst>
              <a:ext uri="{FF2B5EF4-FFF2-40B4-BE49-F238E27FC236}">
                <a16:creationId xmlns:a16="http://schemas.microsoft.com/office/drawing/2014/main" id="{783611F3-9CA7-8387-E127-D9B6E3F36D41}"/>
              </a:ext>
            </a:extLst>
          </p:cNvPr>
          <p:cNvSpPr txBox="1"/>
          <p:nvPr/>
        </p:nvSpPr>
        <p:spPr>
          <a:xfrm>
            <a:off x="612911" y="2442279"/>
            <a:ext cx="6102626" cy="646331"/>
          </a:xfrm>
          <a:prstGeom prst="rect">
            <a:avLst/>
          </a:prstGeom>
          <a:noFill/>
        </p:spPr>
        <p:txBody>
          <a:bodyPr wrap="square">
            <a:spAutoFit/>
          </a:bodyPr>
          <a:lstStyle/>
          <a:p>
            <a:r>
              <a:rPr lang="es-ES" b="1" dirty="0"/>
              <a:t>Video: instalación de software PIPEv4 3 0:</a:t>
            </a:r>
          </a:p>
          <a:p>
            <a:r>
              <a:rPr lang="es-BO" b="1" dirty="0">
                <a:solidFill>
                  <a:srgbClr val="002060"/>
                </a:solidFill>
                <a:hlinkClick r:id="rId4">
                  <a:extLst>
                    <a:ext uri="{A12FA001-AC4F-418D-AE19-62706E023703}">
                      <ahyp:hlinkClr xmlns:ahyp="http://schemas.microsoft.com/office/drawing/2018/hyperlinkcolor" val="tx"/>
                    </a:ext>
                  </a:extLst>
                </a:hlinkClick>
              </a:rPr>
              <a:t> </a:t>
            </a:r>
            <a:r>
              <a:rPr lang="es-BO" dirty="0">
                <a:solidFill>
                  <a:srgbClr val="002060"/>
                </a:solidFill>
                <a:hlinkClick r:id="rId4">
                  <a:extLst>
                    <a:ext uri="{A12FA001-AC4F-418D-AE19-62706E023703}">
                      <ahyp:hlinkClr xmlns:ahyp="http://schemas.microsoft.com/office/drawing/2018/hyperlinkcolor" val="tx"/>
                    </a:ext>
                  </a:extLst>
                </a:hlinkClick>
              </a:rPr>
              <a:t>https://www.youtube.com/watch?v=ASacSGn6OIk</a:t>
            </a:r>
            <a:endParaRPr lang="es-BO" dirty="0">
              <a:solidFill>
                <a:srgbClr val="002060"/>
              </a:solidFill>
            </a:endParaRPr>
          </a:p>
        </p:txBody>
      </p:sp>
      <p:sp>
        <p:nvSpPr>
          <p:cNvPr id="22" name="CuadroTexto 21">
            <a:extLst>
              <a:ext uri="{FF2B5EF4-FFF2-40B4-BE49-F238E27FC236}">
                <a16:creationId xmlns:a16="http://schemas.microsoft.com/office/drawing/2014/main" id="{390847A2-818D-4CBC-3079-FBE17A39904F}"/>
              </a:ext>
            </a:extLst>
          </p:cNvPr>
          <p:cNvSpPr txBox="1"/>
          <p:nvPr/>
        </p:nvSpPr>
        <p:spPr>
          <a:xfrm>
            <a:off x="6994033" y="5761007"/>
            <a:ext cx="4217306" cy="369332"/>
          </a:xfrm>
          <a:prstGeom prst="rect">
            <a:avLst/>
          </a:prstGeom>
          <a:noFill/>
        </p:spPr>
        <p:txBody>
          <a:bodyPr wrap="square">
            <a:spAutoFit/>
          </a:bodyPr>
          <a:lstStyle/>
          <a:p>
            <a:r>
              <a:rPr lang="es-ES" b="1" dirty="0"/>
              <a:t>Pagina Software: </a:t>
            </a:r>
            <a:r>
              <a:rPr lang="es-BO" dirty="0">
                <a:solidFill>
                  <a:srgbClr val="002060"/>
                </a:solidFill>
                <a:hlinkClick r:id="rId5">
                  <a:extLst>
                    <a:ext uri="{A12FA001-AC4F-418D-AE19-62706E023703}">
                      <ahyp:hlinkClr xmlns:ahyp="http://schemas.microsoft.com/office/drawing/2018/hyperlinkcolor" val="tx"/>
                    </a:ext>
                  </a:extLst>
                </a:hlinkClick>
              </a:rPr>
              <a:t>http://www.winpesim.de/</a:t>
            </a:r>
            <a:endParaRPr lang="es-BO" dirty="0">
              <a:solidFill>
                <a:srgbClr val="002060"/>
              </a:solidFill>
            </a:endParaRPr>
          </a:p>
        </p:txBody>
      </p:sp>
      <p:pic>
        <p:nvPicPr>
          <p:cNvPr id="24" name="Imagen 23">
            <a:extLst>
              <a:ext uri="{FF2B5EF4-FFF2-40B4-BE49-F238E27FC236}">
                <a16:creationId xmlns:a16="http://schemas.microsoft.com/office/drawing/2014/main" id="{B671D293-1C21-B625-A2B3-C9215311A6C8}"/>
              </a:ext>
            </a:extLst>
          </p:cNvPr>
          <p:cNvPicPr>
            <a:picLocks noChangeAspect="1"/>
          </p:cNvPicPr>
          <p:nvPr/>
        </p:nvPicPr>
        <p:blipFill rotWithShape="1">
          <a:blip r:embed="rId6"/>
          <a:srcRect b="41590"/>
          <a:stretch/>
        </p:blipFill>
        <p:spPr>
          <a:xfrm>
            <a:off x="6994033" y="3221858"/>
            <a:ext cx="4286881" cy="2585316"/>
          </a:xfrm>
          <a:prstGeom prst="rect">
            <a:avLst/>
          </a:prstGeom>
        </p:spPr>
      </p:pic>
      <p:sp>
        <p:nvSpPr>
          <p:cNvPr id="26" name="CuadroTexto 25">
            <a:extLst>
              <a:ext uri="{FF2B5EF4-FFF2-40B4-BE49-F238E27FC236}">
                <a16:creationId xmlns:a16="http://schemas.microsoft.com/office/drawing/2014/main" id="{320F6289-E68E-529D-EF06-80898E27E6E4}"/>
              </a:ext>
            </a:extLst>
          </p:cNvPr>
          <p:cNvSpPr txBox="1"/>
          <p:nvPr/>
        </p:nvSpPr>
        <p:spPr>
          <a:xfrm>
            <a:off x="6409281" y="2442278"/>
            <a:ext cx="5166693" cy="646331"/>
          </a:xfrm>
          <a:prstGeom prst="rect">
            <a:avLst/>
          </a:prstGeom>
          <a:noFill/>
        </p:spPr>
        <p:txBody>
          <a:bodyPr wrap="square">
            <a:spAutoFit/>
          </a:bodyPr>
          <a:lstStyle/>
          <a:p>
            <a:r>
              <a:rPr lang="pt-BR" b="1" dirty="0"/>
              <a:t>Vídeo: Redes de Petri - Tutorial de </a:t>
            </a:r>
            <a:r>
              <a:rPr lang="pt-BR" b="1" dirty="0" err="1"/>
              <a:t>HPSim</a:t>
            </a:r>
            <a:r>
              <a:rPr lang="pt-BR" b="1" dirty="0"/>
              <a:t> - Vídeo 9</a:t>
            </a:r>
            <a:endParaRPr lang="es-BO" b="1" dirty="0"/>
          </a:p>
          <a:p>
            <a:r>
              <a:rPr lang="es-BO" dirty="0">
                <a:solidFill>
                  <a:srgbClr val="002060"/>
                </a:solidFill>
                <a:hlinkClick r:id="rId7">
                  <a:extLst>
                    <a:ext uri="{A12FA001-AC4F-418D-AE19-62706E023703}">
                      <ahyp:hlinkClr xmlns:ahyp="http://schemas.microsoft.com/office/drawing/2018/hyperlinkcolor" val="tx"/>
                    </a:ext>
                  </a:extLst>
                </a:hlinkClick>
              </a:rPr>
              <a:t>https://www.youtube.com/watch?v=7p1Q7TgvIno</a:t>
            </a:r>
            <a:endParaRPr lang="es-BO" dirty="0">
              <a:solidFill>
                <a:srgbClr val="002060"/>
              </a:solidFill>
            </a:endParaRPr>
          </a:p>
        </p:txBody>
      </p:sp>
      <p:sp>
        <p:nvSpPr>
          <p:cNvPr id="31" name="Google Shape;286;p1">
            <a:extLst>
              <a:ext uri="{FF2B5EF4-FFF2-40B4-BE49-F238E27FC236}">
                <a16:creationId xmlns:a16="http://schemas.microsoft.com/office/drawing/2014/main" id="{0EC7D89B-68B4-2E2B-CB2F-8541E1149F0E}"/>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32" name="Google Shape;287;p1">
            <a:extLst>
              <a:ext uri="{FF2B5EF4-FFF2-40B4-BE49-F238E27FC236}">
                <a16:creationId xmlns:a16="http://schemas.microsoft.com/office/drawing/2014/main" id="{98E6718C-00A8-4E39-08FE-768963F7AD8E}"/>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18</a:t>
            </a:fld>
            <a:endParaRPr lang="es-BO" sz="1800" dirty="0">
              <a:solidFill>
                <a:srgbClr val="FFFFFF"/>
              </a:solidFill>
            </a:endParaRPr>
          </a:p>
        </p:txBody>
      </p:sp>
    </p:spTree>
    <p:extLst>
      <p:ext uri="{BB962C8B-B14F-4D97-AF65-F5344CB8AC3E}">
        <p14:creationId xmlns:p14="http://schemas.microsoft.com/office/powerpoint/2010/main" val="2323965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86;p1">
            <a:extLst>
              <a:ext uri="{FF2B5EF4-FFF2-40B4-BE49-F238E27FC236}">
                <a16:creationId xmlns:a16="http://schemas.microsoft.com/office/drawing/2014/main" id="{094DBAFC-2CB2-6DD6-5506-FFE89D8EB61D}"/>
              </a:ext>
            </a:extLst>
          </p:cNvPr>
          <p:cNvSpPr txBox="1">
            <a:spLocks noGrp="1"/>
          </p:cNvSpPr>
          <p:nvPr>
            <p:ph type="ftr" idx="11"/>
          </p:nvPr>
        </p:nvSpPr>
        <p:spPr>
          <a:xfrm>
            <a:off x="478646" y="6356351"/>
            <a:ext cx="10298484" cy="365125"/>
          </a:xfrm>
          <a:prstGeom prst="rect">
            <a:avLst/>
          </a:prstGeom>
          <a:solidFill>
            <a:srgbClr val="002060"/>
          </a:solidFill>
          <a:ln>
            <a:noFill/>
          </a:ln>
        </p:spPr>
        <p:txBody>
          <a:bodyPr spcFirstLastPara="1" wrap="square" lIns="121450" tIns="34275" rIns="68550" bIns="34275" anchor="ctr" anchorCtr="0">
            <a:noAutofit/>
          </a:bodyPr>
          <a:lstStyle/>
          <a:p>
            <a:pPr marL="0" lvl="0" indent="0" algn="l" rtl="0">
              <a:spcBef>
                <a:spcPts val="0"/>
              </a:spcBef>
              <a:spcAft>
                <a:spcPts val="0"/>
              </a:spcAft>
              <a:buNone/>
            </a:pPr>
            <a:r>
              <a:rPr lang="es-BO" sz="1600" dirty="0">
                <a:solidFill>
                  <a:srgbClr val="FFFFFF"/>
                </a:solidFill>
              </a:rPr>
              <a:t>ETN-1034</a:t>
            </a:r>
            <a:endParaRPr lang="es-BO" sz="1600" dirty="0"/>
          </a:p>
        </p:txBody>
      </p:sp>
      <p:sp>
        <p:nvSpPr>
          <p:cNvPr id="5" name="Google Shape;287;p1">
            <a:extLst>
              <a:ext uri="{FF2B5EF4-FFF2-40B4-BE49-F238E27FC236}">
                <a16:creationId xmlns:a16="http://schemas.microsoft.com/office/drawing/2014/main" id="{6C53EF54-4954-B814-A451-B516CBF2E17E}"/>
              </a:ext>
            </a:extLst>
          </p:cNvPr>
          <p:cNvSpPr txBox="1">
            <a:spLocks noGrp="1"/>
          </p:cNvSpPr>
          <p:nvPr>
            <p:ph type="sldNum" idx="12"/>
          </p:nvPr>
        </p:nvSpPr>
        <p:spPr>
          <a:xfrm>
            <a:off x="10980102" y="6356351"/>
            <a:ext cx="733255" cy="365125"/>
          </a:xfrm>
          <a:prstGeom prst="rect">
            <a:avLst/>
          </a:prstGeom>
          <a:solidFill>
            <a:srgbClr val="002060"/>
          </a:solidFill>
          <a:ln>
            <a:noFill/>
          </a:ln>
        </p:spPr>
        <p:txBody>
          <a:bodyPr spcFirstLastPara="1" wrap="square" lIns="68550" tIns="34275" rIns="68550" bIns="34275" anchor="ctr" anchorCtr="0">
            <a:noAutofit/>
          </a:bodyPr>
          <a:lstStyle/>
          <a:p>
            <a:pPr marL="0" lvl="0" indent="0" algn="ctr" rtl="0">
              <a:spcBef>
                <a:spcPts val="0"/>
              </a:spcBef>
              <a:spcAft>
                <a:spcPts val="0"/>
              </a:spcAft>
              <a:buNone/>
            </a:pPr>
            <a:fld id="{00000000-1234-1234-1234-123412341234}" type="slidenum">
              <a:rPr lang="es-BO" sz="1800">
                <a:solidFill>
                  <a:srgbClr val="FFFFFF"/>
                </a:solidFill>
              </a:rPr>
              <a:pPr marL="0" lvl="0" indent="0" algn="ctr" rtl="0">
                <a:spcBef>
                  <a:spcPts val="0"/>
                </a:spcBef>
                <a:spcAft>
                  <a:spcPts val="0"/>
                </a:spcAft>
                <a:buNone/>
              </a:pPr>
              <a:t>19</a:t>
            </a:fld>
            <a:endParaRPr lang="es-BO" sz="1800" dirty="0">
              <a:solidFill>
                <a:srgbClr val="FFFFFF"/>
              </a:solidFill>
            </a:endParaRPr>
          </a:p>
        </p:txBody>
      </p:sp>
    </p:spTree>
    <p:extLst>
      <p:ext uri="{BB962C8B-B14F-4D97-AF65-F5344CB8AC3E}">
        <p14:creationId xmlns:p14="http://schemas.microsoft.com/office/powerpoint/2010/main" val="14457298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TM04033919[[fn=Circuito]]</Template>
  <TotalTime>722</TotalTime>
  <Words>588</Words>
  <Application>Microsoft Office PowerPoint</Application>
  <PresentationFormat>Panorámica</PresentationFormat>
  <Paragraphs>100</Paragraphs>
  <Slides>19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Franklin Gothic Medium</vt:lpstr>
      <vt:lpstr>Google Sans</vt:lpstr>
      <vt:lpstr>Tw Cen MT</vt:lpstr>
      <vt:lpstr>Circuito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joelbespanau@gmail.com</dc:creator>
  <cp:lastModifiedBy>joelbespanau@gmail.com</cp:lastModifiedBy>
  <cp:revision>4</cp:revision>
  <dcterms:created xsi:type="dcterms:W3CDTF">2023-10-11T12:48:56Z</dcterms:created>
  <dcterms:modified xsi:type="dcterms:W3CDTF">2023-10-12T00:51:26Z</dcterms:modified>
</cp:coreProperties>
</file>