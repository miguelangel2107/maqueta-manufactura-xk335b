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73" r:id="rId2"/>
    <p:sldId id="256" r:id="rId3"/>
    <p:sldId id="257" r:id="rId4"/>
    <p:sldId id="259" r:id="rId5"/>
    <p:sldId id="261" r:id="rId6"/>
    <p:sldId id="262" r:id="rId7"/>
    <p:sldId id="263" r:id="rId8"/>
    <p:sldId id="264" r:id="rId9"/>
    <p:sldId id="266" r:id="rId10"/>
    <p:sldId id="269" r:id="rId11"/>
    <p:sldId id="265" r:id="rId12"/>
    <p:sldId id="267" r:id="rId13"/>
    <p:sldId id="268" r:id="rId14"/>
    <p:sldId id="271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6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2438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83802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0322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16693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87600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48974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5980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43198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1705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40422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15105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101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13942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60080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19510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50950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1417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58A6F-3E97-4741-A98C-946D5D1B78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7C64C-5D54-4574-9C0A-F7EEF2370E8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35164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google.com/search?client=opera-gx&amp;q=Gr%C3%A1fico+de+Control+mediante+Etapas+y+Transiciones&amp;sourceid=opera&amp;ie=UTF-8&amp;oe=UTF-8&amp;mstk=AUtExfCW_6KJdLhdTYcK47f_z6BWke8QhUyJ5evS0x8TIiimAxNst6FM92faSKaWdcuM6FRxPtEXsYcZ5sLNlUgi9IKcY-OGczy3VYbDuB2Rr53Z3FfJHxBPg6cBhdKEk6oen4xmjBB7fWxaqWMr4F9VuYDNVURH0JyyjSbrYe5RynPIpDk&amp;csui=3&amp;ved=2ahUKEwi4y_qu7sCRAxXprpUCHZmkL4oQgK4QegQIARAB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tinet.com/lat/solutions/industries/scada-industrial-control-systems/what-is-ot-security" TargetMode="External"/><Relationship Id="rId7" Type="http://schemas.openxmlformats.org/officeDocument/2006/relationships/image" Target="../media/image14.png"/><Relationship Id="rId2" Type="http://schemas.openxmlformats.org/officeDocument/2006/relationships/hyperlink" Target="https://www.fortinet.com/lat/resources/cyberglossary/ics-security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google.com/search?q=IIoT&amp;client=opera-gx&amp;hs=KWm&amp;sca_esv=24c8faf9064278e6&amp;sxsrf=AE3TifOzu14z8J7wfyyXGj-k1oG1DRgzIQ%3A1766019204339&amp;ei=hFBDab-1FJLL1sQPl8nx8QE&amp;ved=2ahUKEwj349v79sWRAxVhrZUCHXY6DJMQgK4QegQIARAE&amp;uact=5&amp;oq=comunicacion+OPC&amp;gs_lp=Egxnd3Mtd2l6LXNlcnAiEGNvbXVuaWNhY2lvbiBPUEMyBRAAGIAEMgUQABiABDIFEAAYgAQyBRAAGIAEMgYQABgWGB4yBhAAGBYYHjIGEAAYFhgeMgYQABgWGB4yBhAAGBYYHjIGEAAYFhgeSLwgUJAPWMcccAJ4AZABAJgBigKgAc0NqgEFMC4zLjW4AQPIAQD4AQGYAgagAp4HwgIKEAAYsAMY1gQYR8ICChAjGIAEGCcYigXCAgoQABiABBgUGIcCwgIJEAAYgAQYChgLmAMAiAYBkAYIkgcFMi4xLjOgB9E4sgcFMC4xLjO4B5IHwgcDMi02yAcigAgA&amp;sclient=gws-wiz-serp&amp;mstk=AUtExfBkNja7mkKWMC_z4LWGc2OhAHxGoG7LMX-m59ksI9DPx9S8c7bKhKAvw31cHFHCJDKEEZGpVAjKr0e2u6QMgQwTCYoYLHrHIKqnjTy0WAyKj3toNcrGNC_dlu3wwxLSivoz4iwbU7DU13KW7lyVt8gFePihloKPurBmMndbsuaZ7VgZAE29i58_zgmlfYVprkZCqoIPygJRcj6ZGUMoy67RHgl8PScDjbt_pndL55KhY6UEpNZU7ZlPqqEOVu0a7fRUyDVuAwTjDQt_sV_NauZf&amp;csui=3" TargetMode="External"/><Relationship Id="rId5" Type="http://schemas.openxmlformats.org/officeDocument/2006/relationships/hyperlink" Target="https://www.google.com/search?q=Industria+4.0&amp;client=opera-gx&amp;hs=KWm&amp;sca_esv=24c8faf9064278e6&amp;sxsrf=AE3TifOzu14z8J7wfyyXGj-k1oG1DRgzIQ%3A1766019204339&amp;ei=hFBDab-1FJLL1sQPl8nx8QE&amp;ved=2ahUKEwj349v79sWRAxVhrZUCHXY6DJMQgK4QegQIARAD&amp;uact=5&amp;oq=comunicacion+OPC&amp;gs_lp=Egxnd3Mtd2l6LXNlcnAiEGNvbXVuaWNhY2lvbiBPUEMyBRAAGIAEMgUQABiABDIFEAAYgAQyBRAAGIAEMgYQABgWGB4yBhAAGBYYHjIGEAAYFhgeMgYQABgWGB4yBhAAGBYYHjIGEAAYFhgeSLwgUJAPWMcccAJ4AZABAJgBigKgAc0NqgEFMC4zLjW4AQPIAQD4AQGYAgagAp4HwgIKEAAYsAMY1gQYR8ICChAjGIAEGCcYigXCAgoQABiABBgUGIcCwgIJEAAYgAQYChgLmAMAiAYBkAYIkgcFMi4xLjOgB9E4sgcFMC4xLjO4B5IHwgcDMi02yAcigAgA&amp;sclient=gws-wiz-serp&amp;mstk=AUtExfBkNja7mkKWMC_z4LWGc2OhAHxGoG7LMX-m59ksI9DPx9S8c7bKhKAvw31cHFHCJDKEEZGpVAjKr0e2u6QMgQwTCYoYLHrHIKqnjTy0WAyKj3toNcrGNC_dlu3wwxLSivoz4iwbU7DU13KW7lyVt8gFePihloKPurBmMndbsuaZ7VgZAE29i58_zgmlfYVprkZCqoIPygJRcj6ZGUMoy67RHgl8PScDjbt_pndL55KhY6UEpNZU7ZlPqqEOVu0a7fRUyDVuAwTjDQt_sV_NauZf&amp;csui=3" TargetMode="External"/><Relationship Id="rId4" Type="http://schemas.openxmlformats.org/officeDocument/2006/relationships/hyperlink" Target="https://www.google.com/search?q=est%C3%A1ndar+universal+de+interoperabilidad&amp;client=opera-gx&amp;hs=KWm&amp;sca_esv=24c8faf9064278e6&amp;sxsrf=AE3TifOzu14z8J7wfyyXGj-k1oG1DRgzIQ%3A1766019204339&amp;ei=hFBDab-1FJLL1sQPl8nx8QE&amp;ved=2ahUKEwj349v79sWRAxVhrZUCHXY6DJMQgK4QegQIARAC&amp;uact=5&amp;oq=comunicacion+OPC&amp;gs_lp=Egxnd3Mtd2l6LXNlcnAiEGNvbXVuaWNhY2lvbiBPUEMyBRAAGIAEMgUQABiABDIFEAAYgAQyBRAAGIAEMgYQABgWGB4yBhAAGBYYHjIGEAAYFhgeMgYQABgWGB4yBhAAGBYYHjIGEAAYFhgeSLwgUJAPWMcccAJ4AZABAJgBigKgAc0NqgEFMC4zLjW4AQPIAQD4AQGYAgagAp4HwgIKEAAYsAMY1gQYR8ICChAjGIAEGCcYigXCAgoQABiABBgUGIcCwgIJEAAYgAQYChgLmAMAiAYBkAYIkgcFMi4xLjOgB9E4sgcFMC4xLjO4B5IHwgcDMi02yAcigAgA&amp;sclient=gws-wiz-serp&amp;mstk=AUtExfBkNja7mkKWMC_z4LWGc2OhAHxGoG7LMX-m59ksI9DPx9S8c7bKhKAvw31cHFHCJDKEEZGpVAjKr0e2u6QMgQwTCYoYLHrHIKqnjTy0WAyKj3toNcrGNC_dlu3wwxLSivoz4iwbU7DU13KW7lyVt8gFePihloKPurBmMndbsuaZ7VgZAE29i58_zgmlfYVprkZCqoIPygJRcj6ZGUMoy67RHgl8PScDjbt_pndL55KhY6UEpNZU7ZlPqqEOVu0a7fRUyDVuAwTjDQt_sV_NauZf&amp;csui=3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AF480-7644-4E59-8CB0-74BB72A09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4106557" cy="1369511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>
                <a:solidFill>
                  <a:srgbClr val="FFFF00"/>
                </a:solidFill>
              </a:rPr>
              <a:t>FUNCIONAMIENTO DE LA PLANTA DE MANUFACTURA</a:t>
            </a:r>
            <a:endParaRPr lang="es-BO" dirty="0">
              <a:solidFill>
                <a:srgbClr val="FFFF00"/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8706B-F6CB-45A1-99AF-3CCBE56DD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2494256"/>
            <a:ext cx="3856037" cy="2627507"/>
          </a:xfrm>
        </p:spPr>
        <p:txBody>
          <a:bodyPr>
            <a:normAutofit/>
          </a:bodyPr>
          <a:lstStyle/>
          <a:p>
            <a:r>
              <a:rPr lang="es-ES" sz="1800" dirty="0"/>
              <a:t>UNIVERSITARIO: 	Erick Richard 		              Choque Canaviri</a:t>
            </a:r>
          </a:p>
          <a:p>
            <a:r>
              <a:rPr lang="es-ES" sz="1800" dirty="0"/>
              <a:t>DOCENTE: 	Ing. Jorge Antonio 	  	              Nava Amador</a:t>
            </a:r>
            <a:endParaRPr lang="es-BO" sz="1800" dirty="0"/>
          </a:p>
        </p:txBody>
      </p:sp>
      <p:pic>
        <p:nvPicPr>
          <p:cNvPr id="5" name="Marcador de contenido 7">
            <a:extLst>
              <a:ext uri="{FF2B5EF4-FFF2-40B4-BE49-F238E27FC236}">
                <a16:creationId xmlns:a16="http://schemas.microsoft.com/office/drawing/2014/main" id="{B7898184-00FC-4A3F-BABA-97D9997CC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262" y="714364"/>
            <a:ext cx="6411492" cy="4342552"/>
          </a:xfrm>
        </p:spPr>
      </p:pic>
      <p:pic>
        <p:nvPicPr>
          <p:cNvPr id="6" name="Marcador de contenido 7">
            <a:extLst>
              <a:ext uri="{FF2B5EF4-FFF2-40B4-BE49-F238E27FC236}">
                <a16:creationId xmlns:a16="http://schemas.microsoft.com/office/drawing/2014/main" id="{075D0D42-6599-4F62-8D42-8225751B3C7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262" y="1294356"/>
            <a:ext cx="6411492" cy="4342552"/>
          </a:xfrm>
        </p:spPr>
      </p:pic>
    </p:spTree>
    <p:extLst>
      <p:ext uri="{BB962C8B-B14F-4D97-AF65-F5344CB8AC3E}">
        <p14:creationId xmlns:p14="http://schemas.microsoft.com/office/powerpoint/2010/main" val="3298566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A4AF0F0-EE89-4B23-9BFC-FA21A5C9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171" y="609601"/>
            <a:ext cx="4319571" cy="147897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FUNCIONAMIENTO DE LA PLANTA DE MANUFACTURA</a:t>
            </a:r>
            <a:endParaRPr lang="es-BO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5A588F2A-008A-4FE8-8CF6-42E0729CD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742" y="1227931"/>
            <a:ext cx="6411492" cy="4342552"/>
          </a:xfr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5544383-68A8-4453-B3CE-9DD6081AF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172" y="2249486"/>
            <a:ext cx="4319571" cy="4161824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La planta de manufactura está diseñada para la producción automática de piezas ensambladas, a partir de componentes cilíndricos, mediante un sistema secuencial compuesto por cinco unidades funcionales interconectadas. Cada unidad cumple una tarea específica dentro del proceso productivo, garantizando un flujo continuo, ordenado y controlado de las piezas. Cuenta con 5 unidades: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Unidad de Transporte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Unidad de alimentación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Unidad de ensamblaje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Unidad de 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Unidad de selección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7363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16F1A-BEE3-4B42-A4B9-283B71A97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91" y="609602"/>
            <a:ext cx="4306551" cy="595744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UNIDAD DE Transporte</a:t>
            </a:r>
            <a:endParaRPr lang="es-BO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78B0FD4-A125-4005-A9F6-ED3191884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082" y="894202"/>
            <a:ext cx="5891213" cy="1752745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1251C7-5C13-4C09-89CF-BB1FB1B88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4111" y="1534510"/>
            <a:ext cx="4119873" cy="1112437"/>
          </a:xfrm>
        </p:spPr>
        <p:txBody>
          <a:bodyPr>
            <a:normAutofit/>
          </a:bodyPr>
          <a:lstStyle/>
          <a:p>
            <a:r>
              <a:rPr lang="es-ES" sz="1400" dirty="0"/>
              <a:t>La </a:t>
            </a:r>
            <a:r>
              <a:rPr lang="es-ES" sz="1400" b="1" dirty="0"/>
              <a:t>unidad de transporte</a:t>
            </a:r>
            <a:r>
              <a:rPr lang="es-ES" sz="1400" dirty="0"/>
              <a:t> es la encargada de realizar el </a:t>
            </a:r>
            <a:r>
              <a:rPr lang="es-ES" sz="1400" b="1" dirty="0"/>
              <a:t>posicionamiento y desplazamiento de las piezas cilíndricas</a:t>
            </a:r>
            <a:r>
              <a:rPr lang="es-ES" sz="1400" dirty="0"/>
              <a:t> entre las diferentes unidades de la planta.</a:t>
            </a:r>
          </a:p>
          <a:p>
            <a:endParaRPr lang="es-BO" sz="14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93C387A-C032-44DE-811A-D355646FCD7C}"/>
              </a:ext>
            </a:extLst>
          </p:cNvPr>
          <p:cNvSpPr txBox="1">
            <a:spLocks/>
          </p:cNvSpPr>
          <p:nvPr/>
        </p:nvSpPr>
        <p:spPr>
          <a:xfrm>
            <a:off x="5154083" y="3108292"/>
            <a:ext cx="5375166" cy="92490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UNIDAD DE ALIMENTACION</a:t>
            </a:r>
            <a:endParaRPr lang="es-BO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3D830FA4-F73A-4EDB-898F-700F4DB08BAC}"/>
              </a:ext>
            </a:extLst>
          </p:cNvPr>
          <p:cNvSpPr txBox="1">
            <a:spLocks/>
          </p:cNvSpPr>
          <p:nvPr/>
        </p:nvSpPr>
        <p:spPr>
          <a:xfrm>
            <a:off x="5002742" y="4033202"/>
            <a:ext cx="6772163" cy="254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400" dirty="0"/>
              <a:t>La </a:t>
            </a:r>
            <a:r>
              <a:rPr lang="es-ES" sz="1400" b="1" dirty="0"/>
              <a:t>unidad de alimentación</a:t>
            </a:r>
            <a:r>
              <a:rPr lang="es-ES" sz="1400" dirty="0"/>
              <a:t> tiene como función suministrar las </a:t>
            </a:r>
            <a:r>
              <a:rPr lang="es-ES" sz="1400" b="1" dirty="0"/>
              <a:t>piezas cilíndricas grandes</a:t>
            </a:r>
            <a:r>
              <a:rPr lang="es-ES" sz="1400" dirty="0"/>
              <a:t>, que constituyen la base del producto final.</a:t>
            </a:r>
          </a:p>
          <a:p>
            <a:r>
              <a:rPr lang="es-ES" sz="1400" b="1" dirty="0"/>
              <a:t>Funciones principales:</a:t>
            </a:r>
            <a:endParaRPr lang="es-E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400" dirty="0"/>
              <a:t>Almacenar las piezas cilíndricas grandes.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400" dirty="0"/>
              <a:t>Liberar una pieza de manera controlada cuando el sistema lo solicita.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400" dirty="0"/>
              <a:t>Entregar la pieza a la unidad de transporte para su desplazamiento.</a:t>
            </a:r>
          </a:p>
          <a:p>
            <a:endParaRPr lang="es-BO" sz="1400" dirty="0"/>
          </a:p>
        </p:txBody>
      </p:sp>
      <p:pic>
        <p:nvPicPr>
          <p:cNvPr id="8" name="Marcador de contenido 5">
            <a:extLst>
              <a:ext uri="{FF2B5EF4-FFF2-40B4-BE49-F238E27FC236}">
                <a16:creationId xmlns:a16="http://schemas.microsoft.com/office/drawing/2014/main" id="{21E172F2-EF52-4236-91FC-15C43135C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581" y="2824800"/>
            <a:ext cx="2214505" cy="364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60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B9E8F-F7AA-4371-A6F4-F9C3A9F81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669" y="605591"/>
            <a:ext cx="4724706" cy="595081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UNIDAD DE ENSAMBLAJE</a:t>
            </a:r>
            <a:endParaRPr lang="es-BO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F1B4926-6431-4B32-8189-D42332418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05" y="3429000"/>
            <a:ext cx="2413609" cy="3117744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E3B624-8319-462F-845E-0840C62D8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5433" y="1344495"/>
            <a:ext cx="5021178" cy="2101516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La </a:t>
            </a:r>
            <a:r>
              <a:rPr lang="es-ES" b="1" dirty="0"/>
              <a:t>unidad de ensamblaje</a:t>
            </a:r>
            <a:r>
              <a:rPr lang="es-ES" dirty="0"/>
              <a:t> se encarga de colocar una </a:t>
            </a:r>
            <a:r>
              <a:rPr lang="es-ES" b="1" dirty="0"/>
              <a:t>pieza cilíndrica pequeña</a:t>
            </a:r>
            <a:r>
              <a:rPr lang="es-ES" dirty="0"/>
              <a:t> sobre la pieza cilíndrica grande previamente posicionada.</a:t>
            </a:r>
          </a:p>
          <a:p>
            <a:r>
              <a:rPr lang="es-ES" b="1" dirty="0"/>
              <a:t>Funciones principales: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Detectar la correcta presencia y posición de la pieza grande.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Tomar y posicionar la pieza pequeña sobre la pieza base.</a:t>
            </a:r>
          </a:p>
          <a:p>
            <a:endParaRPr lang="es-BO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9ED2249-2A2F-4155-8B6D-562A12923F7C}"/>
              </a:ext>
            </a:extLst>
          </p:cNvPr>
          <p:cNvSpPr txBox="1">
            <a:spLocks/>
          </p:cNvSpPr>
          <p:nvPr/>
        </p:nvSpPr>
        <p:spPr>
          <a:xfrm>
            <a:off x="6096000" y="605591"/>
            <a:ext cx="5021178" cy="6791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UNIDAD DE Procesamiento</a:t>
            </a:r>
            <a:endParaRPr lang="es-BO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4B5F2153-4934-4F8B-89D6-482215DFD151}"/>
              </a:ext>
            </a:extLst>
          </p:cNvPr>
          <p:cNvSpPr txBox="1">
            <a:spLocks/>
          </p:cNvSpPr>
          <p:nvPr/>
        </p:nvSpPr>
        <p:spPr>
          <a:xfrm>
            <a:off x="6121099" y="1344495"/>
            <a:ext cx="5021178" cy="21015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La </a:t>
            </a:r>
            <a:r>
              <a:rPr lang="es-ES" b="1" dirty="0"/>
              <a:t>unidad de procesamiento</a:t>
            </a:r>
            <a:r>
              <a:rPr lang="es-ES" dirty="0"/>
              <a:t> realiza la </a:t>
            </a:r>
            <a:r>
              <a:rPr lang="es-ES" b="1" dirty="0"/>
              <a:t>unión definitiva de las piezas ensambladas</a:t>
            </a:r>
            <a:r>
              <a:rPr lang="es-ES" dirty="0"/>
              <a:t>, mediante un proceso de </a:t>
            </a:r>
            <a:r>
              <a:rPr lang="es-ES" b="1" dirty="0"/>
              <a:t>sellado por presión</a:t>
            </a:r>
            <a:r>
              <a:rPr lang="es-ES" dirty="0"/>
              <a:t>.</a:t>
            </a:r>
          </a:p>
          <a:p>
            <a:r>
              <a:rPr lang="es-ES" b="1" dirty="0"/>
              <a:t>Funciones principales: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Aplicar presión controlada sobre el conjunto de piezas.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Garantizar un sellado firme y uniforme.</a:t>
            </a:r>
          </a:p>
          <a:p>
            <a:endParaRPr lang="es-BO" dirty="0"/>
          </a:p>
        </p:txBody>
      </p:sp>
      <p:pic>
        <p:nvPicPr>
          <p:cNvPr id="8" name="Marcador de contenido 5">
            <a:extLst>
              <a:ext uri="{FF2B5EF4-FFF2-40B4-BE49-F238E27FC236}">
                <a16:creationId xmlns:a16="http://schemas.microsoft.com/office/drawing/2014/main" id="{266263C1-D40D-41A9-A826-02D1800A5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266" y="3506766"/>
            <a:ext cx="2413609" cy="303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4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49308-66AD-4388-AE55-297E6399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4298131" cy="1040523"/>
          </a:xfrm>
        </p:spPr>
        <p:txBody>
          <a:bodyPr/>
          <a:lstStyle/>
          <a:p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UNIDAD DE SELECCION</a:t>
            </a:r>
            <a:endParaRPr lang="es-BO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77762FD-2851-42E1-AD08-07430B098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43" b="17992"/>
          <a:stretch/>
        </p:blipFill>
        <p:spPr>
          <a:xfrm>
            <a:off x="6243145" y="1501042"/>
            <a:ext cx="4575728" cy="3768927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67F3D6-1476-4394-BB91-DAD626B25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723697"/>
            <a:ext cx="3856037" cy="4067503"/>
          </a:xfrm>
        </p:spPr>
        <p:txBody>
          <a:bodyPr>
            <a:normAutofit/>
          </a:bodyPr>
          <a:lstStyle/>
          <a:p>
            <a:r>
              <a:rPr lang="es-ES" dirty="0"/>
              <a:t>La </a:t>
            </a:r>
            <a:r>
              <a:rPr lang="es-ES" b="1" dirty="0"/>
              <a:t>unidad de selección</a:t>
            </a:r>
            <a:r>
              <a:rPr lang="es-ES" dirty="0"/>
              <a:t> tiene como objetivo </a:t>
            </a:r>
            <a:r>
              <a:rPr lang="es-ES" b="1" dirty="0"/>
              <a:t>diferenciar y clasificar las piezas producidas</a:t>
            </a:r>
            <a:r>
              <a:rPr lang="es-ES" dirty="0"/>
              <a:t>, según criterios previamente establecidos.</a:t>
            </a:r>
          </a:p>
          <a:p>
            <a:r>
              <a:rPr lang="es-ES" b="1" dirty="0"/>
              <a:t>Funciones principales: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Inspeccionar las piezas procesadas.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Identificar distintos tipos o estados del producto (correcto, defectuoso, variantes).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Dirigir cada pieza hacia el canal de salida correspondiente.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6099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B2F48-3067-4CEC-9E91-CE2A0DD85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27175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/>
              <a:t>Programación </a:t>
            </a:r>
            <a:r>
              <a:rPr lang="es-ES" dirty="0" err="1"/>
              <a:t>grafcet</a:t>
            </a:r>
            <a:endParaRPr lang="es-B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88E45F-914E-4FFD-AC10-FA52F6372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0015" y="2091559"/>
            <a:ext cx="3972728" cy="3699641"/>
          </a:xfrm>
        </p:spPr>
        <p:txBody>
          <a:bodyPr>
            <a:normAutofit/>
          </a:bodyPr>
          <a:lstStyle/>
          <a:p>
            <a:r>
              <a:rPr lang="es-ES" dirty="0"/>
              <a:t>La programación en </a:t>
            </a:r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GRAFCET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(</a:t>
            </a:r>
            <a:r>
              <a:rPr lang="es-ES" b="0" i="0" dirty="0">
                <a:effectLst/>
                <a:latin typeface="Google Sans"/>
                <a:hlinkClick r:id="rId2"/>
              </a:rPr>
              <a:t>Gráfico de Control mediante Etapas y Transiciones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), también conocido como SFC (Step </a:t>
            </a:r>
            <a:r>
              <a:rPr lang="es-ES" b="0" i="0" dirty="0" err="1">
                <a:solidFill>
                  <a:srgbClr val="E6E8F0"/>
                </a:solidFill>
                <a:effectLst/>
                <a:latin typeface="Google Sans"/>
              </a:rPr>
              <a:t>Function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 Chart), es un </a:t>
            </a:r>
            <a:r>
              <a:rPr lang="es-ES" dirty="0"/>
              <a:t>lenguaje gráfico estándar en automatización industrial para describir procesos secuenciales usando </a:t>
            </a:r>
            <a:r>
              <a:rPr lang="es-ES" b="1" dirty="0">
                <a:effectLst/>
              </a:rPr>
              <a:t>etapas</a:t>
            </a:r>
            <a:r>
              <a:rPr lang="es-ES" dirty="0"/>
              <a:t> (estados) y </a:t>
            </a:r>
            <a:r>
              <a:rPr lang="es-ES" b="1" dirty="0">
                <a:effectLst/>
              </a:rPr>
              <a:t>transiciones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(condiciones para cambiar de estado), permitiendo diseñar flujos de trabajo lógicos complejos de forma visual, incluyendo secuencias paralelas y bifurcaciones, para luego implementarlos en </a:t>
            </a:r>
            <a:r>
              <a:rPr lang="es-ES" b="0" i="0" dirty="0" err="1">
                <a:solidFill>
                  <a:srgbClr val="E6E8F0"/>
                </a:solidFill>
                <a:effectLst/>
                <a:latin typeface="Google Sans"/>
              </a:rPr>
              <a:t>PLCs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 mediante lenguajes equivalentes como Ladder o SCL. </a:t>
            </a:r>
            <a:endParaRPr lang="es-B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D8D7ED2-6F65-45DF-B3B6-5D25C9677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737" y="609601"/>
            <a:ext cx="1152525" cy="220027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E0BA8AC-3AD3-4F38-B5B4-B62B339D9A50}"/>
              </a:ext>
            </a:extLst>
          </p:cNvPr>
          <p:cNvSpPr txBox="1"/>
          <p:nvPr/>
        </p:nvSpPr>
        <p:spPr>
          <a:xfrm>
            <a:off x="7059357" y="891923"/>
            <a:ext cx="4651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Etapa inicial: Indica el comienzo del esquema. </a:t>
            </a:r>
            <a:endParaRPr lang="es-B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4EA7760-2E3A-4EE7-ABC9-074D9A3DC1B1}"/>
              </a:ext>
            </a:extLst>
          </p:cNvPr>
          <p:cNvSpPr txBox="1"/>
          <p:nvPr/>
        </p:nvSpPr>
        <p:spPr>
          <a:xfrm>
            <a:off x="7059357" y="1768393"/>
            <a:ext cx="3985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Etapa: Su activación lleva consigo una reactivación o una espera.</a:t>
            </a:r>
            <a:endParaRPr lang="es-BO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0FA510F-D8E3-4BB4-9580-A9B4FA899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199" y="3332793"/>
            <a:ext cx="1647825" cy="221932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4D8D1C26-0635-45AD-AEB0-7BD5BAE46953}"/>
              </a:ext>
            </a:extLst>
          </p:cNvPr>
          <p:cNvSpPr txBox="1"/>
          <p:nvPr/>
        </p:nvSpPr>
        <p:spPr>
          <a:xfrm>
            <a:off x="6957480" y="3429000"/>
            <a:ext cx="4651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Transición: condición para desactivar la etapa en curso y activarse la siguiente etapa. </a:t>
            </a:r>
            <a:endParaRPr lang="es-B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47303F5-EE9D-4B32-B44D-603D9395D8B0}"/>
              </a:ext>
            </a:extLst>
          </p:cNvPr>
          <p:cNvSpPr txBox="1"/>
          <p:nvPr/>
        </p:nvSpPr>
        <p:spPr>
          <a:xfrm>
            <a:off x="7041931" y="4766441"/>
            <a:ext cx="42918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Acciones asociadas: Acciones que se realizan al activar la etapa a la que pertenecen. 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724148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BB8CF-254F-4EBA-B5C6-25B34731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893618"/>
            <a:ext cx="3856037" cy="1085703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/>
              <a:t>PROGRAMACION LADDER</a:t>
            </a:r>
            <a:endParaRPr lang="es-B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EF9CCA-7192-4F4A-A374-A55311022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Ladder es un </a:t>
            </a:r>
            <a:r>
              <a:rPr lang="es-ES" b="1" dirty="0"/>
              <a:t>lenguaje de programación gráfico</a:t>
            </a:r>
            <a:r>
              <a:rPr lang="es-ES" dirty="0"/>
              <a:t> que se utiliza para implementar en el PLC el control del proceso previamente definido. Está basado en la lógica de relés eléctricos, lo que facilita su comprensión y mantenimiento en entornos industriales. Mediante Ladder se programan las entradas, salidas, temporizadores, contadores y demás elementos del sistema, permitiendo que el PLC ejecute el control en tiempo real. En conjunto, GRAFCET define qué debe hacer el sistema y en qué secuencia, mientras que Ladder establece cómo el PLC realiza ese control de manera práctica y operativa.</a:t>
            </a:r>
            <a:endParaRPr lang="es-BO" dirty="0"/>
          </a:p>
        </p:txBody>
      </p:sp>
      <p:pic>
        <p:nvPicPr>
          <p:cNvPr id="1026" name="Picture 2" descr="INTRODUCCIÓN A LADDER | LENGUAJE ESCALERA | DIAGRAMA DE CONTACTOS | KOP">
            <a:extLst>
              <a:ext uri="{FF2B5EF4-FFF2-40B4-BE49-F238E27FC236}">
                <a16:creationId xmlns:a16="http://schemas.microsoft.com/office/drawing/2014/main" id="{D9E0A19B-A1FF-4057-9D3D-CA6953BBB4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5" t="34247" r="36"/>
          <a:stretch/>
        </p:blipFill>
        <p:spPr bwMode="auto">
          <a:xfrm>
            <a:off x="5759670" y="1828799"/>
            <a:ext cx="5285626" cy="3436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246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D248D-3E47-4C3F-AF2C-EB640AFEC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457201"/>
            <a:ext cx="3856037" cy="98713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COMUNICACIÓN ENTRE PLCS</a:t>
            </a:r>
            <a:endParaRPr lang="es-BO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B54120-7165-4C6F-96C9-A2B2373F6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3455" y="1724892"/>
            <a:ext cx="5018809" cy="1519350"/>
          </a:xfrm>
        </p:spPr>
        <p:txBody>
          <a:bodyPr>
            <a:normAutofit lnSpcReduction="10000"/>
          </a:bodyPr>
          <a:lstStyle/>
          <a:p>
            <a:r>
              <a:rPr lang="es-ES" dirty="0"/>
              <a:t>PROTOCOLO PROFIBUS: Maneja una estructura con un maestro y varios esclavos en la cual el maestro se encarga de identificar esclavos y levantar la red. También se manejan enlaces separados entre cada aparato y el uso de módulos de expansión. </a:t>
            </a:r>
            <a:endParaRPr lang="es-BO" dirty="0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D2FDDE26-1A7A-49BD-A790-D8E5D9063A35}"/>
              </a:ext>
            </a:extLst>
          </p:cNvPr>
          <p:cNvSpPr txBox="1">
            <a:spLocks/>
          </p:cNvSpPr>
          <p:nvPr/>
        </p:nvSpPr>
        <p:spPr>
          <a:xfrm>
            <a:off x="565318" y="3244241"/>
            <a:ext cx="5018809" cy="31565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rgbClr val="FFC000"/>
                </a:solidFill>
              </a:rPr>
              <a:t>Medios Físicos y Configuraciones de Conexión</a:t>
            </a:r>
            <a:br>
              <a:rPr lang="es-ES" dirty="0">
                <a:solidFill>
                  <a:srgbClr val="FFC000"/>
                </a:solidFill>
              </a:rPr>
            </a:br>
            <a:r>
              <a:rPr lang="es-ES" dirty="0"/>
              <a:t>Cable de red: El medio físico utilizado para la comunicación es un cable de red que conecta los diferentes aparatos y transporta las señales del protocolo RS-485 en un par trenzado que es acoplado en el PLC mediante el uso de conectores especiales en los terminales del cable.</a:t>
            </a:r>
          </a:p>
          <a:p>
            <a:r>
              <a:rPr lang="es-ES" dirty="0"/>
              <a:t> Conectores: Los conectores utilizados en los terminales del cable de red acoplan las señales de información y deben ser configurados para su uso en redes con aparatos intermedios:</a:t>
            </a:r>
            <a:r>
              <a:rPr lang="es-ES" dirty="0">
                <a:solidFill>
                  <a:srgbClr val="FFC000"/>
                </a:solidFill>
              </a:rPr>
              <a:t> </a:t>
            </a:r>
            <a:endParaRPr lang="es-BO" dirty="0">
              <a:solidFill>
                <a:srgbClr val="FFC00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3FD39AE-8CD0-4A2C-8505-37D292654900}"/>
              </a:ext>
            </a:extLst>
          </p:cNvPr>
          <p:cNvSpPr txBox="1"/>
          <p:nvPr/>
        </p:nvSpPr>
        <p:spPr>
          <a:xfrm>
            <a:off x="5642264" y="1072638"/>
            <a:ext cx="61001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Los conectores de los terminales son polarizados y se cierran acoplando impedancias entre los hilos para que así las señales de información no reboten cuando lleguen a los extremos.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Los conectores intermedios no se cierran ni polarizan debido a que las señales de información deben derivarse del cable de red entrante para obtener las señales que viajarán en otro cable de red para otro aparato. </a:t>
            </a:r>
            <a:endParaRPr lang="es-BO" sz="16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997A748-0EF9-4E3D-AEA6-6C71592AA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863" y="2888520"/>
            <a:ext cx="5530682" cy="247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184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D248D-3E47-4C3F-AF2C-EB640AFEC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457201"/>
            <a:ext cx="3856037" cy="98713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COMUNICACIÓN ENTRE PLCS</a:t>
            </a:r>
            <a:endParaRPr lang="es-BO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B54120-7165-4C6F-96C9-A2B2373F6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3455" y="1724891"/>
            <a:ext cx="5018809" cy="4405745"/>
          </a:xfrm>
        </p:spPr>
        <p:txBody>
          <a:bodyPr>
            <a:normAutofit lnSpcReduction="10000"/>
          </a:bodyPr>
          <a:lstStyle/>
          <a:p>
            <a:r>
              <a:rPr lang="es-ES" dirty="0"/>
              <a:t>Maestro: Dentro de una red, un dispositivo maestro tiene la capacidad de enviar solicitudes a otros dispositivos y responder a las solicitudes de otros maestros. Estos dispositivos maestros forman un anillo lógico que utiliza un elemento denominado "token" para otorgar acceso a las comunicaciones dentro de la red. El programa STEP 7 – Micro/WIN actúa como maestro para un PLC al que está conectado, permitiendo su configuración y monitoreo. </a:t>
            </a:r>
          </a:p>
          <a:p>
            <a:r>
              <a:rPr lang="es-ES" dirty="0"/>
              <a:t>Esclavo: En una red, un dispositivo esclavo tiene la capacidad de responder únicamente a las solicitudes de un maestro; no puede iniciar peticiones por sí mismo. Los dispositivos S7-200 pueden operar como esclavos en determinados protocolos mediante el uso de módulos de expansión, donde el módulo se identifica como el esclavo dentro de la red. </a:t>
            </a:r>
            <a:endParaRPr lang="es-B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9B766-B7E8-4C7D-B380-6F080D20B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373" y="686858"/>
            <a:ext cx="4448175" cy="2451197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83E47C1-1D63-47D2-8925-23E4EF11E6FD}"/>
              </a:ext>
            </a:extLst>
          </p:cNvPr>
          <p:cNvGraphicFramePr>
            <a:graphicFrameLocks noGrp="1"/>
          </p:cNvGraphicFramePr>
          <p:nvPr/>
        </p:nvGraphicFramePr>
        <p:xfrm>
          <a:off x="6310457" y="3558165"/>
          <a:ext cx="4341091" cy="2250353"/>
        </p:xfrm>
        <a:graphic>
          <a:graphicData uri="http://schemas.openxmlformats.org/drawingml/2006/table">
            <a:tbl>
              <a:tblPr firstRow="1" bandCol="1">
                <a:tableStyleId>{5C22544A-7EE6-4342-B048-85BDC9FD1C3A}</a:tableStyleId>
              </a:tblPr>
              <a:tblGrid>
                <a:gridCol w="1829264">
                  <a:extLst>
                    <a:ext uri="{9D8B030D-6E8A-4147-A177-3AD203B41FA5}">
                      <a16:colId xmlns:a16="http://schemas.microsoft.com/office/drawing/2014/main" val="1274529594"/>
                    </a:ext>
                  </a:extLst>
                </a:gridCol>
                <a:gridCol w="2511827">
                  <a:extLst>
                    <a:ext uri="{9D8B030D-6E8A-4147-A177-3AD203B41FA5}">
                      <a16:colId xmlns:a16="http://schemas.microsoft.com/office/drawing/2014/main" val="1188436816"/>
                    </a:ext>
                  </a:extLst>
                </a:gridCol>
              </a:tblGrid>
              <a:tr h="32147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Asignacion de Direcciones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682462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UNIDAD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DIRECCION DE LA CPU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784717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Transporte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2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682457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Alimentacion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4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033062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Procesamiento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6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532541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Ensamblaje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8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160680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Selección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 dirty="0">
                          <a:effectLst/>
                        </a:rPr>
                        <a:t>10</a:t>
                      </a:r>
                      <a:endParaRPr lang="es-B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662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550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D248D-3E47-4C3F-AF2C-EB640AFEC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457201"/>
            <a:ext cx="3856037" cy="73277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SISTEMA </a:t>
            </a:r>
            <a:r>
              <a:rPr lang="es-ES" dirty="0" err="1">
                <a:solidFill>
                  <a:schemeClr val="accent6">
                    <a:lumMod val="75000"/>
                  </a:schemeClr>
                </a:solidFill>
              </a:rPr>
              <a:t>scada</a:t>
            </a:r>
            <a:endParaRPr lang="es-BO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B54120-7165-4C6F-96C9-A2B2373F6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3455" y="1444339"/>
            <a:ext cx="5018809" cy="4686298"/>
          </a:xfrm>
        </p:spPr>
        <p:txBody>
          <a:bodyPr>
            <a:normAutofit/>
          </a:bodyPr>
          <a:lstStyle/>
          <a:p>
            <a:r>
              <a:rPr lang="es-ES" b="0" i="0" dirty="0">
                <a:effectLst/>
                <a:latin typeface="Inter"/>
              </a:rPr>
              <a:t>es un </a:t>
            </a:r>
            <a:r>
              <a:rPr lang="es-ES" b="1" i="0" u="none" strike="noStrike" dirty="0">
                <a:effectLst/>
                <a:latin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sistema de control industrial (ICS)</a:t>
            </a:r>
            <a:r>
              <a:rPr lang="es-ES" b="0" i="0" dirty="0">
                <a:effectLst/>
                <a:latin typeface="Inter"/>
              </a:rPr>
              <a:t> que monitorea y controla los procesos de infraestructura. Los sistemas SCADA se comunican e interactúan con dispositivos y equipos industriales como parte de los procesos de ingeniería de sistemas de control. Recopilan datos, los registran y los registran, y presentan información a través de HMI.</a:t>
            </a:r>
          </a:p>
          <a:p>
            <a:r>
              <a:rPr lang="es-ES" b="0" i="0" dirty="0">
                <a:effectLst/>
                <a:latin typeface="Inter"/>
              </a:rPr>
              <a:t>Los  sistemas </a:t>
            </a:r>
            <a:r>
              <a:rPr lang="es-ES" b="1" i="0" u="none" strike="noStrike" dirty="0">
                <a:effectLst/>
                <a:latin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SCADA</a:t>
            </a:r>
            <a:r>
              <a:rPr lang="es-ES" b="0" i="0" dirty="0">
                <a:effectLst/>
                <a:latin typeface="Inter"/>
              </a:rPr>
              <a:t> utilizan computadoras, redes e interfaces gráficas hombre-máquina (HMI) para proporcionar control, administración y supervisión de alto nivel de procesos industriales. </a:t>
            </a:r>
          </a:p>
          <a:p>
            <a:endParaRPr lang="es-BO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BE51A93-BF39-4282-BE07-D08606D4BF69}"/>
              </a:ext>
            </a:extLst>
          </p:cNvPr>
          <p:cNvSpPr txBox="1">
            <a:spLocks/>
          </p:cNvSpPr>
          <p:nvPr/>
        </p:nvSpPr>
        <p:spPr>
          <a:xfrm>
            <a:off x="6619250" y="457201"/>
            <a:ext cx="4616597" cy="732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>
                <a:solidFill>
                  <a:schemeClr val="accent6">
                    <a:lumMod val="75000"/>
                  </a:schemeClr>
                </a:solidFill>
              </a:rPr>
              <a:t>Comunicación OPC </a:t>
            </a:r>
            <a:endParaRPr lang="es-BO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8DF7689F-A5F2-4C6C-B860-D40165D96CB6}"/>
              </a:ext>
            </a:extLst>
          </p:cNvPr>
          <p:cNvSpPr txBox="1">
            <a:spLocks/>
          </p:cNvSpPr>
          <p:nvPr/>
        </p:nvSpPr>
        <p:spPr>
          <a:xfrm>
            <a:off x="6096000" y="1444338"/>
            <a:ext cx="5018809" cy="2852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La comunicación OPC (Open </a:t>
            </a:r>
            <a:r>
              <a:rPr lang="es-ES" dirty="0" err="1"/>
              <a:t>Platform</a:t>
            </a:r>
            <a:r>
              <a:rPr lang="es-ES" dirty="0"/>
              <a:t> </a:t>
            </a:r>
            <a:r>
              <a:rPr lang="es-ES" dirty="0" err="1"/>
              <a:t>Communications</a:t>
            </a:r>
            <a:r>
              <a:rPr lang="es-ES" dirty="0"/>
              <a:t>) es un </a:t>
            </a:r>
            <a:r>
              <a:rPr lang="es-ES" b="1" dirty="0">
                <a:effectLst/>
                <a:hlinkClick r:id="rId4"/>
              </a:rPr>
              <a:t>estándar universal de interoperabilidad</a:t>
            </a:r>
            <a:r>
              <a:rPr lang="es-ES" dirty="0"/>
              <a:t> para intercambiar datos en tiempo real entre sistemas de control industrial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(</a:t>
            </a:r>
            <a:r>
              <a:rPr lang="es-ES" b="0" i="0" dirty="0" err="1">
                <a:solidFill>
                  <a:srgbClr val="E6E8F0"/>
                </a:solidFill>
                <a:effectLst/>
                <a:latin typeface="Google Sans"/>
              </a:rPr>
              <a:t>PLCs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, sensores, </a:t>
            </a:r>
            <a:r>
              <a:rPr lang="es-ES" b="0" i="0" dirty="0" err="1">
                <a:solidFill>
                  <a:srgbClr val="E6E8F0"/>
                </a:solidFill>
                <a:effectLst/>
                <a:latin typeface="Google Sans"/>
              </a:rPr>
              <a:t>HMIs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, </a:t>
            </a:r>
            <a:r>
              <a:rPr lang="es-ES" b="0" i="0" dirty="0" err="1">
                <a:solidFill>
                  <a:srgbClr val="E6E8F0"/>
                </a:solidFill>
                <a:effectLst/>
                <a:latin typeface="Google Sans"/>
              </a:rPr>
              <a:t>SCADAs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), actuando como un </a:t>
            </a:r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traductor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que permite a dispositivos de diferentes fabricantes "hablar" entre sí, superando problemas de incompatibilidad, especialmente con la evolución hacia </a:t>
            </a:r>
            <a:r>
              <a:rPr lang="es-ES" b="1" i="0" dirty="0">
                <a:solidFill>
                  <a:srgbClr val="E6E8F0"/>
                </a:solidFill>
                <a:effectLst/>
                <a:latin typeface="Google Sans"/>
              </a:rPr>
              <a:t>OPC UA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, una versión más segura, flexible y orientada a la </a:t>
            </a:r>
            <a:r>
              <a:rPr lang="es-ES" b="0" i="0" dirty="0">
                <a:effectLst/>
                <a:latin typeface="Google Sans"/>
                <a:hlinkClick r:id="rId5"/>
              </a:rPr>
              <a:t>Industria 4.0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 y </a:t>
            </a:r>
            <a:r>
              <a:rPr lang="es-ES" b="0" i="0" dirty="0" err="1">
                <a:effectLst/>
                <a:latin typeface="Google Sans"/>
                <a:hlinkClick r:id="rId6"/>
              </a:rPr>
              <a:t>IIoT</a:t>
            </a:r>
            <a:r>
              <a:rPr lang="es-ES" b="0" i="0" dirty="0">
                <a:solidFill>
                  <a:srgbClr val="E6E8F0"/>
                </a:solidFill>
                <a:effectLst/>
                <a:latin typeface="Google Sans"/>
              </a:rPr>
              <a:t>. </a:t>
            </a:r>
            <a:endParaRPr lang="es-BO" dirty="0"/>
          </a:p>
        </p:txBody>
      </p:sp>
      <p:pic>
        <p:nvPicPr>
          <p:cNvPr id="2050" name="Picture 2" descr="Qué es OPC, características principales, cómo funciona y por qué se usa">
            <a:extLst>
              <a:ext uri="{FF2B5EF4-FFF2-40B4-BE49-F238E27FC236}">
                <a16:creationId xmlns:a16="http://schemas.microsoft.com/office/drawing/2014/main" id="{9DE11835-FF94-4EBF-B8D1-D16A1B197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533" y="4296428"/>
            <a:ext cx="5566012" cy="233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007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41BDB54-4A50-4983-BCC5-83EEC0A1F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69" y="1007039"/>
            <a:ext cx="1266825" cy="26098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2B39CD4-3500-4E4B-B2D4-003ED8704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002" y="227580"/>
            <a:ext cx="7020991" cy="640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07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A58FB97-B680-4270-BACB-8D90E3529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59" y="450936"/>
            <a:ext cx="6143785" cy="513567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7B5DB8F-CAF8-45DF-9C1D-063D09481117}"/>
              </a:ext>
            </a:extLst>
          </p:cNvPr>
          <p:cNvSpPr txBox="1"/>
          <p:nvPr/>
        </p:nvSpPr>
        <p:spPr>
          <a:xfrm>
            <a:off x="6434144" y="335845"/>
            <a:ext cx="5379928" cy="5874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400" dirty="0"/>
              <a:t>Los certificados digitales son archivos que contienen información utilizada para </a:t>
            </a:r>
            <a:r>
              <a:rPr lang="es-ES" sz="1400" b="1" dirty="0"/>
              <a:t>identificar de manera confiable a un dispositivo, cliente o servidor</a:t>
            </a:r>
            <a:r>
              <a:rPr lang="es-ES" sz="1400" dirty="0"/>
              <a:t>, y para establecer conexiones seguras. Funcionan como una especie de “documento de identidad” electrónico.</a:t>
            </a:r>
          </a:p>
          <a:p>
            <a:pPr>
              <a:lnSpc>
                <a:spcPct val="150000"/>
              </a:lnSpc>
            </a:pPr>
            <a:r>
              <a:rPr lang="es-ES" sz="1400" dirty="0"/>
              <a:t>En comunicación OPC, estos certificados sirven para: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1" dirty="0"/>
              <a:t>Autenticar</a:t>
            </a:r>
            <a:r>
              <a:rPr lang="es-ES" sz="1400" dirty="0"/>
              <a:t> que el cliente OPC y el servidor OPC son quienes dicen ser, evitando conexiones de equipos desconocidos.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1" dirty="0"/>
              <a:t>Cifrar la comunicación</a:t>
            </a:r>
            <a:r>
              <a:rPr lang="es-ES" sz="1400" dirty="0"/>
              <a:t> para que los mensajes transmitidos no puedan ser leídos por terceros.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1" dirty="0"/>
              <a:t>Garantizar integridad</a:t>
            </a:r>
            <a:r>
              <a:rPr lang="es-ES" sz="1400" dirty="0"/>
              <a:t>, es decir, que los datos no hayan sido alterados durante la transmisión.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/>
              <a:t>Permitir el uso de seguridad basada en políticas y configuraciones de confianza entre sistemas industriales.</a:t>
            </a:r>
          </a:p>
          <a:p>
            <a:pPr>
              <a:lnSpc>
                <a:spcPct val="150000"/>
              </a:lnSpc>
            </a:pPr>
            <a:r>
              <a:rPr lang="es-ES" sz="1400" dirty="0"/>
              <a:t>En OPC UA específicamente, los certificados son esenciales porque este estándar incorpora mecanismos de seguridad modernos basados en criptografía. Antes de establecer comunicación, el cliente y el servidor intercambian certificados y validan si son confiables. Si el certificado es válido y está autorizado, la conexión se establece de manera segura.</a:t>
            </a:r>
          </a:p>
        </p:txBody>
      </p:sp>
    </p:spTree>
    <p:extLst>
      <p:ext uri="{BB962C8B-B14F-4D97-AF65-F5344CB8AC3E}">
        <p14:creationId xmlns:p14="http://schemas.microsoft.com/office/powerpoint/2010/main" val="269979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927C5B6-D297-45EB-92CB-5487249E2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432" y="744189"/>
            <a:ext cx="7970142" cy="247304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A72BC2A-08A9-40B5-9288-D146010D3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004" y="3640772"/>
            <a:ext cx="9497991" cy="248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04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F77E26C-EAB7-410C-B00A-CA31DCA0C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14" y="635696"/>
            <a:ext cx="1029652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82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24D7C4A-CE82-4DF2-8D67-865BAF498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54552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8E9646A-6DD0-40D7-A5ED-4857858CE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854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792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91AAFE3-D3F3-427E-8153-28776DC0DA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210"/>
          <a:stretch/>
        </p:blipFill>
        <p:spPr>
          <a:xfrm>
            <a:off x="2002383" y="551146"/>
            <a:ext cx="7210203" cy="506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38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204</TotalTime>
  <Words>1280</Words>
  <Application>Microsoft Office PowerPoint</Application>
  <PresentationFormat>Panorámica</PresentationFormat>
  <Paragraphs>76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Google Sans</vt:lpstr>
      <vt:lpstr>Inter</vt:lpstr>
      <vt:lpstr>Tw Cen MT</vt:lpstr>
      <vt:lpstr>Circuito</vt:lpstr>
      <vt:lpstr>FUNCIONAMIENTO DE LA PLANTA DE MANUFACTURA</vt:lpstr>
      <vt:lpstr>FUNCIONAMIENTO DE LA PLANTA DE MANUFACTURA</vt:lpstr>
      <vt:lpstr>UNIDAD DE Transporte</vt:lpstr>
      <vt:lpstr>UNIDAD DE ENSAMBLAJE</vt:lpstr>
      <vt:lpstr>UNIDAD DE SELECCION</vt:lpstr>
      <vt:lpstr>Programación grafcet</vt:lpstr>
      <vt:lpstr>PROGRAMACION LADDER</vt:lpstr>
      <vt:lpstr>COMUNICACIÓN ENTRE PLCS</vt:lpstr>
      <vt:lpstr>COMUNICACIÓN ENTRE PLCS</vt:lpstr>
      <vt:lpstr>SISTEMA scada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richard choque</dc:creator>
  <cp:lastModifiedBy>richard choque</cp:lastModifiedBy>
  <cp:revision>17</cp:revision>
  <dcterms:created xsi:type="dcterms:W3CDTF">2025-12-15T23:44:20Z</dcterms:created>
  <dcterms:modified xsi:type="dcterms:W3CDTF">2025-12-18T02:24:54Z</dcterms:modified>
</cp:coreProperties>
</file>